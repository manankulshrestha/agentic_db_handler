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0310388acf41e1" /><Relationship Type="http://schemas.openxmlformats.org/officeDocument/2006/relationships/extended-properties" Target="/docProps/app.xml" Id="R9b5975055d424430" /><Relationship Type="http://schemas.openxmlformats.org/officeDocument/2006/relationships/officeDocument" Target="/ppt/presentation.xml" Id="Ra4409e7dae6f4e47" /></Relationships>
</file>

<file path=ppt/presentation.xml><?xml version="1.0" encoding="utf-8"?>
<p:presentation xmlns:p="http://schemas.openxmlformats.org/presentationml/2006/main">
  <p:sldMasterIdLst>
    <p:sldMasterId xmlns:r="http://schemas.openxmlformats.org/officeDocument/2006/relationships" id="2147483648" r:id="R037ac89dcd26476d"/>
  </p:sldMasterIdLst>
  <p:notesMasterIdLst>
    <p:notesMasterId xmlns:r="http://schemas.openxmlformats.org/officeDocument/2006/relationships" r:id="Ra21ed08ef90b4c47"/>
  </p:notesMasterIdLst>
  <p:sldIdLst>
    <p:sldId xmlns:r="http://schemas.openxmlformats.org/officeDocument/2006/relationships" id="256" r:id="R2596278aa1e241aa"/>
    <p:sldId xmlns:r="http://schemas.openxmlformats.org/officeDocument/2006/relationships" id="257" r:id="R50e0c1ba76494b2c"/>
    <p:sldId xmlns:r="http://schemas.openxmlformats.org/officeDocument/2006/relationships" id="258" r:id="Rfb6da59ea4734f9b"/>
    <p:sldId xmlns:r="http://schemas.openxmlformats.org/officeDocument/2006/relationships" id="259" r:id="R0f57b5ffeef3481e"/>
    <p:sldId xmlns:r="http://schemas.openxmlformats.org/officeDocument/2006/relationships" id="260" r:id="R4d51a46f4ece4e72"/>
    <p:sldId xmlns:r="http://schemas.openxmlformats.org/officeDocument/2006/relationships" id="261" r:id="R2a512624746142bc"/>
    <p:sldId xmlns:r="http://schemas.openxmlformats.org/officeDocument/2006/relationships" id="262" r:id="Re6761ae7bb374694"/>
    <p:sldId xmlns:r="http://schemas.openxmlformats.org/officeDocument/2006/relationships" id="263" r:id="R445628ed58a3475a"/>
    <p:sldId xmlns:r="http://schemas.openxmlformats.org/officeDocument/2006/relationships" id="264" r:id="R457aa26746a94f5d"/>
    <p:sldId xmlns:r="http://schemas.openxmlformats.org/officeDocument/2006/relationships" id="265" r:id="R7b265246de5e44f6"/>
    <p:sldId xmlns:r="http://schemas.openxmlformats.org/officeDocument/2006/relationships" id="266" r:id="R35aecdc8722f4b94"/>
    <p:sldId xmlns:r="http://schemas.openxmlformats.org/officeDocument/2006/relationships" id="267" r:id="Ra9b2ce890b044c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b67bf956aa4b07" /><Relationship Type="http://schemas.openxmlformats.org/officeDocument/2006/relationships/slideMaster" Target="/ppt/slideMasters/slideMaster1.xml" Id="R037ac89dcd26476d" /><Relationship Type="http://schemas.openxmlformats.org/officeDocument/2006/relationships/notesMaster" Target="/ppt/notesMasters/notesMaster1.xml" Id="Ra21ed08ef90b4c47" /><Relationship Type="http://schemas.openxmlformats.org/officeDocument/2006/relationships/presProps" Target="/ppt/presProps.xml" Id="R831d7235ec5c4d42" /><Relationship Type="http://schemas.openxmlformats.org/officeDocument/2006/relationships/tableStyles" Target="/ppt/tableStyles.xml" Id="Re53722f6af6643c1" /><Relationship Type="http://schemas.openxmlformats.org/officeDocument/2006/relationships/slide" Target="/ppt/slides/slide1.xml" Id="R2596278aa1e241aa" /><Relationship Type="http://schemas.openxmlformats.org/officeDocument/2006/relationships/slide" Target="/ppt/slides/slide2.xml" Id="R50e0c1ba76494b2c" /><Relationship Type="http://schemas.openxmlformats.org/officeDocument/2006/relationships/slide" Target="/ppt/slides/slide3.xml" Id="Rfb6da59ea4734f9b" /><Relationship Type="http://schemas.openxmlformats.org/officeDocument/2006/relationships/slide" Target="/ppt/slides/slide4.xml" Id="R0f57b5ffeef3481e" /><Relationship Type="http://schemas.openxmlformats.org/officeDocument/2006/relationships/slide" Target="/ppt/slides/slide5.xml" Id="R4d51a46f4ece4e72" /><Relationship Type="http://schemas.openxmlformats.org/officeDocument/2006/relationships/slide" Target="/ppt/slides/slide6.xml" Id="R2a512624746142bc" /><Relationship Type="http://schemas.openxmlformats.org/officeDocument/2006/relationships/slide" Target="/ppt/slides/slide7.xml" Id="Re6761ae7bb374694" /><Relationship Type="http://schemas.openxmlformats.org/officeDocument/2006/relationships/slide" Target="/ppt/slides/slide8.xml" Id="R445628ed58a3475a" /><Relationship Type="http://schemas.openxmlformats.org/officeDocument/2006/relationships/slide" Target="/ppt/slides/slide9.xml" Id="R457aa26746a94f5d" /><Relationship Type="http://schemas.openxmlformats.org/officeDocument/2006/relationships/slide" Target="/ppt/slides/slide10.xml" Id="R7b265246de5e44f6" /><Relationship Type="http://schemas.openxmlformats.org/officeDocument/2006/relationships/slide" Target="/ppt/slides/slide11.xml" Id="R35aecdc8722f4b94" /><Relationship Type="http://schemas.openxmlformats.org/officeDocument/2006/relationships/slide" Target="/ppt/slides/slide12.xml" Id="Ra9b2ce890b044c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ef69aea9ea43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0992d25578442e" /><Relationship Type="http://schemas.openxmlformats.org/officeDocument/2006/relationships/notesMaster" Target="/ppt/notesMasters/notesMaster1.xml" Id="R3b26b1fd576f42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5f48e43acf4c54" /><Relationship Type="http://schemas.openxmlformats.org/officeDocument/2006/relationships/notesMaster" Target="/ppt/notesMasters/notesMaster1.xml" Id="R110f8ca715674a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7b875863794022" /><Relationship Type="http://schemas.openxmlformats.org/officeDocument/2006/relationships/notesMaster" Target="/ppt/notesMasters/notesMaster1.xml" Id="R068d0dbccf1b4c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8a95e83f154168" /><Relationship Type="http://schemas.openxmlformats.org/officeDocument/2006/relationships/notesMaster" Target="/ppt/notesMasters/notesMaster1.xml" Id="Reefba20e5ec14d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a7152afa014eb7" /><Relationship Type="http://schemas.openxmlformats.org/officeDocument/2006/relationships/notesMaster" Target="/ppt/notesMasters/notesMaster1.xml" Id="R6d0c9598b9a845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b8e1c1ac3e4c86" /><Relationship Type="http://schemas.openxmlformats.org/officeDocument/2006/relationships/notesMaster" Target="/ppt/notesMasters/notesMaster1.xml" Id="R128ad639922a42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c8ee44c5eb43d3" /><Relationship Type="http://schemas.openxmlformats.org/officeDocument/2006/relationships/notesMaster" Target="/ppt/notesMasters/notesMaster1.xml" Id="R94fdbf72648949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31730d72654a00" /><Relationship Type="http://schemas.openxmlformats.org/officeDocument/2006/relationships/notesMaster" Target="/ppt/notesMasters/notesMaster1.xml" Id="R13cfff72b40345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fa969d7dd54350" /><Relationship Type="http://schemas.openxmlformats.org/officeDocument/2006/relationships/notesMaster" Target="/ppt/notesMasters/notesMaster1.xml" Id="R6d08303a12b348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cffa04e05c477c" /><Relationship Type="http://schemas.openxmlformats.org/officeDocument/2006/relationships/notesMaster" Target="/ppt/notesMasters/notesMaster1.xml" Id="R4ca1dcfbdd3645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768cf94957498f" /><Relationship Type="http://schemas.openxmlformats.org/officeDocument/2006/relationships/notesMaster" Target="/ppt/notesMasters/notesMaster1.xml" Id="R142366088d5143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be0d087ac44eec" /><Relationship Type="http://schemas.openxmlformats.org/officeDocument/2006/relationships/notesMaster" Target="/ppt/notesMasters/notesMaster1.xml" Id="R924626ffcb684e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identity, current scope, and SDG 9 alignment are summarized from PROJECT_PRIMER.md and the DBTHON form discussion in chat “DBthon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draws from PROJECT_PRIMER.md and the hackathon review guide in chat “Explain project for hackathon review.” The project targets schema understanding and review, not automatic database administration.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and target/store distinction are documented in PROJECT_PRIMER.md, especially “The most important mental model: two databases, two purposes” and “How an investigation 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is summarized from PROJECT_PRIMER.md and README.md. AI tools and schema sharing are described in backend/app/agent.py and README.md. The AI path was not exercised in the recorded local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schema details and interpretation come from PROJECT_PRIMER.md and the supplied demo SQL under demo/postgres and demo/supabase_shop_schema.sql. The documented demo has two customers, two orders, and one order item. The relationship diagram shows table-level structure, not row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metrics and verification claims are from IMPLEMENTATION_STATUS.md and PROJECT_PRIMER.md. The status file records that the browser flow completed on 2026-10-07, with 4 tables, relationships, 6 findings, Markdown documentation, evidence-linked fallback chat, bounded read query and estimated plan, and write-query rejection. Automated suites and frontend build passed in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Reasoning model and boundaries come from PROJECT_PRIMER.md, backend/app/agent.py, and the project review chat. AI mode was not enabled in the recorded local run, so this slide describes the implemented design and its intended boundaries rather than a live AI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Lab details and qualifications are summarized from PROJECT_PRIMER.md, IMPLEMENTATION_STATUS.md, and the related chat “Explain the design lab.” Additional features include source-context line references, migration inventories, generated sample data, scheduled scans, and PostgreSQL sandbox support; several advanced flows still need browser-level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Current-tree evidence comes from demo/supabase_shop_schema.sql, demo/supabase_shop_seed.sql, demo/supabase_shop_expansion.sql, backend/app/error_messages.py, backend/app/main.py, and frontend/src/App.tsx. README.md documents the local AI opt-in. Supabase live operation is not included in the recorded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Boundaries and limitations are documented in README.md, PROJECT_PRIMER.md, and IMPLEMENTATION_STATUS.md. SQL parsing does not replace database permissions. The optional local account system lacks a security review, rate limits, external identity, backup/restore, and distributed workers.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tests and live demo details come from IMPLEMENTATION_STATUS.md, which states the verification date as October 7, 2026. The right-side items are explicitly listed there as not yet verified or as integration/browser coverage gaps. Supabase demo assets are newer additions and are not included in the documented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steps are based on IMPLEMENTATION_STATUS.md, README.md, and the related chats “Prioritize JEV Decision Making” and “Grill-me on agentic DB handler.” Jev is not in this checkout’s backend/frontend. A related separate branch described a Jev integration, with mocked response tests but real TypeSafe API behavior unverified because no API key was configured. Keep the Jev work advisory and validate it against representative cases before relying on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f689416cf042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14f719f68645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a367dbe49e47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66c2c8ff714e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1c30dadd9f49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9391b565af41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7479D5-6A6E-4C8F-B638-635F6E73EC3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B715FD-0AEA-4C1A-A5AF-CF77721ED3B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D64F36-C550-4A5D-BE3A-ACE1814EAD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1A3384-885E-401C-94B3-B2C679CE77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54AA69-EF02-42DE-9E87-AEEF8AE81A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EC3FC0-C2B1-49FE-9F29-139314C4F3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275453-3156-4D51-9109-28D513E4D2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3AE0FF-61BB-43CD-B43B-B5F8204469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4ABFE4-451B-4352-B324-89DCF7A9E7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0C94CF-DF53-4BBF-926B-367883E649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0c75e54baf4f03" /><Relationship Type="http://schemas.openxmlformats.org/officeDocument/2006/relationships/slideLayout" Target="/ppt/slideLayouts/slideLayout1.xml" Id="R1eccaeec39d34964" /><Relationship Type="http://schemas.openxmlformats.org/officeDocument/2006/relationships/slideLayout" Target="/ppt/slideLayouts/slideLayout2.xml" Id="R5c78da3a89cc4d66" /><Relationship Type="http://schemas.openxmlformats.org/officeDocument/2006/relationships/slideLayout" Target="/ppt/slideLayouts/slideLayout3.xml" Id="Rf54da95350c64f0b" /><Relationship Type="http://schemas.openxmlformats.org/officeDocument/2006/relationships/slideLayout" Target="/ppt/slideLayouts/slideLayout4.xml" Id="R11f5196e8b0e4b1d" /><Relationship Type="http://schemas.openxmlformats.org/officeDocument/2006/relationships/slideLayout" Target="/ppt/slideLayouts/slideLayout5.xml" Id="Rd0700f3fe3fd4c1a" /><Relationship Type="http://schemas.openxmlformats.org/officeDocument/2006/relationships/slideLayout" Target="/ppt/slideLayouts/slideLayout6.xml" Id="Rcf797901ebb949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ccaeec39d34964"/>
    <p:sldLayoutId xmlns:r="http://schemas.openxmlformats.org/officeDocument/2006/relationships" id="2147483650" r:id="R5c78da3a89cc4d66"/>
    <p:sldLayoutId xmlns:r="http://schemas.openxmlformats.org/officeDocument/2006/relationships" id="2147483651" r:id="Rf54da95350c64f0b"/>
    <p:sldLayoutId xmlns:r="http://schemas.openxmlformats.org/officeDocument/2006/relationships" id="2147483652" r:id="R11f5196e8b0e4b1d"/>
    <p:sldLayoutId xmlns:r="http://schemas.openxmlformats.org/officeDocument/2006/relationships" id="2147483653" r:id="Rd0700f3fe3fd4c1a"/>
    <p:sldLayoutId xmlns:r="http://schemas.openxmlformats.org/officeDocument/2006/relationships" id="2147483654" r:id="Rcf797901ebb949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0a4a5b91c34c1d" /><Relationship Type="http://schemas.openxmlformats.org/officeDocument/2006/relationships/image" Target="/ppt/media/image.png" Id="R812f372c51a74b9d" /><Relationship Type="http://schemas.openxmlformats.org/officeDocument/2006/relationships/notesSlide" Target="/ppt/notesSlides/notesSlide1.xml" Id="Rfa6cf848a4414f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85b663bed24be2" /><Relationship Type="http://schemas.openxmlformats.org/officeDocument/2006/relationships/notesSlide" Target="/ppt/notesSlides/notesSlide2.xml" Id="Rb58d6851c4b1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b019721a2b4013" /><Relationship Type="http://schemas.openxmlformats.org/officeDocument/2006/relationships/notesSlide" Target="/ppt/notesSlides/notesSlide3.xml" Id="R82641a74b54b4b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df9cd957a04fd9" /><Relationship Type="http://schemas.openxmlformats.org/officeDocument/2006/relationships/notesSlide" Target="/ppt/notesSlides/notesSlide4.xml" Id="R8273b40dd99945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04878367cf49ce" /><Relationship Type="http://schemas.openxmlformats.org/officeDocument/2006/relationships/notesSlide" Target="/ppt/notesSlides/notesSlide5.xml" Id="R3eb8c922453c4f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0191876a6f4c5b" /><Relationship Type="http://schemas.openxmlformats.org/officeDocument/2006/relationships/notesSlide" Target="/ppt/notesSlides/notesSlide6.xml" Id="R0d494cd922f24b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6dc01c0a42461f" /><Relationship Type="http://schemas.openxmlformats.org/officeDocument/2006/relationships/notesSlide" Target="/ppt/notesSlides/notesSlide7.xml" Id="Rf4df3ee7865945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72f6d9476347e7" /><Relationship Type="http://schemas.openxmlformats.org/officeDocument/2006/relationships/notesSlide" Target="/ppt/notesSlides/notesSlide8.xml" Id="R322299d0c73f41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a9e8f6fac34687" /><Relationship Type="http://schemas.openxmlformats.org/officeDocument/2006/relationships/notesSlide" Target="/ppt/notesSlides/notesSlide9.xml" Id="R2b2d4f6e105b43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6720f110bd406e" /><Relationship Type="http://schemas.openxmlformats.org/officeDocument/2006/relationships/notesSlide" Target="/ppt/notesSlides/notesSlide10.xml" Id="R6e4d1ee804bf49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9aa3090ed174c9a" /><Relationship Type="http://schemas.openxmlformats.org/officeDocument/2006/relationships/notesSlide" Target="/ppt/notesSlides/notesSlide11.xml" Id="R635f73eeeadc49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6b104b0f324526" /><Relationship Type="http://schemas.openxmlformats.org/officeDocument/2006/relationships/notesSlide" Target="/ppt/notesSlides/notesSlide12.xml" Id="R8eeeeca925dd4841"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4BC5F70-9EB5-41D0-987D-BBD5125528A0}"/>
              </a:ext>
            </a:extLst>
          </p:cNvPr>
          <p:cNvPicPr>
            <a:picLocks xmlns:a="http://schemas.openxmlformats.org/drawingml/2006/main" noChangeAspect="1"/>
          </p:cNvPicPr>
          <p:nvPr/>
        </p:nvPicPr>
        <p:blipFill>
          <a:blip xmlns:r="http://schemas.openxmlformats.org/officeDocument/2006/relationships" xmlns:a="http://schemas.openxmlformats.org/drawingml/2006/main" r:embed="R812f372c51a74b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53BC00-002A-4CC2-8CDD-26B070958D32}"/>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71A2B">
              <a:alpha val="6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597B32-7FDF-4DE0-B376-C687E154AA8F}"/>
              </a:ext>
            </a:extLst>
          </p:cNvPr>
          <p:cNvSpPr>
            <a:spLocks xmlns:a="http://schemas.openxmlformats.org/drawingml/2006/main" noGrp="1"/>
          </p:cNvSpPr>
          <p:nvPr/>
        </p:nvSpPr>
        <p:spPr>
          <a:xfrm xmlns:a="http://schemas.openxmlformats.org/drawingml/2006/main">
            <a:off x="762000" y="13620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defPPr>
              <a:defRPr sz="900" b="1">
                <a:solidFill>
                  <a:srgbClr val="65D1DA"/>
                </a:solidFill>
                <a:latin typeface="Arial"/>
                <a:ea typeface="Arial"/>
                <a:cs typeface="Arial"/>
              </a:defRPr>
            </a:defPPr>
          </a:lstStyle>
          <a:p xmlns:a="http://schemas.openxmlformats.org/drawingml/2006/main">
            <a:pPr>
              <a:defRPr sz="900" b="1">
                <a:solidFill>
                  <a:srgbClr val="65D1DA"/>
                </a:solidFill>
                <a:latin typeface="Arial"/>
                <a:ea typeface="Arial"/>
                <a:cs typeface="Arial"/>
              </a:defRPr>
            </a:pPr>
            <a:r>
              <a:rPr sz="900" b="1">
                <a:solidFill>
                  <a:srgbClr val="65D1DA"/>
                </a:solidFill>
                <a:latin typeface="Arial"/>
                <a:ea typeface="Arial"/>
                <a:cs typeface="Arial"/>
              </a:rPr>
              <a:t>DBTHON 2026  /  FINAL PROJECT REVIEW</a:t>
            </a:r>
          </a:p>
        </p:txBody>
      </p:sp>
      <p:sp>
        <p:nvSpPr>
          <p:cNvPr id="4" name="">
            <a:extLst xmlns:a="http://schemas.openxmlformats.org/drawingml/2006/main">
              <a:ext uri="{FF2B5EF4-FFF2-40B4-BE49-F238E27FC236}">
                <a16:creationId xmlns:a16="http://schemas.microsoft.com/office/drawing/2014/main" id="{243C98D3-C750-444D-9D0A-18E0F0BB4F83}"/>
              </a:ext>
            </a:extLst>
          </p:cNvPr>
          <p:cNvSpPr>
            <a:spLocks xmlns:a="http://schemas.openxmlformats.org/drawingml/2006/main" noGrp="1"/>
          </p:cNvSpPr>
          <p:nvPr/>
        </p:nvSpPr>
        <p:spPr>
          <a:xfrm xmlns:a="http://schemas.openxmlformats.org/drawingml/2006/main">
            <a:off x="742950" y="184785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Agentic Database</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Handler</a:t>
            </a:r>
          </a:p>
        </p:txBody>
      </p:sp>
      <p:sp>
        <p:nvSpPr>
          <p:cNvPr id="5" name="">
            <a:extLst xmlns:a="http://schemas.openxmlformats.org/drawingml/2006/main">
              <a:ext uri="{FF2B5EF4-FFF2-40B4-BE49-F238E27FC236}">
                <a16:creationId xmlns:a16="http://schemas.microsoft.com/office/drawing/2014/main" id="{E1E07756-9B2B-4B8D-A47B-70FD2F91CFB0}"/>
              </a:ext>
            </a:extLst>
          </p:cNvPr>
          <p:cNvSpPr>
            <a:spLocks xmlns:a="http://schemas.openxmlformats.org/drawingml/2006/main" noGrp="1"/>
          </p:cNvSpPr>
          <p:nvPr/>
        </p:nvSpPr>
        <p:spPr>
          <a:xfrm xmlns:a="http://schemas.openxmlformats.org/drawingml/2006/main">
            <a:off x="781050" y="3600450"/>
            <a:ext cx="5000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b="0">
                <a:solidFill>
                  <a:srgbClr val="D6E8EF"/>
                </a:solidFill>
                <a:latin typeface="Arial"/>
                <a:ea typeface="Arial"/>
                <a:cs typeface="Arial"/>
              </a:defRPr>
            </a:defPPr>
          </a:lstStyle>
          <a:p xmlns:a="http://schemas.openxmlformats.org/drawingml/2006/main">
            <a:pPr>
              <a:defRPr sz="1725" b="0">
                <a:solidFill>
                  <a:srgbClr val="D6E8EF"/>
                </a:solidFill>
                <a:latin typeface="Arial"/>
                <a:ea typeface="Arial"/>
                <a:cs typeface="Arial"/>
              </a:defRPr>
            </a:pPr>
            <a:r>
              <a:rPr sz="1725" b="0">
                <a:solidFill>
                  <a:srgbClr val="D6E8EF"/>
                </a:solidFill>
                <a:latin typeface="Arial"/>
                <a:ea typeface="Arial"/>
                <a:cs typeface="Arial"/>
              </a:rPr>
              <a:t>A local workbench for understanding database structure and guiding human review</a:t>
            </a:r>
          </a:p>
        </p:txBody>
      </p:sp>
      <p:sp>
        <p:nvSpPr>
          <p:cNvPr id="6" name="">
            <a:extLst xmlns:a="http://schemas.openxmlformats.org/drawingml/2006/main">
              <a:ext uri="{FF2B5EF4-FFF2-40B4-BE49-F238E27FC236}">
                <a16:creationId xmlns:a16="http://schemas.microsoft.com/office/drawing/2014/main" id="{A3FADFFA-A0DD-44AE-93EE-BCCCE16C160B}"/>
              </a:ext>
            </a:extLst>
          </p:cNvPr>
          <p:cNvSpPr>
            <a:spLocks xmlns:a="http://schemas.openxmlformats.org/drawingml/2006/main" noGrp="1"/>
          </p:cNvSpPr>
          <p:nvPr/>
        </p:nvSpPr>
        <p:spPr>
          <a:xfrm xmlns:a="http://schemas.openxmlformats.org/drawingml/2006/main">
            <a:off x="781050" y="4762500"/>
            <a:ext cx="647700" cy="47625"/>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7DB058-C1FE-4DA1-9A38-8632E4B6301F}"/>
              </a:ext>
            </a:extLst>
          </p:cNvPr>
          <p:cNvSpPr>
            <a:spLocks xmlns:a="http://schemas.openxmlformats.org/drawingml/2006/main" noGrp="1"/>
          </p:cNvSpPr>
          <p:nvPr/>
        </p:nvSpPr>
        <p:spPr>
          <a:xfrm xmlns:a="http://schemas.openxmlformats.org/drawingml/2006/main">
            <a:off x="781050" y="49911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C3DCE4"/>
                </a:solidFill>
                <a:latin typeface="Arial"/>
                <a:ea typeface="Arial"/>
                <a:cs typeface="Arial"/>
              </a:defRPr>
            </a:defPPr>
          </a:lstStyle>
          <a:p xmlns:a="http://schemas.openxmlformats.org/drawingml/2006/main">
            <a:pPr>
              <a:defRPr sz="1200" b="1">
                <a:solidFill>
                  <a:srgbClr val="C3DCE4"/>
                </a:solidFill>
                <a:latin typeface="Arial"/>
                <a:ea typeface="Arial"/>
                <a:cs typeface="Arial"/>
              </a:defRPr>
            </a:pPr>
            <a:r>
              <a:rPr sz="1200" b="1">
                <a:solidFill>
                  <a:srgbClr val="C3DCE4"/>
                </a:solidFill>
                <a:latin typeface="Arial"/>
                <a:ea typeface="Arial"/>
                <a:cs typeface="Arial"/>
              </a:rPr>
              <a:t>Scan  /  Explain  /  Review</a:t>
            </a:r>
          </a:p>
        </p:txBody>
      </p:sp>
      <p:sp>
        <p:nvSpPr>
          <p:cNvPr id="8" name="">
            <a:extLst xmlns:a="http://schemas.openxmlformats.org/drawingml/2006/main">
              <a:ext uri="{FF2B5EF4-FFF2-40B4-BE49-F238E27FC236}">
                <a16:creationId xmlns:a16="http://schemas.microsoft.com/office/drawing/2014/main" id="{2574C688-2D22-4027-A5EB-B9822D442B5E}"/>
              </a:ext>
            </a:extLst>
          </p:cNvPr>
          <p:cNvSpPr>
            <a:spLocks xmlns:a="http://schemas.openxmlformats.org/drawingml/2006/main" noGrp="1"/>
          </p:cNvSpPr>
          <p:nvPr/>
        </p:nvSpPr>
        <p:spPr>
          <a:xfrm xmlns:a="http://schemas.openxmlformats.org/drawingml/2006/main">
            <a:off x="781050" y="6296025"/>
            <a:ext cx="600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defPPr>
              <a:defRPr sz="900" b="0">
                <a:solidFill>
                  <a:srgbClr val="A9C4CF"/>
                </a:solidFill>
                <a:latin typeface="Arial"/>
                <a:ea typeface="Arial"/>
                <a:cs typeface="Arial"/>
              </a:defRPr>
            </a:defPPr>
          </a:lstStyle>
          <a:p xmlns:a="http://schemas.openxmlformats.org/drawingml/2006/main">
            <a:pPr>
              <a:defRPr sz="900" b="0">
                <a:solidFill>
                  <a:srgbClr val="A9C4CF"/>
                </a:solidFill>
                <a:latin typeface="Arial"/>
                <a:ea typeface="Arial"/>
                <a:cs typeface="Arial"/>
              </a:defRPr>
            </a:pPr>
            <a:r>
              <a:rPr sz="900" b="0">
                <a:solidFill>
                  <a:srgbClr val="A9C4CF"/>
                </a:solidFill>
                <a:latin typeface="Arial"/>
                <a:ea typeface="Arial"/>
                <a:cs typeface="Arial"/>
              </a:rPr>
              <a:t>SDG 9  /  Industry, Innovation and Infrastructure</a:t>
            </a:r>
          </a:p>
        </p:txBody>
      </p:sp>
    </p:spTree>
    <p:extLst>
      <p:ext uri="{BB962C8B-B14F-4D97-AF65-F5344CB8AC3E}">
        <p14:creationId xmlns:p14="http://schemas.microsoft.com/office/powerpoint/2010/main" val="1934904889"/>
      </p:ext>
    </p:extLst>
  </p:cSld>
</p:sld>
</file>

<file path=ppt/slides/slide2.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43BF9FD-B096-4B48-B02C-7496E6117A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9296EE-1048-436C-AB23-00A96FE2FF1E}"/>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Database reviews start with scattered evidence</a:t>
            </a:r>
          </a:p>
        </p:txBody>
      </p:sp>
      <p:sp>
        <p:nvSpPr>
          <p:cNvPr id="3" name="">
            <a:extLst xmlns:a="http://schemas.openxmlformats.org/drawingml/2006/main">
              <a:ext uri="{FF2B5EF4-FFF2-40B4-BE49-F238E27FC236}">
                <a16:creationId xmlns:a16="http://schemas.microsoft.com/office/drawing/2014/main" id="{48030CD4-A10D-48FF-A9E2-EDBD18D63752}"/>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Schema structure, design concerns, and change history often live in different tools.</a:t>
            </a:r>
          </a:p>
        </p:txBody>
      </p:sp>
      <p:sp>
        <p:nvSpPr>
          <p:cNvPr id="4" name="">
            <a:extLst xmlns:a="http://schemas.openxmlformats.org/drawingml/2006/main">
              <a:ext uri="{FF2B5EF4-FFF2-40B4-BE49-F238E27FC236}">
                <a16:creationId xmlns:a16="http://schemas.microsoft.com/office/drawing/2014/main" id="{563B4C89-C661-4EBF-BD39-FEFA0A2F928D}"/>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B22BEF-0A07-4FAF-B136-0FBCF6543DC9}"/>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670549A8-7639-42DC-9F29-A12970317AC6}"/>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CEF2175-81DD-4ECE-85D0-5E845B5DF7A6}"/>
              </a:ext>
            </a:extLst>
          </p:cNvPr>
          <p:cNvSpPr>
            <a:spLocks xmlns:a="http://schemas.openxmlformats.org/drawingml/2006/main" noGrp="1"/>
          </p:cNvSpPr>
          <p:nvPr/>
        </p:nvSpPr>
        <p:spPr>
          <a:xfrm xmlns:a="http://schemas.openxmlformats.org/drawingml/2006/main">
            <a:off x="685800" y="1657350"/>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603"/>
          </a:bodyPr>
          <a:lstStyle xmlns:a="http://schemas.openxmlformats.org/drawingml/2006/main">
            <a:defPPr>
              <a:defRPr sz="2100" b="1">
                <a:solidFill>
                  <a:srgbClr val="183244"/>
                </a:solidFill>
                <a:latin typeface="Arial"/>
                <a:ea typeface="Arial"/>
                <a:cs typeface="Arial"/>
              </a:defRPr>
            </a:defPPr>
          </a:lstStyle>
          <a:p xmlns:a="http://schemas.openxmlformats.org/drawingml/2006/main">
            <a:pPr>
              <a:defRPr sz="2100" b="1">
                <a:solidFill>
                  <a:srgbClr val="183244"/>
                </a:solidFill>
                <a:latin typeface="Arial"/>
                <a:ea typeface="Arial"/>
                <a:cs typeface="Arial"/>
              </a:defRPr>
            </a:pPr>
            <a:r>
              <a:rPr sz="2100" b="1">
                <a:solidFill>
                  <a:srgbClr val="183244"/>
                </a:solidFill>
                <a:latin typeface="Arial"/>
                <a:ea typeface="Arial"/>
                <a:cs typeface="Arial"/>
              </a:rPr>
              <a:t>Teams need to answer four basic questions before they can make a safe design decision.</a:t>
            </a:r>
          </a:p>
        </p:txBody>
      </p:sp>
      <p:sp>
        <p:nvSpPr>
          <p:cNvPr id="8" name="">
            <a:extLst xmlns:a="http://schemas.openxmlformats.org/drawingml/2006/main">
              <a:ext uri="{FF2B5EF4-FFF2-40B4-BE49-F238E27FC236}">
                <a16:creationId xmlns:a16="http://schemas.microsoft.com/office/drawing/2014/main" id="{A75E03FF-183B-4510-80D4-FCA2F59D557C}"/>
              </a:ext>
            </a:extLst>
          </p:cNvPr>
          <p:cNvSpPr>
            <a:spLocks xmlns:a="http://schemas.openxmlformats.org/drawingml/2006/main" noGrp="1"/>
          </p:cNvSpPr>
          <p:nvPr/>
        </p:nvSpPr>
        <p:spPr>
          <a:xfrm xmlns:a="http://schemas.openxmlformats.org/drawingml/2006/main">
            <a:off x="61912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0A9B7"/>
                </a:solidFill>
                <a:latin typeface="Arial"/>
                <a:ea typeface="Arial"/>
                <a:cs typeface="Arial"/>
              </a:defRPr>
            </a:defPPr>
          </a:lstStyle>
          <a:p xmlns:a="http://schemas.openxmlformats.org/drawingml/2006/main">
            <a:pPr>
              <a:defRPr sz="1275" b="1">
                <a:solidFill>
                  <a:srgbClr val="00A9B7"/>
                </a:solidFill>
                <a:latin typeface="Arial"/>
                <a:ea typeface="Arial"/>
                <a:cs typeface="Arial"/>
              </a:defRPr>
            </a:pPr>
            <a:r>
              <a:rPr sz="1275" b="1">
                <a:solidFill>
                  <a:srgbClr val="00A9B7"/>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E7FFD59A-3FEE-425C-BCEB-4ECD4DD81544}"/>
              </a:ext>
            </a:extLst>
          </p:cNvPr>
          <p:cNvSpPr>
            <a:spLocks xmlns:a="http://schemas.openxmlformats.org/drawingml/2006/main" noGrp="1"/>
          </p:cNvSpPr>
          <p:nvPr/>
        </p:nvSpPr>
        <p:spPr>
          <a:xfrm xmlns:a="http://schemas.openxmlformats.org/drawingml/2006/main">
            <a:off x="6800850" y="1600200"/>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183244"/>
                </a:solidFill>
                <a:latin typeface="Arial"/>
                <a:ea typeface="Arial"/>
                <a:cs typeface="Arial"/>
              </a:defRPr>
            </a:defPPr>
          </a:lstStyle>
          <a:p xmlns:a="http://schemas.openxmlformats.org/drawingml/2006/main">
            <a:pPr>
              <a:defRPr sz="1575" b="1">
                <a:solidFill>
                  <a:srgbClr val="183244"/>
                </a:solidFill>
                <a:latin typeface="Arial"/>
                <a:ea typeface="Arial"/>
                <a:cs typeface="Arial"/>
              </a:defRPr>
            </a:pPr>
            <a:r>
              <a:rPr sz="1575" b="1">
                <a:solidFill>
                  <a:srgbClr val="183244"/>
                </a:solidFill>
                <a:latin typeface="Arial"/>
                <a:ea typeface="Arial"/>
                <a:cs typeface="Arial"/>
              </a:rPr>
              <a:t>What is here?</a:t>
            </a:r>
          </a:p>
        </p:txBody>
      </p:sp>
      <p:sp>
        <p:nvSpPr>
          <p:cNvPr id="10" name="">
            <a:extLst xmlns:a="http://schemas.openxmlformats.org/drawingml/2006/main">
              <a:ext uri="{FF2B5EF4-FFF2-40B4-BE49-F238E27FC236}">
                <a16:creationId xmlns:a16="http://schemas.microsoft.com/office/drawing/2014/main" id="{7283A4C5-1384-4497-A226-B5B161EDB6DF}"/>
              </a:ext>
            </a:extLst>
          </p:cNvPr>
          <p:cNvSpPr>
            <a:spLocks xmlns:a="http://schemas.openxmlformats.org/drawingml/2006/main" noGrp="1"/>
          </p:cNvSpPr>
          <p:nvPr/>
        </p:nvSpPr>
        <p:spPr>
          <a:xfrm xmlns:a="http://schemas.openxmlformats.org/drawingml/2006/main">
            <a:off x="8763000" y="1619250"/>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Tables, fields, keys, and relationships</a:t>
            </a:r>
          </a:p>
        </p:txBody>
      </p:sp>
      <p:sp>
        <p:nvSpPr>
          <p:cNvPr id="11" name="">
            <a:extLst xmlns:a="http://schemas.openxmlformats.org/drawingml/2006/main">
              <a:ext uri="{FF2B5EF4-FFF2-40B4-BE49-F238E27FC236}">
                <a16:creationId xmlns:a16="http://schemas.microsoft.com/office/drawing/2014/main" id="{6135CFE9-7A4B-46F8-BFF6-37148757AD8C}"/>
              </a:ext>
            </a:extLst>
          </p:cNvPr>
          <p:cNvSpPr>
            <a:spLocks xmlns:a="http://schemas.openxmlformats.org/drawingml/2006/main" noGrp="1"/>
          </p:cNvSpPr>
          <p:nvPr/>
        </p:nvSpPr>
        <p:spPr>
          <a:xfrm xmlns:a="http://schemas.openxmlformats.org/drawingml/2006/main">
            <a:off x="6191250" y="2266950"/>
            <a:ext cx="50482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7A1D615-944B-4B24-BD33-4E1C5DF2EB22}"/>
              </a:ext>
            </a:extLst>
          </p:cNvPr>
          <p:cNvSpPr>
            <a:spLocks xmlns:a="http://schemas.openxmlformats.org/drawingml/2006/main" noGrp="1"/>
          </p:cNvSpPr>
          <p:nvPr/>
        </p:nvSpPr>
        <p:spPr>
          <a:xfrm xmlns:a="http://schemas.openxmlformats.org/drawingml/2006/main">
            <a:off x="6191250" y="25908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0A9B7"/>
                </a:solidFill>
                <a:latin typeface="Arial"/>
                <a:ea typeface="Arial"/>
                <a:cs typeface="Arial"/>
              </a:defRPr>
            </a:defPPr>
          </a:lstStyle>
          <a:p xmlns:a="http://schemas.openxmlformats.org/drawingml/2006/main">
            <a:pPr>
              <a:defRPr sz="1275" b="1">
                <a:solidFill>
                  <a:srgbClr val="00A9B7"/>
                </a:solidFill>
                <a:latin typeface="Arial"/>
                <a:ea typeface="Arial"/>
                <a:cs typeface="Arial"/>
              </a:defRPr>
            </a:pPr>
            <a:r>
              <a:rPr sz="1275" b="1">
                <a:solidFill>
                  <a:srgbClr val="00A9B7"/>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8DECB50-BBAC-45DC-B2AB-FAA6BECB372D}"/>
              </a:ext>
            </a:extLst>
          </p:cNvPr>
          <p:cNvSpPr>
            <a:spLocks xmlns:a="http://schemas.openxmlformats.org/drawingml/2006/main" noGrp="1"/>
          </p:cNvSpPr>
          <p:nvPr/>
        </p:nvSpPr>
        <p:spPr>
          <a:xfrm xmlns:a="http://schemas.openxmlformats.org/drawingml/2006/main">
            <a:off x="6800850" y="2571750"/>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98"/>
          </a:bodyPr>
          <a:lstStyle xmlns:a="http://schemas.openxmlformats.org/drawingml/2006/main">
            <a:defPPr>
              <a:defRPr sz="1575" b="1">
                <a:solidFill>
                  <a:srgbClr val="183244"/>
                </a:solidFill>
                <a:latin typeface="Arial"/>
                <a:ea typeface="Arial"/>
                <a:cs typeface="Arial"/>
              </a:defRPr>
            </a:defPPr>
          </a:lstStyle>
          <a:p xmlns:a="http://schemas.openxmlformats.org/drawingml/2006/main">
            <a:pPr>
              <a:defRPr sz="1575" b="1">
                <a:solidFill>
                  <a:srgbClr val="183244"/>
                </a:solidFill>
                <a:latin typeface="Arial"/>
                <a:ea typeface="Arial"/>
                <a:cs typeface="Arial"/>
              </a:defRPr>
            </a:pPr>
            <a:r>
              <a:rPr sz="1575" b="1">
                <a:solidFill>
                  <a:srgbClr val="183244"/>
                </a:solidFill>
                <a:latin typeface="Arial"/>
                <a:ea typeface="Arial"/>
                <a:cs typeface="Arial"/>
              </a:rPr>
              <a:t>What needs a look?</a:t>
            </a:r>
          </a:p>
        </p:txBody>
      </p:sp>
      <p:sp>
        <p:nvSpPr>
          <p:cNvPr id="14" name="">
            <a:extLst xmlns:a="http://schemas.openxmlformats.org/drawingml/2006/main">
              <a:ext uri="{FF2B5EF4-FFF2-40B4-BE49-F238E27FC236}">
                <a16:creationId xmlns:a16="http://schemas.microsoft.com/office/drawing/2014/main" id="{C4B33240-50C6-401C-96DF-EBC80A70B830}"/>
              </a:ext>
            </a:extLst>
          </p:cNvPr>
          <p:cNvSpPr>
            <a:spLocks xmlns:a="http://schemas.openxmlformats.org/drawingml/2006/main" noGrp="1"/>
          </p:cNvSpPr>
          <p:nvPr/>
        </p:nvSpPr>
        <p:spPr>
          <a:xfrm xmlns:a="http://schemas.openxmlformats.org/drawingml/2006/main">
            <a:off x="8763000" y="2590800"/>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Possible design and documentation issues</a:t>
            </a:r>
          </a:p>
        </p:txBody>
      </p:sp>
      <p:sp>
        <p:nvSpPr>
          <p:cNvPr id="15" name="">
            <a:extLst xmlns:a="http://schemas.openxmlformats.org/drawingml/2006/main">
              <a:ext uri="{FF2B5EF4-FFF2-40B4-BE49-F238E27FC236}">
                <a16:creationId xmlns:a16="http://schemas.microsoft.com/office/drawing/2014/main" id="{69A0488E-3F66-4383-8BFD-4830F2EFF650}"/>
              </a:ext>
            </a:extLst>
          </p:cNvPr>
          <p:cNvSpPr>
            <a:spLocks xmlns:a="http://schemas.openxmlformats.org/drawingml/2006/main" noGrp="1"/>
          </p:cNvSpPr>
          <p:nvPr/>
        </p:nvSpPr>
        <p:spPr>
          <a:xfrm xmlns:a="http://schemas.openxmlformats.org/drawingml/2006/main">
            <a:off x="6191250" y="3238500"/>
            <a:ext cx="50482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284D22-F2D2-42F4-88CA-5D7A520FA57F}"/>
              </a:ext>
            </a:extLst>
          </p:cNvPr>
          <p:cNvSpPr>
            <a:spLocks xmlns:a="http://schemas.openxmlformats.org/drawingml/2006/main" noGrp="1"/>
          </p:cNvSpPr>
          <p:nvPr/>
        </p:nvSpPr>
        <p:spPr>
          <a:xfrm xmlns:a="http://schemas.openxmlformats.org/drawingml/2006/main">
            <a:off x="6191250" y="3562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0A9B7"/>
                </a:solidFill>
                <a:latin typeface="Arial"/>
                <a:ea typeface="Arial"/>
                <a:cs typeface="Arial"/>
              </a:defRPr>
            </a:defPPr>
          </a:lstStyle>
          <a:p xmlns:a="http://schemas.openxmlformats.org/drawingml/2006/main">
            <a:pPr>
              <a:defRPr sz="1275" b="1">
                <a:solidFill>
                  <a:srgbClr val="00A9B7"/>
                </a:solidFill>
                <a:latin typeface="Arial"/>
                <a:ea typeface="Arial"/>
                <a:cs typeface="Arial"/>
              </a:defRPr>
            </a:pPr>
            <a:r>
              <a:rPr sz="1275" b="1">
                <a:solidFill>
                  <a:srgbClr val="00A9B7"/>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D3CD536-3CD4-430B-A29B-C8E3EFA3949A}"/>
              </a:ext>
            </a:extLst>
          </p:cNvPr>
          <p:cNvSpPr>
            <a:spLocks xmlns:a="http://schemas.openxmlformats.org/drawingml/2006/main" noGrp="1"/>
          </p:cNvSpPr>
          <p:nvPr/>
        </p:nvSpPr>
        <p:spPr>
          <a:xfrm xmlns:a="http://schemas.openxmlformats.org/drawingml/2006/main">
            <a:off x="6800850" y="3543300"/>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183244"/>
                </a:solidFill>
                <a:latin typeface="Arial"/>
                <a:ea typeface="Arial"/>
                <a:cs typeface="Arial"/>
              </a:defRPr>
            </a:defPPr>
          </a:lstStyle>
          <a:p xmlns:a="http://schemas.openxmlformats.org/drawingml/2006/main">
            <a:pPr>
              <a:defRPr sz="1575" b="1">
                <a:solidFill>
                  <a:srgbClr val="183244"/>
                </a:solidFill>
                <a:latin typeface="Arial"/>
                <a:ea typeface="Arial"/>
                <a:cs typeface="Arial"/>
              </a:defRPr>
            </a:pPr>
            <a:r>
              <a:rPr sz="1575" b="1">
                <a:solidFill>
                  <a:srgbClr val="183244"/>
                </a:solidFill>
                <a:latin typeface="Arial"/>
                <a:ea typeface="Arial"/>
                <a:cs typeface="Arial"/>
              </a:rPr>
              <a:t>What changed?</a:t>
            </a:r>
          </a:p>
        </p:txBody>
      </p:sp>
      <p:sp>
        <p:nvSpPr>
          <p:cNvPr id="18" name="">
            <a:extLst xmlns:a="http://schemas.openxmlformats.org/drawingml/2006/main">
              <a:ext uri="{FF2B5EF4-FFF2-40B4-BE49-F238E27FC236}">
                <a16:creationId xmlns:a16="http://schemas.microsoft.com/office/drawing/2014/main" id="{EEFFC850-782C-4002-A402-BE60E3D31038}"/>
              </a:ext>
            </a:extLst>
          </p:cNvPr>
          <p:cNvSpPr>
            <a:spLocks xmlns:a="http://schemas.openxmlformats.org/drawingml/2006/main" noGrp="1"/>
          </p:cNvSpPr>
          <p:nvPr/>
        </p:nvSpPr>
        <p:spPr>
          <a:xfrm xmlns:a="http://schemas.openxmlformats.org/drawingml/2006/main">
            <a:off x="8763000" y="3562350"/>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A comparison with the last scan</a:t>
            </a:r>
          </a:p>
        </p:txBody>
      </p:sp>
      <p:sp>
        <p:nvSpPr>
          <p:cNvPr id="19" name="">
            <a:extLst xmlns:a="http://schemas.openxmlformats.org/drawingml/2006/main">
              <a:ext uri="{FF2B5EF4-FFF2-40B4-BE49-F238E27FC236}">
                <a16:creationId xmlns:a16="http://schemas.microsoft.com/office/drawing/2014/main" id="{97F5FA53-EB6E-4ED4-ACE0-77278E28256E}"/>
              </a:ext>
            </a:extLst>
          </p:cNvPr>
          <p:cNvSpPr>
            <a:spLocks xmlns:a="http://schemas.openxmlformats.org/drawingml/2006/main" noGrp="1"/>
          </p:cNvSpPr>
          <p:nvPr/>
        </p:nvSpPr>
        <p:spPr>
          <a:xfrm xmlns:a="http://schemas.openxmlformats.org/drawingml/2006/main">
            <a:off x="6191250" y="4210050"/>
            <a:ext cx="50482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AD6C485-563D-45D8-8E8C-49A89762853A}"/>
              </a:ext>
            </a:extLst>
          </p:cNvPr>
          <p:cNvSpPr>
            <a:spLocks xmlns:a="http://schemas.openxmlformats.org/drawingml/2006/main" noGrp="1"/>
          </p:cNvSpPr>
          <p:nvPr/>
        </p:nvSpPr>
        <p:spPr>
          <a:xfrm xmlns:a="http://schemas.openxmlformats.org/drawingml/2006/main">
            <a:off x="6191250" y="4533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0A9B7"/>
                </a:solidFill>
                <a:latin typeface="Arial"/>
                <a:ea typeface="Arial"/>
                <a:cs typeface="Arial"/>
              </a:defRPr>
            </a:defPPr>
          </a:lstStyle>
          <a:p xmlns:a="http://schemas.openxmlformats.org/drawingml/2006/main">
            <a:pPr>
              <a:defRPr sz="1275" b="1">
                <a:solidFill>
                  <a:srgbClr val="00A9B7"/>
                </a:solidFill>
                <a:latin typeface="Arial"/>
                <a:ea typeface="Arial"/>
                <a:cs typeface="Arial"/>
              </a:defRPr>
            </a:pPr>
            <a:r>
              <a:rPr sz="1275" b="1">
                <a:solidFill>
                  <a:srgbClr val="00A9B7"/>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CDF720BA-A797-4EC1-84CE-744895BA1A54}"/>
              </a:ext>
            </a:extLst>
          </p:cNvPr>
          <p:cNvSpPr>
            <a:spLocks xmlns:a="http://schemas.openxmlformats.org/drawingml/2006/main" noGrp="1"/>
          </p:cNvSpPr>
          <p:nvPr/>
        </p:nvSpPr>
        <p:spPr>
          <a:xfrm xmlns:a="http://schemas.openxmlformats.org/drawingml/2006/main">
            <a:off x="6800850" y="4514850"/>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478"/>
          </a:bodyPr>
          <a:lstStyle xmlns:a="http://schemas.openxmlformats.org/drawingml/2006/main">
            <a:defPPr>
              <a:defRPr sz="1575" b="1">
                <a:solidFill>
                  <a:srgbClr val="183244"/>
                </a:solidFill>
                <a:latin typeface="Arial"/>
                <a:ea typeface="Arial"/>
                <a:cs typeface="Arial"/>
              </a:defRPr>
            </a:defPPr>
          </a:lstStyle>
          <a:p xmlns:a="http://schemas.openxmlformats.org/drawingml/2006/main">
            <a:pPr>
              <a:defRPr sz="1575" b="1">
                <a:solidFill>
                  <a:srgbClr val="183244"/>
                </a:solidFill>
                <a:latin typeface="Arial"/>
                <a:ea typeface="Arial"/>
                <a:cs typeface="Arial"/>
              </a:defRPr>
            </a:pPr>
            <a:r>
              <a:rPr sz="1575" b="1">
                <a:solidFill>
                  <a:srgbClr val="183244"/>
                </a:solidFill>
                <a:latin typeface="Arial"/>
                <a:ea typeface="Arial"/>
                <a:cs typeface="Arial"/>
              </a:rPr>
              <a:t>What does it mean?</a:t>
            </a:r>
          </a:p>
        </p:txBody>
      </p:sp>
      <p:sp>
        <p:nvSpPr>
          <p:cNvPr id="22" name="">
            <a:extLst xmlns:a="http://schemas.openxmlformats.org/drawingml/2006/main">
              <a:ext uri="{FF2B5EF4-FFF2-40B4-BE49-F238E27FC236}">
                <a16:creationId xmlns:a16="http://schemas.microsoft.com/office/drawing/2014/main" id="{F2A3BB36-F7C0-40F5-8B22-E61B9F0AA3F9}"/>
              </a:ext>
            </a:extLst>
          </p:cNvPr>
          <p:cNvSpPr>
            <a:spLocks xmlns:a="http://schemas.openxmlformats.org/drawingml/2006/main" noGrp="1"/>
          </p:cNvSpPr>
          <p:nvPr/>
        </p:nvSpPr>
        <p:spPr>
          <a:xfrm xmlns:a="http://schemas.openxmlformats.org/drawingml/2006/main">
            <a:off x="8763000" y="4533900"/>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A readable explanation tied to evidence</a:t>
            </a:r>
          </a:p>
        </p:txBody>
      </p:sp>
      <p:sp>
        <p:nvSpPr>
          <p:cNvPr id="23" name="">
            <a:extLst xmlns:a="http://schemas.openxmlformats.org/drawingml/2006/main">
              <a:ext uri="{FF2B5EF4-FFF2-40B4-BE49-F238E27FC236}">
                <a16:creationId xmlns:a16="http://schemas.microsoft.com/office/drawing/2014/main" id="{C0886CE0-7441-4B31-BF69-6212D3CCA166}"/>
              </a:ext>
            </a:extLst>
          </p:cNvPr>
          <p:cNvSpPr>
            <a:spLocks xmlns:a="http://schemas.openxmlformats.org/drawingml/2006/main" noGrp="1"/>
          </p:cNvSpPr>
          <p:nvPr/>
        </p:nvSpPr>
        <p:spPr>
          <a:xfrm xmlns:a="http://schemas.openxmlformats.org/drawingml/2006/main">
            <a:off x="685800" y="4543425"/>
            <a:ext cx="4762500" cy="895350"/>
          </a:xfrm>
          <a:prstGeom xmlns:a="http://schemas.openxmlformats.org/drawingml/2006/main" prst="roundRect">
            <a:avLst>
              <a:gd name="adj" fmla="val 12766"/>
            </a:avLst>
          </a:prstGeom>
          <a:solidFill xmlns:a="http://schemas.openxmlformats.org/drawingml/2006/main">
            <a:srgbClr val="071A2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3929969-1F54-4182-BC3C-40B448A967B8}"/>
              </a:ext>
            </a:extLst>
          </p:cNvPr>
          <p:cNvSpPr>
            <a:spLocks xmlns:a="http://schemas.openxmlformats.org/drawingml/2006/main" noGrp="1"/>
          </p:cNvSpPr>
          <p:nvPr/>
        </p:nvSpPr>
        <p:spPr>
          <a:xfrm xmlns:a="http://schemas.openxmlformats.org/drawingml/2006/main">
            <a:off x="914400" y="47053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defPPr>
              <a:defRPr sz="975" b="1">
                <a:solidFill>
                  <a:srgbClr val="65D1DA"/>
                </a:solidFill>
                <a:latin typeface="Arial"/>
                <a:ea typeface="Arial"/>
                <a:cs typeface="Arial"/>
              </a:defRPr>
            </a:defPPr>
          </a:lstStyle>
          <a:p xmlns:a="http://schemas.openxmlformats.org/drawingml/2006/main">
            <a:pPr>
              <a:defRPr sz="975" b="1">
                <a:solidFill>
                  <a:srgbClr val="65D1DA"/>
                </a:solidFill>
                <a:latin typeface="Arial"/>
                <a:ea typeface="Arial"/>
                <a:cs typeface="Arial"/>
              </a:defRPr>
            </a:pPr>
            <a:r>
              <a:rPr sz="975" b="1">
                <a:solidFill>
                  <a:srgbClr val="65D1DA"/>
                </a:solidFill>
                <a:latin typeface="Arial"/>
                <a:ea typeface="Arial"/>
                <a:cs typeface="Arial"/>
              </a:rPr>
              <a:t>The gap</a:t>
            </a:r>
          </a:p>
        </p:txBody>
      </p:sp>
      <p:sp>
        <p:nvSpPr>
          <p:cNvPr id="25" name="">
            <a:extLst xmlns:a="http://schemas.openxmlformats.org/drawingml/2006/main">
              <a:ext uri="{FF2B5EF4-FFF2-40B4-BE49-F238E27FC236}">
                <a16:creationId xmlns:a16="http://schemas.microsoft.com/office/drawing/2014/main" id="{C6AF127B-60A8-45A2-80DD-3B26D54C0697}"/>
              </a:ext>
            </a:extLst>
          </p:cNvPr>
          <p:cNvSpPr>
            <a:spLocks xmlns:a="http://schemas.openxmlformats.org/drawingml/2006/main" noGrp="1"/>
          </p:cNvSpPr>
          <p:nvPr/>
        </p:nvSpPr>
        <p:spPr>
          <a:xfrm xmlns:a="http://schemas.openxmlformats.org/drawingml/2006/main">
            <a:off x="914400" y="50101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092"/>
          </a:bodyPr>
          <a:lstStyle xmlns:a="http://schemas.openxmlformats.org/drawingml/2006/main">
            <a:defPPr>
              <a:defRPr sz="1350" b="1">
                <a:solidFill>
                  <a:srgbClr val="FFFFFF"/>
                </a:solidFill>
                <a:latin typeface="Arial"/>
                <a:ea typeface="Arial"/>
                <a:cs typeface="Arial"/>
              </a:defRPr>
            </a:def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Understanding a database takes more than seeing its tables.</a:t>
            </a:r>
          </a:p>
        </p:txBody>
      </p:sp>
    </p:spTree>
    <p:extLst>
      <p:ext uri="{BB962C8B-B14F-4D97-AF65-F5344CB8AC3E}">
        <p14:creationId xmlns:p14="http://schemas.microsoft.com/office/powerpoint/2010/main" val="1113976236"/>
      </p:ext>
    </p:extLst>
  </p:cSld>
</p:sld>
</file>

<file path=ppt/slides/slide3.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FC0C4A0-742E-4DA2-BA21-D7F458301A7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2E298B-F62B-4AE4-A573-B867058E69E8}"/>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One saved snapshot anchors the review</a:t>
            </a:r>
          </a:p>
        </p:txBody>
      </p:sp>
      <p:sp>
        <p:nvSpPr>
          <p:cNvPr id="3" name="">
            <a:extLst xmlns:a="http://schemas.openxmlformats.org/drawingml/2006/main">
              <a:ext uri="{FF2B5EF4-FFF2-40B4-BE49-F238E27FC236}">
                <a16:creationId xmlns:a16="http://schemas.microsoft.com/office/drawing/2014/main" id="{677FF62F-89B3-4E26-8650-DAAF4B86C2B8}"/>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The workbench turns metadata into a record people can inspect, discuss, and compare.</a:t>
            </a:r>
          </a:p>
        </p:txBody>
      </p:sp>
      <p:sp>
        <p:nvSpPr>
          <p:cNvPr id="4" name="">
            <a:extLst xmlns:a="http://schemas.openxmlformats.org/drawingml/2006/main">
              <a:ext uri="{FF2B5EF4-FFF2-40B4-BE49-F238E27FC236}">
                <a16:creationId xmlns:a16="http://schemas.microsoft.com/office/drawing/2014/main" id="{A47434FA-2479-4A7F-954C-08B99B0A0A4F}"/>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F217CC-89E4-4070-99FC-CB68E06DA49A}"/>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BFA23A40-F8B5-4478-844A-6DB00ACB407D}"/>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FF9BC2FB-D876-40EE-A745-D8EA30813C9B}"/>
              </a:ext>
            </a:extLst>
          </p:cNvPr>
          <p:cNvSpPr>
            <a:spLocks xmlns:a="http://schemas.openxmlformats.org/drawingml/2006/main" noGrp="1"/>
          </p:cNvSpPr>
          <p:nvPr/>
        </p:nvSpPr>
        <p:spPr>
          <a:xfrm xmlns:a="http://schemas.openxmlformats.org/drawingml/2006/main">
            <a:off x="666750" y="20002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A9B7"/>
                </a:solidFill>
                <a:latin typeface="Arial"/>
                <a:ea typeface="Arial"/>
                <a:cs typeface="Arial"/>
              </a:defRPr>
            </a:defPPr>
          </a:lstStyle>
          <a:p xmlns:a="http://schemas.openxmlformats.org/drawingml/2006/main">
            <a:pPr>
              <a:defRPr sz="1650" b="1">
                <a:solidFill>
                  <a:srgbClr val="00A9B7"/>
                </a:solidFill>
                <a:latin typeface="Arial"/>
                <a:ea typeface="Arial"/>
                <a:cs typeface="Arial"/>
              </a:defRPr>
            </a:pPr>
            <a:r>
              <a:rPr sz="1650" b="1">
                <a:solidFill>
                  <a:srgbClr val="00A9B7"/>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FDFC5E5-000E-4142-8A90-72B2EE5DC114}"/>
              </a:ext>
            </a:extLst>
          </p:cNvPr>
          <p:cNvSpPr>
            <a:spLocks xmlns:a="http://schemas.openxmlformats.org/drawingml/2006/main" noGrp="1"/>
          </p:cNvSpPr>
          <p:nvPr/>
        </p:nvSpPr>
        <p:spPr>
          <a:xfrm xmlns:a="http://schemas.openxmlformats.org/drawingml/2006/main">
            <a:off x="666750" y="2466975"/>
            <a:ext cx="38100" cy="9525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CB783F1-1EC4-45AF-9226-5E03ED39C35D}"/>
              </a:ext>
            </a:extLst>
          </p:cNvPr>
          <p:cNvSpPr>
            <a:spLocks xmlns:a="http://schemas.openxmlformats.org/drawingml/2006/main" noGrp="1"/>
          </p:cNvSpPr>
          <p:nvPr/>
        </p:nvSpPr>
        <p:spPr>
          <a:xfrm xmlns:a="http://schemas.openxmlformats.org/drawingml/2006/main">
            <a:off x="838200" y="2457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183244"/>
                </a:solidFill>
                <a:latin typeface="Arial"/>
                <a:ea typeface="Arial"/>
                <a:cs typeface="Arial"/>
              </a:defRPr>
            </a:defPPr>
          </a:lstStyle>
          <a:p xmlns:a="http://schemas.openxmlformats.org/drawingml/2006/main">
            <a:pPr>
              <a:defRPr sz="1500" b="1">
                <a:solidFill>
                  <a:srgbClr val="183244"/>
                </a:solidFill>
                <a:latin typeface="Arial"/>
                <a:ea typeface="Arial"/>
                <a:cs typeface="Arial"/>
              </a:defRPr>
            </a:pPr>
            <a:r>
              <a:rPr sz="1500" b="1">
                <a:solidFill>
                  <a:srgbClr val="183244"/>
                </a:solidFill>
                <a:latin typeface="Arial"/>
                <a:ea typeface="Arial"/>
                <a:cs typeface="Arial"/>
              </a:rPr>
              <a:t>Connect</a:t>
            </a:r>
          </a:p>
        </p:txBody>
      </p:sp>
      <p:sp>
        <p:nvSpPr>
          <p:cNvPr id="10" name="">
            <a:extLst xmlns:a="http://schemas.openxmlformats.org/drawingml/2006/main">
              <a:ext uri="{FF2B5EF4-FFF2-40B4-BE49-F238E27FC236}">
                <a16:creationId xmlns:a16="http://schemas.microsoft.com/office/drawing/2014/main" id="{E0E79BE3-510E-4242-91AC-D3257179F77D}"/>
              </a:ext>
            </a:extLst>
          </p:cNvPr>
          <p:cNvSpPr>
            <a:spLocks xmlns:a="http://schemas.openxmlformats.org/drawingml/2006/main" noGrp="1"/>
          </p:cNvSpPr>
          <p:nvPr/>
        </p:nvSpPr>
        <p:spPr>
          <a:xfrm xmlns:a="http://schemas.openxmlformats.org/drawingml/2006/main">
            <a:off x="838200" y="2867025"/>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Test access to an authorized database</a:t>
            </a:r>
          </a:p>
        </p:txBody>
      </p:sp>
      <p:sp>
        <p:nvSpPr>
          <p:cNvPr id="11" name="">
            <a:extLst xmlns:a="http://schemas.openxmlformats.org/drawingml/2006/main">
              <a:ext uri="{FF2B5EF4-FFF2-40B4-BE49-F238E27FC236}">
                <a16:creationId xmlns:a16="http://schemas.microsoft.com/office/drawing/2014/main" id="{97BF2EAF-157F-4470-AD6A-CEE4F9BCE99D}"/>
              </a:ext>
            </a:extLst>
          </p:cNvPr>
          <p:cNvSpPr>
            <a:spLocks xmlns:a="http://schemas.openxmlformats.org/drawingml/2006/main" noGrp="1"/>
          </p:cNvSpPr>
          <p:nvPr/>
        </p:nvSpPr>
        <p:spPr>
          <a:xfrm xmlns:a="http://schemas.openxmlformats.org/drawingml/2006/main">
            <a:off x="2857500" y="20002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A9B7"/>
                </a:solidFill>
                <a:latin typeface="Arial"/>
                <a:ea typeface="Arial"/>
                <a:cs typeface="Arial"/>
              </a:defRPr>
            </a:defPPr>
          </a:lstStyle>
          <a:p xmlns:a="http://schemas.openxmlformats.org/drawingml/2006/main">
            <a:pPr>
              <a:defRPr sz="1650" b="1">
                <a:solidFill>
                  <a:srgbClr val="00A9B7"/>
                </a:solidFill>
                <a:latin typeface="Arial"/>
                <a:ea typeface="Arial"/>
                <a:cs typeface="Arial"/>
              </a:defRPr>
            </a:pPr>
            <a:r>
              <a:rPr sz="1650" b="1">
                <a:solidFill>
                  <a:srgbClr val="00A9B7"/>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2F96571-0A79-4987-AC45-43883655287C}"/>
              </a:ext>
            </a:extLst>
          </p:cNvPr>
          <p:cNvSpPr>
            <a:spLocks xmlns:a="http://schemas.openxmlformats.org/drawingml/2006/main" noGrp="1"/>
          </p:cNvSpPr>
          <p:nvPr/>
        </p:nvSpPr>
        <p:spPr>
          <a:xfrm xmlns:a="http://schemas.openxmlformats.org/drawingml/2006/main">
            <a:off x="2857500" y="2466975"/>
            <a:ext cx="38100" cy="952500"/>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E46E35-00A5-4BF5-9835-7560468313BB}"/>
              </a:ext>
            </a:extLst>
          </p:cNvPr>
          <p:cNvSpPr>
            <a:spLocks xmlns:a="http://schemas.openxmlformats.org/drawingml/2006/main" noGrp="1"/>
          </p:cNvSpPr>
          <p:nvPr/>
        </p:nvSpPr>
        <p:spPr>
          <a:xfrm xmlns:a="http://schemas.openxmlformats.org/drawingml/2006/main">
            <a:off x="3028950" y="2457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183244"/>
                </a:solidFill>
                <a:latin typeface="Arial"/>
                <a:ea typeface="Arial"/>
                <a:cs typeface="Arial"/>
              </a:defRPr>
            </a:defPPr>
          </a:lstStyle>
          <a:p xmlns:a="http://schemas.openxmlformats.org/drawingml/2006/main">
            <a:pPr>
              <a:defRPr sz="1500" b="1">
                <a:solidFill>
                  <a:srgbClr val="183244"/>
                </a:solidFill>
                <a:latin typeface="Arial"/>
                <a:ea typeface="Arial"/>
                <a:cs typeface="Arial"/>
              </a:defRPr>
            </a:pPr>
            <a:r>
              <a:rPr sz="1500" b="1">
                <a:solidFill>
                  <a:srgbClr val="183244"/>
                </a:solidFill>
                <a:latin typeface="Arial"/>
                <a:ea typeface="Arial"/>
                <a:cs typeface="Arial"/>
              </a:rPr>
              <a:t>Scan</a:t>
            </a:r>
          </a:p>
        </p:txBody>
      </p:sp>
      <p:sp>
        <p:nvSpPr>
          <p:cNvPr id="14" name="">
            <a:extLst xmlns:a="http://schemas.openxmlformats.org/drawingml/2006/main">
              <a:ext uri="{FF2B5EF4-FFF2-40B4-BE49-F238E27FC236}">
                <a16:creationId xmlns:a16="http://schemas.microsoft.com/office/drawing/2014/main" id="{BC7A7BAE-181C-4011-B083-17B5C348264D}"/>
              </a:ext>
            </a:extLst>
          </p:cNvPr>
          <p:cNvSpPr>
            <a:spLocks xmlns:a="http://schemas.openxmlformats.org/drawingml/2006/main" noGrp="1"/>
          </p:cNvSpPr>
          <p:nvPr/>
        </p:nvSpPr>
        <p:spPr>
          <a:xfrm xmlns:a="http://schemas.openxmlformats.org/drawingml/2006/main">
            <a:off x="3028950" y="2867025"/>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Save schema metadata as a snapshot</a:t>
            </a:r>
          </a:p>
        </p:txBody>
      </p:sp>
      <p:sp>
        <p:nvSpPr>
          <p:cNvPr id="15" name="">
            <a:extLst xmlns:a="http://schemas.openxmlformats.org/drawingml/2006/main">
              <a:ext uri="{FF2B5EF4-FFF2-40B4-BE49-F238E27FC236}">
                <a16:creationId xmlns:a16="http://schemas.microsoft.com/office/drawing/2014/main" id="{4DE0D7CF-DFAB-49A5-8F94-40AD4C99271D}"/>
              </a:ext>
            </a:extLst>
          </p:cNvPr>
          <p:cNvSpPr>
            <a:spLocks xmlns:a="http://schemas.openxmlformats.org/drawingml/2006/main" noGrp="1"/>
          </p:cNvSpPr>
          <p:nvPr/>
        </p:nvSpPr>
        <p:spPr>
          <a:xfrm xmlns:a="http://schemas.openxmlformats.org/drawingml/2006/main">
            <a:off x="5048250" y="20002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A9B7"/>
                </a:solidFill>
                <a:latin typeface="Arial"/>
                <a:ea typeface="Arial"/>
                <a:cs typeface="Arial"/>
              </a:defRPr>
            </a:defPPr>
          </a:lstStyle>
          <a:p xmlns:a="http://schemas.openxmlformats.org/drawingml/2006/main">
            <a:pPr>
              <a:defRPr sz="1650" b="1">
                <a:solidFill>
                  <a:srgbClr val="00A9B7"/>
                </a:solidFill>
                <a:latin typeface="Arial"/>
                <a:ea typeface="Arial"/>
                <a:cs typeface="Arial"/>
              </a:defRPr>
            </a:pPr>
            <a:r>
              <a:rPr sz="1650" b="1">
                <a:solidFill>
                  <a:srgbClr val="00A9B7"/>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63E5117A-73BB-4979-BB91-21DF474EA46C}"/>
              </a:ext>
            </a:extLst>
          </p:cNvPr>
          <p:cNvSpPr>
            <a:spLocks xmlns:a="http://schemas.openxmlformats.org/drawingml/2006/main" noGrp="1"/>
          </p:cNvSpPr>
          <p:nvPr/>
        </p:nvSpPr>
        <p:spPr>
          <a:xfrm xmlns:a="http://schemas.openxmlformats.org/drawingml/2006/main">
            <a:off x="5048250" y="2466975"/>
            <a:ext cx="38100" cy="952500"/>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0CB5E77-30B5-48C4-8E6E-F06746594D52}"/>
              </a:ext>
            </a:extLst>
          </p:cNvPr>
          <p:cNvSpPr>
            <a:spLocks xmlns:a="http://schemas.openxmlformats.org/drawingml/2006/main" noGrp="1"/>
          </p:cNvSpPr>
          <p:nvPr/>
        </p:nvSpPr>
        <p:spPr>
          <a:xfrm xmlns:a="http://schemas.openxmlformats.org/drawingml/2006/main">
            <a:off x="5219700" y="2457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183244"/>
                </a:solidFill>
                <a:latin typeface="Arial"/>
                <a:ea typeface="Arial"/>
                <a:cs typeface="Arial"/>
              </a:defRPr>
            </a:defPPr>
          </a:lstStyle>
          <a:p xmlns:a="http://schemas.openxmlformats.org/drawingml/2006/main">
            <a:pPr>
              <a:defRPr sz="1500" b="1">
                <a:solidFill>
                  <a:srgbClr val="183244"/>
                </a:solidFill>
                <a:latin typeface="Arial"/>
                <a:ea typeface="Arial"/>
                <a:cs typeface="Arial"/>
              </a:defRPr>
            </a:pPr>
            <a:r>
              <a:rPr sz="1500" b="1">
                <a:solidFill>
                  <a:srgbClr val="183244"/>
                </a:solidFill>
                <a:latin typeface="Arial"/>
                <a:ea typeface="Arial"/>
                <a:cs typeface="Arial"/>
              </a:rPr>
              <a:t>Analyze</a:t>
            </a:r>
          </a:p>
        </p:txBody>
      </p:sp>
      <p:sp>
        <p:nvSpPr>
          <p:cNvPr id="18" name="">
            <a:extLst xmlns:a="http://schemas.openxmlformats.org/drawingml/2006/main">
              <a:ext uri="{FF2B5EF4-FFF2-40B4-BE49-F238E27FC236}">
                <a16:creationId xmlns:a16="http://schemas.microsoft.com/office/drawing/2014/main" id="{AEF09999-9242-4685-8767-40B4F1B95DAB}"/>
              </a:ext>
            </a:extLst>
          </p:cNvPr>
          <p:cNvSpPr>
            <a:spLocks xmlns:a="http://schemas.openxmlformats.org/drawingml/2006/main" noGrp="1"/>
          </p:cNvSpPr>
          <p:nvPr/>
        </p:nvSpPr>
        <p:spPr>
          <a:xfrm xmlns:a="http://schemas.openxmlformats.org/drawingml/2006/main">
            <a:off x="5219700" y="2867025"/>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Run repeatable checks on that snapshot</a:t>
            </a:r>
          </a:p>
        </p:txBody>
      </p:sp>
      <p:sp>
        <p:nvSpPr>
          <p:cNvPr id="19" name="">
            <a:extLst xmlns:a="http://schemas.openxmlformats.org/drawingml/2006/main">
              <a:ext uri="{FF2B5EF4-FFF2-40B4-BE49-F238E27FC236}">
                <a16:creationId xmlns:a16="http://schemas.microsoft.com/office/drawing/2014/main" id="{EBA7B217-502C-48CD-A95B-CE8498799722}"/>
              </a:ext>
            </a:extLst>
          </p:cNvPr>
          <p:cNvSpPr>
            <a:spLocks xmlns:a="http://schemas.openxmlformats.org/drawingml/2006/main" noGrp="1"/>
          </p:cNvSpPr>
          <p:nvPr/>
        </p:nvSpPr>
        <p:spPr>
          <a:xfrm xmlns:a="http://schemas.openxmlformats.org/drawingml/2006/main">
            <a:off x="7239000" y="20002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A9B7"/>
                </a:solidFill>
                <a:latin typeface="Arial"/>
                <a:ea typeface="Arial"/>
                <a:cs typeface="Arial"/>
              </a:defRPr>
            </a:defPPr>
          </a:lstStyle>
          <a:p xmlns:a="http://schemas.openxmlformats.org/drawingml/2006/main">
            <a:pPr>
              <a:defRPr sz="1650" b="1">
                <a:solidFill>
                  <a:srgbClr val="00A9B7"/>
                </a:solidFill>
                <a:latin typeface="Arial"/>
                <a:ea typeface="Arial"/>
                <a:cs typeface="Arial"/>
              </a:defRPr>
            </a:pPr>
            <a:r>
              <a:rPr sz="1650" b="1">
                <a:solidFill>
                  <a:srgbClr val="00A9B7"/>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39E6194D-ED5B-43D6-AA25-1DB842E40F99}"/>
              </a:ext>
            </a:extLst>
          </p:cNvPr>
          <p:cNvSpPr>
            <a:spLocks xmlns:a="http://schemas.openxmlformats.org/drawingml/2006/main" noGrp="1"/>
          </p:cNvSpPr>
          <p:nvPr/>
        </p:nvSpPr>
        <p:spPr>
          <a:xfrm xmlns:a="http://schemas.openxmlformats.org/drawingml/2006/main">
            <a:off x="7239000" y="2466975"/>
            <a:ext cx="38100" cy="952500"/>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EEBC16C-193B-4AD0-8B52-C18D6A28B753}"/>
              </a:ext>
            </a:extLst>
          </p:cNvPr>
          <p:cNvSpPr>
            <a:spLocks xmlns:a="http://schemas.openxmlformats.org/drawingml/2006/main" noGrp="1"/>
          </p:cNvSpPr>
          <p:nvPr/>
        </p:nvSpPr>
        <p:spPr>
          <a:xfrm xmlns:a="http://schemas.openxmlformats.org/drawingml/2006/main">
            <a:off x="7410450" y="2457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183244"/>
                </a:solidFill>
                <a:latin typeface="Arial"/>
                <a:ea typeface="Arial"/>
                <a:cs typeface="Arial"/>
              </a:defRPr>
            </a:defPPr>
          </a:lstStyle>
          <a:p xmlns:a="http://schemas.openxmlformats.org/drawingml/2006/main">
            <a:pPr>
              <a:defRPr sz="1500" b="1">
                <a:solidFill>
                  <a:srgbClr val="183244"/>
                </a:solidFill>
                <a:latin typeface="Arial"/>
                <a:ea typeface="Arial"/>
                <a:cs typeface="Arial"/>
              </a:defRPr>
            </a:pPr>
            <a:r>
              <a:rPr sz="1500" b="1">
                <a:solidFill>
                  <a:srgbClr val="183244"/>
                </a:solidFill>
                <a:latin typeface="Arial"/>
                <a:ea typeface="Arial"/>
                <a:cs typeface="Arial"/>
              </a:rPr>
              <a:t>Explain</a:t>
            </a:r>
          </a:p>
        </p:txBody>
      </p:sp>
      <p:sp>
        <p:nvSpPr>
          <p:cNvPr id="22" name="">
            <a:extLst xmlns:a="http://schemas.openxmlformats.org/drawingml/2006/main">
              <a:ext uri="{FF2B5EF4-FFF2-40B4-BE49-F238E27FC236}">
                <a16:creationId xmlns:a16="http://schemas.microsoft.com/office/drawing/2014/main" id="{863B547C-E944-4C38-9ADA-3D8FF943D918}"/>
              </a:ext>
            </a:extLst>
          </p:cNvPr>
          <p:cNvSpPr>
            <a:spLocks xmlns:a="http://schemas.openxmlformats.org/drawingml/2006/main" noGrp="1"/>
          </p:cNvSpPr>
          <p:nvPr/>
        </p:nvSpPr>
        <p:spPr>
          <a:xfrm xmlns:a="http://schemas.openxmlformats.org/drawingml/2006/main">
            <a:off x="7410450" y="2867025"/>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Explore findings, docs, diagram, and chat</a:t>
            </a:r>
          </a:p>
        </p:txBody>
      </p:sp>
      <p:sp>
        <p:nvSpPr>
          <p:cNvPr id="23" name="">
            <a:extLst xmlns:a="http://schemas.openxmlformats.org/drawingml/2006/main">
              <a:ext uri="{FF2B5EF4-FFF2-40B4-BE49-F238E27FC236}">
                <a16:creationId xmlns:a16="http://schemas.microsoft.com/office/drawing/2014/main" id="{8F12D437-4A0F-4F14-95BD-EE57D8C8D957}"/>
              </a:ext>
            </a:extLst>
          </p:cNvPr>
          <p:cNvSpPr>
            <a:spLocks xmlns:a="http://schemas.openxmlformats.org/drawingml/2006/main" noGrp="1"/>
          </p:cNvSpPr>
          <p:nvPr/>
        </p:nvSpPr>
        <p:spPr>
          <a:xfrm xmlns:a="http://schemas.openxmlformats.org/drawingml/2006/main">
            <a:off x="9429750" y="20002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A9B7"/>
                </a:solidFill>
                <a:latin typeface="Arial"/>
                <a:ea typeface="Arial"/>
                <a:cs typeface="Arial"/>
              </a:defRPr>
            </a:defPPr>
          </a:lstStyle>
          <a:p xmlns:a="http://schemas.openxmlformats.org/drawingml/2006/main">
            <a:pPr>
              <a:defRPr sz="1650" b="1">
                <a:solidFill>
                  <a:srgbClr val="00A9B7"/>
                </a:solidFill>
                <a:latin typeface="Arial"/>
                <a:ea typeface="Arial"/>
                <a:cs typeface="Arial"/>
              </a:defRPr>
            </a:pPr>
            <a:r>
              <a:rPr sz="1650" b="1">
                <a:solidFill>
                  <a:srgbClr val="00A9B7"/>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31E77011-2C6A-4CF0-9777-3127E2CE985A}"/>
              </a:ext>
            </a:extLst>
          </p:cNvPr>
          <p:cNvSpPr>
            <a:spLocks xmlns:a="http://schemas.openxmlformats.org/drawingml/2006/main" noGrp="1"/>
          </p:cNvSpPr>
          <p:nvPr/>
        </p:nvSpPr>
        <p:spPr>
          <a:xfrm xmlns:a="http://schemas.openxmlformats.org/drawingml/2006/main">
            <a:off x="9429750" y="2466975"/>
            <a:ext cx="38100" cy="952500"/>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EBF0BC9-5914-4DDB-895E-634A6B3587F1}"/>
              </a:ext>
            </a:extLst>
          </p:cNvPr>
          <p:cNvSpPr>
            <a:spLocks xmlns:a="http://schemas.openxmlformats.org/drawingml/2006/main" noGrp="1"/>
          </p:cNvSpPr>
          <p:nvPr/>
        </p:nvSpPr>
        <p:spPr>
          <a:xfrm xmlns:a="http://schemas.openxmlformats.org/drawingml/2006/main">
            <a:off x="9601200" y="2457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183244"/>
                </a:solidFill>
                <a:latin typeface="Arial"/>
                <a:ea typeface="Arial"/>
                <a:cs typeface="Arial"/>
              </a:defRPr>
            </a:defPPr>
          </a:lstStyle>
          <a:p xmlns:a="http://schemas.openxmlformats.org/drawingml/2006/main">
            <a:pPr>
              <a:defRPr sz="1500" b="1">
                <a:solidFill>
                  <a:srgbClr val="183244"/>
                </a:solidFill>
                <a:latin typeface="Arial"/>
                <a:ea typeface="Arial"/>
                <a:cs typeface="Arial"/>
              </a:defRPr>
            </a:pPr>
            <a:r>
              <a:rPr sz="1500" b="1">
                <a:solidFill>
                  <a:srgbClr val="183244"/>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89F90DCF-F802-49BA-B983-5904314BB750}"/>
              </a:ext>
            </a:extLst>
          </p:cNvPr>
          <p:cNvSpPr>
            <a:spLocks xmlns:a="http://schemas.openxmlformats.org/drawingml/2006/main" noGrp="1"/>
          </p:cNvSpPr>
          <p:nvPr/>
        </p:nvSpPr>
        <p:spPr>
          <a:xfrm xmlns:a="http://schemas.openxmlformats.org/drawingml/2006/main">
            <a:off x="9601200" y="2867025"/>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Record decisions and compare future scans</a:t>
            </a:r>
          </a:p>
        </p:txBody>
      </p:sp>
      <p:sp>
        <p:nvSpPr>
          <p:cNvPr id="27" name="">
            <a:extLst xmlns:a="http://schemas.openxmlformats.org/drawingml/2006/main">
              <a:ext uri="{FF2B5EF4-FFF2-40B4-BE49-F238E27FC236}">
                <a16:creationId xmlns:a16="http://schemas.microsoft.com/office/drawing/2014/main" id="{7B5633B1-B3F9-44B9-88C2-6DB84E6F95A1}"/>
              </a:ext>
            </a:extLst>
          </p:cNvPr>
          <p:cNvSpPr>
            <a:spLocks xmlns:a="http://schemas.openxmlformats.org/drawingml/2006/main" noGrp="1"/>
          </p:cNvSpPr>
          <p:nvPr/>
        </p:nvSpPr>
        <p:spPr>
          <a:xfrm xmlns:a="http://schemas.openxmlformats.org/drawingml/2006/main">
            <a:off x="685800" y="4010025"/>
            <a:ext cx="105727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2DC40EC-99C8-46D1-87AD-82823064FBF2}"/>
              </a:ext>
            </a:extLst>
          </p:cNvPr>
          <p:cNvSpPr>
            <a:spLocks xmlns:a="http://schemas.openxmlformats.org/drawingml/2006/main" noGrp="1"/>
          </p:cNvSpPr>
          <p:nvPr/>
        </p:nvSpPr>
        <p:spPr>
          <a:xfrm xmlns:a="http://schemas.openxmlformats.org/drawingml/2006/main">
            <a:off x="704850" y="43053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defPPr>
              <a:defRPr sz="900" b="1">
                <a:solidFill>
                  <a:srgbClr val="00A9B7"/>
                </a:solidFill>
                <a:latin typeface="Arial"/>
                <a:ea typeface="Arial"/>
                <a:cs typeface="Arial"/>
              </a:defRPr>
            </a:defPPr>
          </a:lstStyle>
          <a:p xmlns:a="http://schemas.openxmlformats.org/drawingml/2006/main">
            <a:pPr>
              <a:defRPr sz="900" b="1">
                <a:solidFill>
                  <a:srgbClr val="00A9B7"/>
                </a:solidFill>
                <a:latin typeface="Arial"/>
                <a:ea typeface="Arial"/>
                <a:cs typeface="Arial"/>
              </a:defRPr>
            </a:pPr>
            <a:r>
              <a:rPr sz="900" b="1">
                <a:solidFill>
                  <a:srgbClr val="00A9B7"/>
                </a:solidFill>
                <a:latin typeface="Arial"/>
                <a:ea typeface="Arial"/>
                <a:cs typeface="Arial"/>
              </a:rPr>
              <a:t>TWO DATABASES, TWO JOBS</a:t>
            </a:r>
          </a:p>
        </p:txBody>
      </p:sp>
      <p:sp>
        <p:nvSpPr>
          <p:cNvPr id="29" name="">
            <a:extLst xmlns:a="http://schemas.openxmlformats.org/drawingml/2006/main">
              <a:ext uri="{FF2B5EF4-FFF2-40B4-BE49-F238E27FC236}">
                <a16:creationId xmlns:a16="http://schemas.microsoft.com/office/drawing/2014/main" id="{B7AC2F32-A0FB-4E73-A26A-FB7C19A94F40}"/>
              </a:ext>
            </a:extLst>
          </p:cNvPr>
          <p:cNvSpPr>
            <a:spLocks xmlns:a="http://schemas.openxmlformats.org/drawingml/2006/main" noGrp="1"/>
          </p:cNvSpPr>
          <p:nvPr/>
        </p:nvSpPr>
        <p:spPr>
          <a:xfrm xmlns:a="http://schemas.openxmlformats.org/drawingml/2006/main">
            <a:off x="685800" y="4629150"/>
            <a:ext cx="4810125"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E4E7"/>
            </a:solidFill>
          </a:ln>
        </p:spPr>
      </p:sp>
      <p:sp>
        <p:nvSpPr>
          <p:cNvPr id="30" name="">
            <a:extLst xmlns:a="http://schemas.openxmlformats.org/drawingml/2006/main">
              <a:ext uri="{FF2B5EF4-FFF2-40B4-BE49-F238E27FC236}">
                <a16:creationId xmlns:a16="http://schemas.microsoft.com/office/drawing/2014/main" id="{363673DB-AA20-4F2D-97FE-7EB3CB0DF6CC}"/>
              </a:ext>
            </a:extLst>
          </p:cNvPr>
          <p:cNvSpPr>
            <a:spLocks xmlns:a="http://schemas.openxmlformats.org/drawingml/2006/main" noGrp="1"/>
          </p:cNvSpPr>
          <p:nvPr/>
        </p:nvSpPr>
        <p:spPr>
          <a:xfrm xmlns:a="http://schemas.openxmlformats.org/drawingml/2006/main">
            <a:off x="685800" y="4629150"/>
            <a:ext cx="47625" cy="10287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43185D7-424E-40CC-8D2E-38BF7EE12828}"/>
              </a:ext>
            </a:extLst>
          </p:cNvPr>
          <p:cNvSpPr>
            <a:spLocks xmlns:a="http://schemas.openxmlformats.org/drawingml/2006/main" noGrp="1"/>
          </p:cNvSpPr>
          <p:nvPr/>
        </p:nvSpPr>
        <p:spPr>
          <a:xfrm xmlns:a="http://schemas.openxmlformats.org/drawingml/2006/main">
            <a:off x="876300" y="4772025"/>
            <a:ext cx="4429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Target database</a:t>
            </a:r>
          </a:p>
        </p:txBody>
      </p:sp>
      <p:sp>
        <p:nvSpPr>
          <p:cNvPr id="32" name="">
            <a:extLst xmlns:a="http://schemas.openxmlformats.org/drawingml/2006/main">
              <a:ext uri="{FF2B5EF4-FFF2-40B4-BE49-F238E27FC236}">
                <a16:creationId xmlns:a16="http://schemas.microsoft.com/office/drawing/2014/main" id="{117FD8C3-2373-46FE-AB5A-713D6792C1B3}"/>
              </a:ext>
            </a:extLst>
          </p:cNvPr>
          <p:cNvSpPr>
            <a:spLocks xmlns:a="http://schemas.openxmlformats.org/drawingml/2006/main" noGrp="1"/>
          </p:cNvSpPr>
          <p:nvPr/>
        </p:nvSpPr>
        <p:spPr>
          <a:xfrm xmlns:a="http://schemas.openxmlformats.org/drawingml/2006/main">
            <a:off x="876300" y="512445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Business tables and collections being inspected.</a:t>
            </a:r>
          </a:p>
        </p:txBody>
      </p:sp>
      <p:sp>
        <p:nvSpPr>
          <p:cNvPr id="33" name="">
            <a:extLst xmlns:a="http://schemas.openxmlformats.org/drawingml/2006/main">
              <a:ext uri="{FF2B5EF4-FFF2-40B4-BE49-F238E27FC236}">
                <a16:creationId xmlns:a16="http://schemas.microsoft.com/office/drawing/2014/main" id="{BE5ADEE6-5E7C-4258-A62F-AE7E55AE41E1}"/>
              </a:ext>
            </a:extLst>
          </p:cNvPr>
          <p:cNvSpPr>
            <a:spLocks xmlns:a="http://schemas.openxmlformats.org/drawingml/2006/main" noGrp="1"/>
          </p:cNvSpPr>
          <p:nvPr/>
        </p:nvSpPr>
        <p:spPr>
          <a:xfrm xmlns:a="http://schemas.openxmlformats.org/drawingml/2006/main">
            <a:off x="5838825" y="4629150"/>
            <a:ext cx="5429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E4E7"/>
            </a:solidFill>
          </a:ln>
        </p:spPr>
      </p:sp>
      <p:sp>
        <p:nvSpPr>
          <p:cNvPr id="34" name="">
            <a:extLst xmlns:a="http://schemas.openxmlformats.org/drawingml/2006/main">
              <a:ext uri="{FF2B5EF4-FFF2-40B4-BE49-F238E27FC236}">
                <a16:creationId xmlns:a16="http://schemas.microsoft.com/office/drawing/2014/main" id="{F85B52F3-D44E-43A6-8CA3-05FD1A5CA2BD}"/>
              </a:ext>
            </a:extLst>
          </p:cNvPr>
          <p:cNvSpPr>
            <a:spLocks xmlns:a="http://schemas.openxmlformats.org/drawingml/2006/main" noGrp="1"/>
          </p:cNvSpPr>
          <p:nvPr/>
        </p:nvSpPr>
        <p:spPr>
          <a:xfrm xmlns:a="http://schemas.openxmlformats.org/drawingml/2006/main">
            <a:off x="5838825" y="4629150"/>
            <a:ext cx="47625" cy="1028700"/>
          </a:xfrm>
          <a:prstGeom xmlns:a="http://schemas.openxmlformats.org/drawingml/2006/main" prst="rect">
            <a:avLst/>
          </a:prstGeom>
          <a:solidFill xmlns:a="http://schemas.openxmlformats.org/drawingml/2006/main">
            <a:srgbClr val="7865B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8A4212F-C475-498F-AC7E-11864ABEE24D}"/>
              </a:ext>
            </a:extLst>
          </p:cNvPr>
          <p:cNvSpPr>
            <a:spLocks xmlns:a="http://schemas.openxmlformats.org/drawingml/2006/main" noGrp="1"/>
          </p:cNvSpPr>
          <p:nvPr/>
        </p:nvSpPr>
        <p:spPr>
          <a:xfrm xmlns:a="http://schemas.openxmlformats.org/drawingml/2006/main">
            <a:off x="6029325" y="4772025"/>
            <a:ext cx="504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Workbench store</a:t>
            </a:r>
          </a:p>
        </p:txBody>
      </p:sp>
      <p:sp>
        <p:nvSpPr>
          <p:cNvPr id="36" name="">
            <a:extLst xmlns:a="http://schemas.openxmlformats.org/drawingml/2006/main">
              <a:ext uri="{FF2B5EF4-FFF2-40B4-BE49-F238E27FC236}">
                <a16:creationId xmlns:a16="http://schemas.microsoft.com/office/drawing/2014/main" id="{C01504E9-1E75-40C3-972C-4D0796E7E93C}"/>
              </a:ext>
            </a:extLst>
          </p:cNvPr>
          <p:cNvSpPr>
            <a:spLocks xmlns:a="http://schemas.openxmlformats.org/drawingml/2006/main" noGrp="1"/>
          </p:cNvSpPr>
          <p:nvPr/>
        </p:nvSpPr>
        <p:spPr>
          <a:xfrm xmlns:a="http://schemas.openxmlformats.org/drawingml/2006/main">
            <a:off x="6029325" y="51244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Connections, snapshots, findings, reports, conversations, and run history.</a:t>
            </a:r>
          </a:p>
        </p:txBody>
      </p:sp>
    </p:spTree>
    <p:extLst>
      <p:ext uri="{BB962C8B-B14F-4D97-AF65-F5344CB8AC3E}">
        <p14:creationId xmlns:p14="http://schemas.microsoft.com/office/powerpoint/2010/main" val="1220685811"/>
      </p:ext>
    </p:extLst>
  </p:cSld>
</p:sld>
</file>

<file path=ppt/slides/slide4.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5F09290-2304-4FA2-B34A-A8B81EC58B5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CA937A-C908-4B1D-A542-6F3A1677EF9F}"/>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A browser workbench coordinates local services</a:t>
            </a:r>
          </a:p>
        </p:txBody>
      </p:sp>
      <p:sp>
        <p:nvSpPr>
          <p:cNvPr id="3" name="">
            <a:extLst xmlns:a="http://schemas.openxmlformats.org/drawingml/2006/main">
              <a:ext uri="{FF2B5EF4-FFF2-40B4-BE49-F238E27FC236}">
                <a16:creationId xmlns:a16="http://schemas.microsoft.com/office/drawing/2014/main" id="{9989E911-C21D-454C-ABE0-62B357FE06F6}"/>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The backend inspects the target and stores results separately from business data.</a:t>
            </a:r>
          </a:p>
        </p:txBody>
      </p:sp>
      <p:sp>
        <p:nvSpPr>
          <p:cNvPr id="4" name="">
            <a:extLst xmlns:a="http://schemas.openxmlformats.org/drawingml/2006/main">
              <a:ext uri="{FF2B5EF4-FFF2-40B4-BE49-F238E27FC236}">
                <a16:creationId xmlns:a16="http://schemas.microsoft.com/office/drawing/2014/main" id="{3AA7B512-F458-4FA6-8A96-4CD2A48F26DE}"/>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399E95-B616-40FA-9652-C9D393DD27FA}"/>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C3E16EDD-C2F0-4694-BC3D-9611E1407307}"/>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4C87DAFB-B699-41E4-A49B-EA49143CD316}"/>
              </a:ext>
            </a:extLst>
          </p:cNvPr>
          <p:cNvSpPr>
            <a:spLocks xmlns:a="http://schemas.openxmlformats.org/drawingml/2006/main" noGrp="1"/>
          </p:cNvSpPr>
          <p:nvPr/>
        </p:nvSpPr>
        <p:spPr>
          <a:xfrm xmlns:a="http://schemas.openxmlformats.org/drawingml/2006/main">
            <a:off x="685800" y="1924050"/>
            <a:ext cx="242887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B0B94975-13AB-44FB-A894-74B0F1814C7B}"/>
              </a:ext>
            </a:extLst>
          </p:cNvPr>
          <p:cNvSpPr>
            <a:spLocks xmlns:a="http://schemas.openxmlformats.org/drawingml/2006/main" noGrp="1"/>
          </p:cNvSpPr>
          <p:nvPr/>
        </p:nvSpPr>
        <p:spPr>
          <a:xfrm xmlns:a="http://schemas.openxmlformats.org/drawingml/2006/main">
            <a:off x="685800" y="1924050"/>
            <a:ext cx="47625" cy="13144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840106-49B9-4A9E-A546-53CEF4B178E2}"/>
              </a:ext>
            </a:extLst>
          </p:cNvPr>
          <p:cNvSpPr>
            <a:spLocks xmlns:a="http://schemas.openxmlformats.org/drawingml/2006/main" noGrp="1"/>
          </p:cNvSpPr>
          <p:nvPr/>
        </p:nvSpPr>
        <p:spPr>
          <a:xfrm xmlns:a="http://schemas.openxmlformats.org/drawingml/2006/main">
            <a:off x="876300" y="2066925"/>
            <a:ext cx="2047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React + TypeScript</a:t>
            </a:r>
          </a:p>
        </p:txBody>
      </p:sp>
      <p:sp>
        <p:nvSpPr>
          <p:cNvPr id="10" name="">
            <a:extLst xmlns:a="http://schemas.openxmlformats.org/drawingml/2006/main">
              <a:ext uri="{FF2B5EF4-FFF2-40B4-BE49-F238E27FC236}">
                <a16:creationId xmlns:a16="http://schemas.microsoft.com/office/drawing/2014/main" id="{724BBCA2-D304-4609-9928-23D972CA0825}"/>
              </a:ext>
            </a:extLst>
          </p:cNvPr>
          <p:cNvSpPr>
            <a:spLocks xmlns:a="http://schemas.openxmlformats.org/drawingml/2006/main" noGrp="1"/>
          </p:cNvSpPr>
          <p:nvPr/>
        </p:nvSpPr>
        <p:spPr>
          <a:xfrm xmlns:a="http://schemas.openxmlformats.org/drawingml/2006/main">
            <a:off x="876300" y="24193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Schema explorer, findings, reports, design tools, and chat.</a:t>
            </a:r>
          </a:p>
        </p:txBody>
      </p:sp>
      <p:sp>
        <p:nvSpPr>
          <p:cNvPr id="11" name="">
            <a:extLst xmlns:a="http://schemas.openxmlformats.org/drawingml/2006/main">
              <a:ext uri="{FF2B5EF4-FFF2-40B4-BE49-F238E27FC236}">
                <a16:creationId xmlns:a16="http://schemas.microsoft.com/office/drawing/2014/main" id="{E36DBFE3-4F94-491C-AF4B-1FE279A98A6F}"/>
              </a:ext>
            </a:extLst>
          </p:cNvPr>
          <p:cNvSpPr>
            <a:spLocks xmlns:a="http://schemas.openxmlformats.org/drawingml/2006/main" noGrp="1"/>
          </p:cNvSpPr>
          <p:nvPr/>
        </p:nvSpPr>
        <p:spPr>
          <a:xfrm xmlns:a="http://schemas.openxmlformats.org/drawingml/2006/main">
            <a:off x="3619500" y="1924050"/>
            <a:ext cx="242887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12" name="">
            <a:extLst xmlns:a="http://schemas.openxmlformats.org/drawingml/2006/main">
              <a:ext uri="{FF2B5EF4-FFF2-40B4-BE49-F238E27FC236}">
                <a16:creationId xmlns:a16="http://schemas.microsoft.com/office/drawing/2014/main" id="{9856466B-C1A5-4AB2-9F3B-B97C04E0887D}"/>
              </a:ext>
            </a:extLst>
          </p:cNvPr>
          <p:cNvSpPr>
            <a:spLocks xmlns:a="http://schemas.openxmlformats.org/drawingml/2006/main" noGrp="1"/>
          </p:cNvSpPr>
          <p:nvPr/>
        </p:nvSpPr>
        <p:spPr>
          <a:xfrm xmlns:a="http://schemas.openxmlformats.org/drawingml/2006/main">
            <a:off x="3619500" y="1924050"/>
            <a:ext cx="47625" cy="13144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D98BE0-F04E-4632-91D6-BFCB0F95A545}"/>
              </a:ext>
            </a:extLst>
          </p:cNvPr>
          <p:cNvSpPr>
            <a:spLocks xmlns:a="http://schemas.openxmlformats.org/drawingml/2006/main" noGrp="1"/>
          </p:cNvSpPr>
          <p:nvPr/>
        </p:nvSpPr>
        <p:spPr>
          <a:xfrm xmlns:a="http://schemas.openxmlformats.org/drawingml/2006/main">
            <a:off x="3810000" y="2066925"/>
            <a:ext cx="2047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FastAPI</a:t>
            </a:r>
          </a:p>
        </p:txBody>
      </p:sp>
      <p:sp>
        <p:nvSpPr>
          <p:cNvPr id="14" name="">
            <a:extLst xmlns:a="http://schemas.openxmlformats.org/drawingml/2006/main">
              <a:ext uri="{FF2B5EF4-FFF2-40B4-BE49-F238E27FC236}">
                <a16:creationId xmlns:a16="http://schemas.microsoft.com/office/drawing/2014/main" id="{10BE0C39-112C-4607-AC2A-9C3FE6AC6C83}"/>
              </a:ext>
            </a:extLst>
          </p:cNvPr>
          <p:cNvSpPr>
            <a:spLocks xmlns:a="http://schemas.openxmlformats.org/drawingml/2006/main" noGrp="1"/>
          </p:cNvSpPr>
          <p:nvPr/>
        </p:nvSpPr>
        <p:spPr>
          <a:xfrm xmlns:a="http://schemas.openxmlformats.org/drawingml/2006/main">
            <a:off x="3810000" y="24193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Versioned API, validation, background runs, and progress events.</a:t>
            </a:r>
          </a:p>
        </p:txBody>
      </p:sp>
      <p:sp>
        <p:nvSpPr>
          <p:cNvPr id="15" name="">
            <a:extLst xmlns:a="http://schemas.openxmlformats.org/drawingml/2006/main">
              <a:ext uri="{FF2B5EF4-FFF2-40B4-BE49-F238E27FC236}">
                <a16:creationId xmlns:a16="http://schemas.microsoft.com/office/drawing/2014/main" id="{1F5EA325-3CA1-4106-A1FF-0CB987085A66}"/>
              </a:ext>
            </a:extLst>
          </p:cNvPr>
          <p:cNvSpPr>
            <a:spLocks xmlns:a="http://schemas.openxmlformats.org/drawingml/2006/main" noGrp="1"/>
          </p:cNvSpPr>
          <p:nvPr/>
        </p:nvSpPr>
        <p:spPr>
          <a:xfrm xmlns:a="http://schemas.openxmlformats.org/drawingml/2006/main">
            <a:off x="6553200" y="1924050"/>
            <a:ext cx="242887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16" name="">
            <a:extLst xmlns:a="http://schemas.openxmlformats.org/drawingml/2006/main">
              <a:ext uri="{FF2B5EF4-FFF2-40B4-BE49-F238E27FC236}">
                <a16:creationId xmlns:a16="http://schemas.microsoft.com/office/drawing/2014/main" id="{74854E95-7E0B-4A92-9699-EB5A350776F0}"/>
              </a:ext>
            </a:extLst>
          </p:cNvPr>
          <p:cNvSpPr>
            <a:spLocks xmlns:a="http://schemas.openxmlformats.org/drawingml/2006/main" noGrp="1"/>
          </p:cNvSpPr>
          <p:nvPr/>
        </p:nvSpPr>
        <p:spPr>
          <a:xfrm xmlns:a="http://schemas.openxmlformats.org/drawingml/2006/main">
            <a:off x="6553200" y="1924050"/>
            <a:ext cx="47625" cy="1314450"/>
          </a:xfrm>
          <a:prstGeom xmlns:a="http://schemas.openxmlformats.org/drawingml/2006/main" prst="rect">
            <a:avLst/>
          </a:prstGeom>
          <a:solidFill xmlns:a="http://schemas.openxmlformats.org/drawingml/2006/main">
            <a:srgbClr val="7865B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7943507-8A51-4855-9B0E-FD9D60E58D88}"/>
              </a:ext>
            </a:extLst>
          </p:cNvPr>
          <p:cNvSpPr>
            <a:spLocks xmlns:a="http://schemas.openxmlformats.org/drawingml/2006/main" noGrp="1"/>
          </p:cNvSpPr>
          <p:nvPr/>
        </p:nvSpPr>
        <p:spPr>
          <a:xfrm xmlns:a="http://schemas.openxmlformats.org/drawingml/2006/main">
            <a:off x="6743700" y="2066925"/>
            <a:ext cx="2047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Connectors</a:t>
            </a:r>
          </a:p>
        </p:txBody>
      </p:sp>
      <p:sp>
        <p:nvSpPr>
          <p:cNvPr id="18" name="">
            <a:extLst xmlns:a="http://schemas.openxmlformats.org/drawingml/2006/main">
              <a:ext uri="{FF2B5EF4-FFF2-40B4-BE49-F238E27FC236}">
                <a16:creationId xmlns:a16="http://schemas.microsoft.com/office/drawing/2014/main" id="{3699A2C8-6AB3-4899-8EE5-E10C3B3E8023}"/>
              </a:ext>
            </a:extLst>
          </p:cNvPr>
          <p:cNvSpPr>
            <a:spLocks xmlns:a="http://schemas.openxmlformats.org/drawingml/2006/main" noGrp="1"/>
          </p:cNvSpPr>
          <p:nvPr/>
        </p:nvSpPr>
        <p:spPr>
          <a:xfrm xmlns:a="http://schemas.openxmlformats.org/drawingml/2006/main">
            <a:off x="6743700" y="24193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5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PostgreSQL and MariaDB metadata; MongoDB metadata and sampled shape.</a:t>
            </a:r>
          </a:p>
        </p:txBody>
      </p:sp>
      <p:sp>
        <p:nvSpPr>
          <p:cNvPr id="19" name="">
            <a:extLst xmlns:a="http://schemas.openxmlformats.org/drawingml/2006/main">
              <a:ext uri="{FF2B5EF4-FFF2-40B4-BE49-F238E27FC236}">
                <a16:creationId xmlns:a16="http://schemas.microsoft.com/office/drawing/2014/main" id="{850A03AB-07D5-4079-894F-52CA825655B0}"/>
              </a:ext>
            </a:extLst>
          </p:cNvPr>
          <p:cNvSpPr>
            <a:spLocks xmlns:a="http://schemas.openxmlformats.org/drawingml/2006/main" noGrp="1"/>
          </p:cNvSpPr>
          <p:nvPr/>
        </p:nvSpPr>
        <p:spPr>
          <a:xfrm xmlns:a="http://schemas.openxmlformats.org/drawingml/2006/main">
            <a:off x="9486900" y="1924050"/>
            <a:ext cx="18288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20" name="">
            <a:extLst xmlns:a="http://schemas.openxmlformats.org/drawingml/2006/main">
              <a:ext uri="{FF2B5EF4-FFF2-40B4-BE49-F238E27FC236}">
                <a16:creationId xmlns:a16="http://schemas.microsoft.com/office/drawing/2014/main" id="{068CDF64-E7F4-43C2-BEA7-580DDC7BCCFC}"/>
              </a:ext>
            </a:extLst>
          </p:cNvPr>
          <p:cNvSpPr>
            <a:spLocks xmlns:a="http://schemas.openxmlformats.org/drawingml/2006/main" noGrp="1"/>
          </p:cNvSpPr>
          <p:nvPr/>
        </p:nvSpPr>
        <p:spPr>
          <a:xfrm xmlns:a="http://schemas.openxmlformats.org/drawingml/2006/main">
            <a:off x="9486900" y="1924050"/>
            <a:ext cx="47625" cy="1314450"/>
          </a:xfrm>
          <a:prstGeom xmlns:a="http://schemas.openxmlformats.org/drawingml/2006/main" prst="rect">
            <a:avLst/>
          </a:prstGeom>
          <a:solidFill xmlns:a="http://schemas.openxmlformats.org/drawingml/2006/main">
            <a:srgbClr val="D18A2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E370764-1F52-4229-9FFE-6077AD3938D6}"/>
              </a:ext>
            </a:extLst>
          </p:cNvPr>
          <p:cNvSpPr>
            <a:spLocks xmlns:a="http://schemas.openxmlformats.org/drawingml/2006/main" noGrp="1"/>
          </p:cNvSpPr>
          <p:nvPr/>
        </p:nvSpPr>
        <p:spPr>
          <a:xfrm xmlns:a="http://schemas.openxmlformats.org/drawingml/2006/main">
            <a:off x="9677400" y="2066925"/>
            <a:ext cx="144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Target DB</a:t>
            </a:r>
          </a:p>
        </p:txBody>
      </p:sp>
      <p:sp>
        <p:nvSpPr>
          <p:cNvPr id="22" name="">
            <a:extLst xmlns:a="http://schemas.openxmlformats.org/drawingml/2006/main">
              <a:ext uri="{FF2B5EF4-FFF2-40B4-BE49-F238E27FC236}">
                <a16:creationId xmlns:a16="http://schemas.microsoft.com/office/drawing/2014/main" id="{3F4CDBAF-8DC9-4C36-AF33-96891C396688}"/>
              </a:ext>
            </a:extLst>
          </p:cNvPr>
          <p:cNvSpPr>
            <a:spLocks xmlns:a="http://schemas.openxmlformats.org/drawingml/2006/main" noGrp="1"/>
          </p:cNvSpPr>
          <p:nvPr/>
        </p:nvSpPr>
        <p:spPr>
          <a:xfrm xmlns:a="http://schemas.openxmlformats.org/drawingml/2006/main">
            <a:off x="9677400" y="2419350"/>
            <a:ext cx="1447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Authorized database under inspection.</a:t>
            </a:r>
          </a:p>
        </p:txBody>
      </p:sp>
      <p:sp>
        <p:nvSpPr>
          <p:cNvPr id="23" name="">
            <a:extLst xmlns:a="http://schemas.openxmlformats.org/drawingml/2006/main">
              <a:ext uri="{FF2B5EF4-FFF2-40B4-BE49-F238E27FC236}">
                <a16:creationId xmlns:a16="http://schemas.microsoft.com/office/drawing/2014/main" id="{F32B661B-D536-485B-9E54-5123815E807F}"/>
              </a:ext>
            </a:extLst>
          </p:cNvPr>
          <p:cNvSpPr>
            <a:spLocks xmlns:a="http://schemas.openxmlformats.org/drawingml/2006/main" noGrp="1"/>
          </p:cNvSpPr>
          <p:nvPr/>
        </p:nvSpPr>
        <p:spPr>
          <a:xfrm xmlns:a="http://schemas.openxmlformats.org/drawingml/2006/main">
            <a:off x="3143250" y="2562225"/>
            <a:ext cx="419100" cy="190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3CEE64C-304F-496F-BB6B-0BBB8A12F2A9}"/>
              </a:ext>
            </a:extLst>
          </p:cNvPr>
          <p:cNvSpPr>
            <a:spLocks xmlns:a="http://schemas.openxmlformats.org/drawingml/2006/main" noGrp="1"/>
          </p:cNvSpPr>
          <p:nvPr/>
        </p:nvSpPr>
        <p:spPr>
          <a:xfrm xmlns:a="http://schemas.openxmlformats.org/drawingml/2006/main">
            <a:off x="6076950" y="2562225"/>
            <a:ext cx="419100" cy="190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CD26B05-C568-4C28-AC18-9C2A8E82FDC7}"/>
              </a:ext>
            </a:extLst>
          </p:cNvPr>
          <p:cNvSpPr>
            <a:spLocks xmlns:a="http://schemas.openxmlformats.org/drawingml/2006/main" noGrp="1"/>
          </p:cNvSpPr>
          <p:nvPr/>
        </p:nvSpPr>
        <p:spPr>
          <a:xfrm xmlns:a="http://schemas.openxmlformats.org/drawingml/2006/main">
            <a:off x="9010650" y="2562225"/>
            <a:ext cx="419100" cy="190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BF105E4-D34F-4E24-BD76-32905478EAA5}"/>
              </a:ext>
            </a:extLst>
          </p:cNvPr>
          <p:cNvSpPr>
            <a:spLocks xmlns:a="http://schemas.openxmlformats.org/drawingml/2006/main" noGrp="1"/>
          </p:cNvSpPr>
          <p:nvPr/>
        </p:nvSpPr>
        <p:spPr>
          <a:xfrm xmlns:a="http://schemas.openxmlformats.org/drawingml/2006/main">
            <a:off x="2247900" y="3838575"/>
            <a:ext cx="3476625"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D8E4E7"/>
            </a:solidFill>
          </a:ln>
        </p:spPr>
      </p:sp>
      <p:sp>
        <p:nvSpPr>
          <p:cNvPr id="27" name="">
            <a:extLst xmlns:a="http://schemas.openxmlformats.org/drawingml/2006/main">
              <a:ext uri="{FF2B5EF4-FFF2-40B4-BE49-F238E27FC236}">
                <a16:creationId xmlns:a16="http://schemas.microsoft.com/office/drawing/2014/main" id="{8D4C609B-C423-483A-9BAD-8A8E50FBC268}"/>
              </a:ext>
            </a:extLst>
          </p:cNvPr>
          <p:cNvSpPr>
            <a:spLocks xmlns:a="http://schemas.openxmlformats.org/drawingml/2006/main" noGrp="1"/>
          </p:cNvSpPr>
          <p:nvPr/>
        </p:nvSpPr>
        <p:spPr>
          <a:xfrm xmlns:a="http://schemas.openxmlformats.org/drawingml/2006/main">
            <a:off x="2247900" y="3838575"/>
            <a:ext cx="47625" cy="12192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6B4F01E-ED72-43D1-BD18-3DDAB8036063}"/>
              </a:ext>
            </a:extLst>
          </p:cNvPr>
          <p:cNvSpPr>
            <a:spLocks xmlns:a="http://schemas.openxmlformats.org/drawingml/2006/main" noGrp="1"/>
          </p:cNvSpPr>
          <p:nvPr/>
        </p:nvSpPr>
        <p:spPr>
          <a:xfrm xmlns:a="http://schemas.openxmlformats.org/drawingml/2006/main">
            <a:off x="2438400" y="39814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SQLAlchemy + Alembic store</a:t>
            </a:r>
          </a:p>
        </p:txBody>
      </p:sp>
      <p:sp>
        <p:nvSpPr>
          <p:cNvPr id="29" name="">
            <a:extLst xmlns:a="http://schemas.openxmlformats.org/drawingml/2006/main">
              <a:ext uri="{FF2B5EF4-FFF2-40B4-BE49-F238E27FC236}">
                <a16:creationId xmlns:a16="http://schemas.microsoft.com/office/drawing/2014/main" id="{AD443530-D621-4C3A-84DF-A37B192B2336}"/>
              </a:ext>
            </a:extLst>
          </p:cNvPr>
          <p:cNvSpPr>
            <a:spLocks xmlns:a="http://schemas.openxmlformats.org/drawingml/2006/main" noGrp="1"/>
          </p:cNvSpPr>
          <p:nvPr/>
        </p:nvSpPr>
        <p:spPr>
          <a:xfrm xmlns:a="http://schemas.openxmlformats.org/drawingml/2006/main">
            <a:off x="2438400" y="43338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Saved connections, snapshots, findings, reports, and runs.</a:t>
            </a:r>
          </a:p>
        </p:txBody>
      </p:sp>
      <p:sp>
        <p:nvSpPr>
          <p:cNvPr id="30" name="">
            <a:extLst xmlns:a="http://schemas.openxmlformats.org/drawingml/2006/main">
              <a:ext uri="{FF2B5EF4-FFF2-40B4-BE49-F238E27FC236}">
                <a16:creationId xmlns:a16="http://schemas.microsoft.com/office/drawing/2014/main" id="{F2AF41BE-65BC-4FDE-A378-EBCF745F2E85}"/>
              </a:ext>
            </a:extLst>
          </p:cNvPr>
          <p:cNvSpPr>
            <a:spLocks xmlns:a="http://schemas.openxmlformats.org/drawingml/2006/main" noGrp="1"/>
          </p:cNvSpPr>
          <p:nvPr/>
        </p:nvSpPr>
        <p:spPr>
          <a:xfrm xmlns:a="http://schemas.openxmlformats.org/drawingml/2006/main">
            <a:off x="6477000" y="3838575"/>
            <a:ext cx="3476625"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D8E4E7"/>
            </a:solidFill>
          </a:ln>
        </p:spPr>
      </p:sp>
      <p:sp>
        <p:nvSpPr>
          <p:cNvPr id="31" name="">
            <a:extLst xmlns:a="http://schemas.openxmlformats.org/drawingml/2006/main">
              <a:ext uri="{FF2B5EF4-FFF2-40B4-BE49-F238E27FC236}">
                <a16:creationId xmlns:a16="http://schemas.microsoft.com/office/drawing/2014/main" id="{5A344FC3-74F4-47B0-9D26-D5BB77C0558D}"/>
              </a:ext>
            </a:extLst>
          </p:cNvPr>
          <p:cNvSpPr>
            <a:spLocks xmlns:a="http://schemas.openxmlformats.org/drawingml/2006/main" noGrp="1"/>
          </p:cNvSpPr>
          <p:nvPr/>
        </p:nvSpPr>
        <p:spPr>
          <a:xfrm xmlns:a="http://schemas.openxmlformats.org/drawingml/2006/main">
            <a:off x="6477000" y="3838575"/>
            <a:ext cx="47625" cy="1219200"/>
          </a:xfrm>
          <a:prstGeom xmlns:a="http://schemas.openxmlformats.org/drawingml/2006/main" prst="rect">
            <a:avLst/>
          </a:prstGeom>
          <a:solidFill xmlns:a="http://schemas.openxmlformats.org/drawingml/2006/main">
            <a:srgbClr val="7865B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906EA2E-D20F-4C39-A3E9-13BC32DEDCBB}"/>
              </a:ext>
            </a:extLst>
          </p:cNvPr>
          <p:cNvSpPr>
            <a:spLocks xmlns:a="http://schemas.openxmlformats.org/drawingml/2006/main" noGrp="1"/>
          </p:cNvSpPr>
          <p:nvPr/>
        </p:nvSpPr>
        <p:spPr>
          <a:xfrm xmlns:a="http://schemas.openxmlformats.org/drawingml/2006/main">
            <a:off x="6667500" y="39814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Optional bounded AI</a:t>
            </a:r>
          </a:p>
        </p:txBody>
      </p:sp>
      <p:sp>
        <p:nvSpPr>
          <p:cNvPr id="33" name="">
            <a:extLst xmlns:a="http://schemas.openxmlformats.org/drawingml/2006/main">
              <a:ext uri="{FF2B5EF4-FFF2-40B4-BE49-F238E27FC236}">
                <a16:creationId xmlns:a16="http://schemas.microsoft.com/office/drawing/2014/main" id="{41C27917-1B2D-4C7D-A036-4EFCF7330237}"/>
              </a:ext>
            </a:extLst>
          </p:cNvPr>
          <p:cNvSpPr>
            <a:spLocks xmlns:a="http://schemas.openxmlformats.org/drawingml/2006/main" noGrp="1"/>
          </p:cNvSpPr>
          <p:nvPr/>
        </p:nvSpPr>
        <p:spPr>
          <a:xfrm xmlns:a="http://schemas.openxmlformats.org/drawingml/2006/main">
            <a:off x="6667500" y="43338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Explicit opt-in, limited snapshot context, read-oriented tools, checked references.</a:t>
            </a:r>
          </a:p>
        </p:txBody>
      </p:sp>
      <p:sp>
        <p:nvSpPr>
          <p:cNvPr id="34" name="">
            <a:extLst xmlns:a="http://schemas.openxmlformats.org/drawingml/2006/main">
              <a:ext uri="{FF2B5EF4-FFF2-40B4-BE49-F238E27FC236}">
                <a16:creationId xmlns:a16="http://schemas.microsoft.com/office/drawing/2014/main" id="{7C20FF74-BF04-4AB4-80BB-879C733B1154}"/>
              </a:ext>
            </a:extLst>
          </p:cNvPr>
          <p:cNvSpPr>
            <a:spLocks xmlns:a="http://schemas.openxmlformats.org/drawingml/2006/main" noGrp="1"/>
          </p:cNvSpPr>
          <p:nvPr/>
        </p:nvSpPr>
        <p:spPr>
          <a:xfrm xmlns:a="http://schemas.openxmlformats.org/drawingml/2006/main">
            <a:off x="2266950" y="5334000"/>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Default path stays local. AI mode is off until a key and schema-sharing opt-in are configured.</a:t>
            </a:r>
          </a:p>
        </p:txBody>
      </p:sp>
    </p:spTree>
    <p:extLst>
      <p:ext uri="{BB962C8B-B14F-4D97-AF65-F5344CB8AC3E}">
        <p14:creationId xmlns:p14="http://schemas.microsoft.com/office/powerpoint/2010/main" val="1594097834"/>
      </p:ext>
    </p:extLst>
  </p:cSld>
</p:sld>
</file>

<file path=ppt/slides/slide5.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278DCDD-EC2E-4E53-B4B6-87A9537FA37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60C8E6-BF30-40B8-BDA6-FD22DCBA1F93}"/>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The shop demo makes findings concrete</a:t>
            </a:r>
          </a:p>
        </p:txBody>
      </p:sp>
      <p:sp>
        <p:nvSpPr>
          <p:cNvPr id="3" name="">
            <a:extLst xmlns:a="http://schemas.openxmlformats.org/drawingml/2006/main">
              <a:ext uri="{FF2B5EF4-FFF2-40B4-BE49-F238E27FC236}">
                <a16:creationId xmlns:a16="http://schemas.microsoft.com/office/drawing/2014/main" id="{FDDA8AE0-CB63-48E2-B8C8-D8507485B942}"/>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Four tables show ordinary relationships and one deliberate review question.</a:t>
            </a:r>
          </a:p>
        </p:txBody>
      </p:sp>
      <p:sp>
        <p:nvSpPr>
          <p:cNvPr id="4" name="">
            <a:extLst xmlns:a="http://schemas.openxmlformats.org/drawingml/2006/main">
              <a:ext uri="{FF2B5EF4-FFF2-40B4-BE49-F238E27FC236}">
                <a16:creationId xmlns:a16="http://schemas.microsoft.com/office/drawing/2014/main" id="{9DE46BD9-3C2D-43D9-BD4B-BD3222EBBDCC}"/>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15AA89-DECF-49E1-85E4-84D930D3F488}"/>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4E3FF126-6D72-4F41-AF1C-26985583F12F}"/>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60BC7D4C-B8B1-4604-A61E-7722A8BA4920}"/>
              </a:ext>
            </a:extLst>
          </p:cNvPr>
          <p:cNvSpPr>
            <a:spLocks xmlns:a="http://schemas.openxmlformats.org/drawingml/2006/main" noGrp="1"/>
          </p:cNvSpPr>
          <p:nvPr/>
        </p:nvSpPr>
        <p:spPr>
          <a:xfrm xmlns:a="http://schemas.openxmlformats.org/drawingml/2006/main">
            <a:off x="723900" y="1943100"/>
            <a:ext cx="226695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BFE1D32D-8CA6-44BD-80B5-325818178ADE}"/>
              </a:ext>
            </a:extLst>
          </p:cNvPr>
          <p:cNvSpPr>
            <a:spLocks xmlns:a="http://schemas.openxmlformats.org/drawingml/2006/main" noGrp="1"/>
          </p:cNvSpPr>
          <p:nvPr/>
        </p:nvSpPr>
        <p:spPr>
          <a:xfrm xmlns:a="http://schemas.openxmlformats.org/drawingml/2006/main">
            <a:off x="723900" y="1943100"/>
            <a:ext cx="2266950" cy="333375"/>
          </a:xfrm>
          <a:prstGeom xmlns:a="http://schemas.openxmlformats.org/drawingml/2006/main" prst="roundRect">
            <a:avLst>
              <a:gd name="adj" fmla="val 34286"/>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7C2C11-1FA9-44A9-BC6D-A4C565DAA3C4}"/>
              </a:ext>
            </a:extLst>
          </p:cNvPr>
          <p:cNvSpPr>
            <a:spLocks xmlns:a="http://schemas.openxmlformats.org/drawingml/2006/main" noGrp="1"/>
          </p:cNvSpPr>
          <p:nvPr/>
        </p:nvSpPr>
        <p:spPr>
          <a:xfrm xmlns:a="http://schemas.openxmlformats.org/drawingml/2006/main">
            <a:off x="857250" y="19716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customers</a:t>
            </a:r>
          </a:p>
        </p:txBody>
      </p:sp>
      <p:sp>
        <p:nvSpPr>
          <p:cNvPr id="10" name="">
            <a:extLst xmlns:a="http://schemas.openxmlformats.org/drawingml/2006/main">
              <a:ext uri="{FF2B5EF4-FFF2-40B4-BE49-F238E27FC236}">
                <a16:creationId xmlns:a16="http://schemas.microsoft.com/office/drawing/2014/main" id="{9C1C3A46-EEAE-4B72-B8B2-504452613C39}"/>
              </a:ext>
            </a:extLst>
          </p:cNvPr>
          <p:cNvSpPr>
            <a:spLocks xmlns:a="http://schemas.openxmlformats.org/drawingml/2006/main" noGrp="1"/>
          </p:cNvSpPr>
          <p:nvPr/>
        </p:nvSpPr>
        <p:spPr>
          <a:xfrm xmlns:a="http://schemas.openxmlformats.org/drawingml/2006/main">
            <a:off x="857250" y="2400300"/>
            <a:ext cx="200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id, email</a:t>
            </a:r>
          </a:p>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created_at</a:t>
            </a:r>
          </a:p>
        </p:txBody>
      </p:sp>
      <p:sp>
        <p:nvSpPr>
          <p:cNvPr id="11" name="">
            <a:extLst xmlns:a="http://schemas.openxmlformats.org/drawingml/2006/main">
              <a:ext uri="{FF2B5EF4-FFF2-40B4-BE49-F238E27FC236}">
                <a16:creationId xmlns:a16="http://schemas.microsoft.com/office/drawing/2014/main" id="{55F7D795-F526-419E-94CC-0081C5C7D430}"/>
              </a:ext>
            </a:extLst>
          </p:cNvPr>
          <p:cNvSpPr>
            <a:spLocks xmlns:a="http://schemas.openxmlformats.org/drawingml/2006/main" noGrp="1"/>
          </p:cNvSpPr>
          <p:nvPr/>
        </p:nvSpPr>
        <p:spPr>
          <a:xfrm xmlns:a="http://schemas.openxmlformats.org/drawingml/2006/main">
            <a:off x="3695700" y="1943100"/>
            <a:ext cx="226695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12" name="">
            <a:extLst xmlns:a="http://schemas.openxmlformats.org/drawingml/2006/main">
              <a:ext uri="{FF2B5EF4-FFF2-40B4-BE49-F238E27FC236}">
                <a16:creationId xmlns:a16="http://schemas.microsoft.com/office/drawing/2014/main" id="{08ED9A01-3ED9-41D3-AD46-496DB921A1E6}"/>
              </a:ext>
            </a:extLst>
          </p:cNvPr>
          <p:cNvSpPr>
            <a:spLocks xmlns:a="http://schemas.openxmlformats.org/drawingml/2006/main" noGrp="1"/>
          </p:cNvSpPr>
          <p:nvPr/>
        </p:nvSpPr>
        <p:spPr>
          <a:xfrm xmlns:a="http://schemas.openxmlformats.org/drawingml/2006/main">
            <a:off x="3695700" y="1943100"/>
            <a:ext cx="2266950" cy="333375"/>
          </a:xfrm>
          <a:prstGeom xmlns:a="http://schemas.openxmlformats.org/drawingml/2006/main" prst="roundRect">
            <a:avLst>
              <a:gd name="adj" fmla="val 34286"/>
            </a:avLst>
          </a:prstGeom>
          <a:solidFill xmlns:a="http://schemas.openxmlformats.org/drawingml/2006/main">
            <a:srgbClr val="00A9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E4C24E-87A1-4A6D-8E81-5183089F0C7B}"/>
              </a:ext>
            </a:extLst>
          </p:cNvPr>
          <p:cNvSpPr>
            <a:spLocks xmlns:a="http://schemas.openxmlformats.org/drawingml/2006/main" noGrp="1"/>
          </p:cNvSpPr>
          <p:nvPr/>
        </p:nvSpPr>
        <p:spPr>
          <a:xfrm xmlns:a="http://schemas.openxmlformats.org/drawingml/2006/main">
            <a:off x="3829050" y="19716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orders</a:t>
            </a:r>
          </a:p>
        </p:txBody>
      </p:sp>
      <p:sp>
        <p:nvSpPr>
          <p:cNvPr id="14" name="">
            <a:extLst xmlns:a="http://schemas.openxmlformats.org/drawingml/2006/main">
              <a:ext uri="{FF2B5EF4-FFF2-40B4-BE49-F238E27FC236}">
                <a16:creationId xmlns:a16="http://schemas.microsoft.com/office/drawing/2014/main" id="{F01BA2EE-8B76-44C3-AFA2-D8164F57FFC2}"/>
              </a:ext>
            </a:extLst>
          </p:cNvPr>
          <p:cNvSpPr>
            <a:spLocks xmlns:a="http://schemas.openxmlformats.org/drawingml/2006/main" noGrp="1"/>
          </p:cNvSpPr>
          <p:nvPr/>
        </p:nvSpPr>
        <p:spPr>
          <a:xfrm xmlns:a="http://schemas.openxmlformats.org/drawingml/2006/main">
            <a:off x="3829050" y="2400300"/>
            <a:ext cx="200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id, customer_id</a:t>
            </a:r>
          </a:p>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placed_at</a:t>
            </a:r>
          </a:p>
        </p:txBody>
      </p:sp>
      <p:sp>
        <p:nvSpPr>
          <p:cNvPr id="15" name="">
            <a:extLst xmlns:a="http://schemas.openxmlformats.org/drawingml/2006/main">
              <a:ext uri="{FF2B5EF4-FFF2-40B4-BE49-F238E27FC236}">
                <a16:creationId xmlns:a16="http://schemas.microsoft.com/office/drawing/2014/main" id="{C0487677-AC0E-4CE7-A62C-1A170F77C547}"/>
              </a:ext>
            </a:extLst>
          </p:cNvPr>
          <p:cNvSpPr>
            <a:spLocks xmlns:a="http://schemas.openxmlformats.org/drawingml/2006/main" noGrp="1"/>
          </p:cNvSpPr>
          <p:nvPr/>
        </p:nvSpPr>
        <p:spPr>
          <a:xfrm xmlns:a="http://schemas.openxmlformats.org/drawingml/2006/main">
            <a:off x="6667500" y="1943100"/>
            <a:ext cx="241935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16" name="">
            <a:extLst xmlns:a="http://schemas.openxmlformats.org/drawingml/2006/main">
              <a:ext uri="{FF2B5EF4-FFF2-40B4-BE49-F238E27FC236}">
                <a16:creationId xmlns:a16="http://schemas.microsoft.com/office/drawing/2014/main" id="{DD916061-B94F-4A95-8CF2-2414A24354C8}"/>
              </a:ext>
            </a:extLst>
          </p:cNvPr>
          <p:cNvSpPr>
            <a:spLocks xmlns:a="http://schemas.openxmlformats.org/drawingml/2006/main" noGrp="1"/>
          </p:cNvSpPr>
          <p:nvPr/>
        </p:nvSpPr>
        <p:spPr>
          <a:xfrm xmlns:a="http://schemas.openxmlformats.org/drawingml/2006/main">
            <a:off x="6667500" y="1943100"/>
            <a:ext cx="2419350" cy="333375"/>
          </a:xfrm>
          <a:prstGeom xmlns:a="http://schemas.openxmlformats.org/drawingml/2006/main" prst="roundRect">
            <a:avLst>
              <a:gd name="adj" fmla="val 34286"/>
            </a:avLst>
          </a:prstGeom>
          <a:solidFill xmlns:a="http://schemas.openxmlformats.org/drawingml/2006/main">
            <a:srgbClr val="00A9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3B74FA-C456-442F-9EC0-0A2E0D7219F8}"/>
              </a:ext>
            </a:extLst>
          </p:cNvPr>
          <p:cNvSpPr>
            <a:spLocks xmlns:a="http://schemas.openxmlformats.org/drawingml/2006/main" noGrp="1"/>
          </p:cNvSpPr>
          <p:nvPr/>
        </p:nvSpPr>
        <p:spPr>
          <a:xfrm xmlns:a="http://schemas.openxmlformats.org/drawingml/2006/main">
            <a:off x="6800850" y="1971675"/>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order_items</a:t>
            </a:r>
          </a:p>
        </p:txBody>
      </p:sp>
      <p:sp>
        <p:nvSpPr>
          <p:cNvPr id="18" name="">
            <a:extLst xmlns:a="http://schemas.openxmlformats.org/drawingml/2006/main">
              <a:ext uri="{FF2B5EF4-FFF2-40B4-BE49-F238E27FC236}">
                <a16:creationId xmlns:a16="http://schemas.microsoft.com/office/drawing/2014/main" id="{81758F3F-6A4B-4775-9322-2749ECC77A17}"/>
              </a:ext>
            </a:extLst>
          </p:cNvPr>
          <p:cNvSpPr>
            <a:spLocks xmlns:a="http://schemas.openxmlformats.org/drawingml/2006/main" noGrp="1"/>
          </p:cNvSpPr>
          <p:nvPr/>
        </p:nvSpPr>
        <p:spPr>
          <a:xfrm xmlns:a="http://schemas.openxmlformats.org/drawingml/2006/main">
            <a:off x="6800850" y="2400300"/>
            <a:ext cx="2152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order_id + product_id</a:t>
            </a:r>
          </a:p>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product_name, sale_price</a:t>
            </a:r>
          </a:p>
        </p:txBody>
      </p:sp>
      <p:sp>
        <p:nvSpPr>
          <p:cNvPr id="19" name="">
            <a:extLst xmlns:a="http://schemas.openxmlformats.org/drawingml/2006/main">
              <a:ext uri="{FF2B5EF4-FFF2-40B4-BE49-F238E27FC236}">
                <a16:creationId xmlns:a16="http://schemas.microsoft.com/office/drawing/2014/main" id="{0E71971D-93B7-4689-BB91-EEC0CCFBEC6E}"/>
              </a:ext>
            </a:extLst>
          </p:cNvPr>
          <p:cNvSpPr>
            <a:spLocks xmlns:a="http://schemas.openxmlformats.org/drawingml/2006/main" noGrp="1"/>
          </p:cNvSpPr>
          <p:nvPr/>
        </p:nvSpPr>
        <p:spPr>
          <a:xfrm xmlns:a="http://schemas.openxmlformats.org/drawingml/2006/main">
            <a:off x="9544050" y="1943100"/>
            <a:ext cx="19050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E4E7"/>
            </a:solidFill>
          </a:ln>
        </p:spPr>
      </p:sp>
      <p:sp>
        <p:nvSpPr>
          <p:cNvPr id="20" name="">
            <a:extLst xmlns:a="http://schemas.openxmlformats.org/drawingml/2006/main">
              <a:ext uri="{FF2B5EF4-FFF2-40B4-BE49-F238E27FC236}">
                <a16:creationId xmlns:a16="http://schemas.microsoft.com/office/drawing/2014/main" id="{B6DBC38A-9298-4E19-9D72-AA20BED47CE2}"/>
              </a:ext>
            </a:extLst>
          </p:cNvPr>
          <p:cNvSpPr>
            <a:spLocks xmlns:a="http://schemas.openxmlformats.org/drawingml/2006/main" noGrp="1"/>
          </p:cNvSpPr>
          <p:nvPr/>
        </p:nvSpPr>
        <p:spPr>
          <a:xfrm xmlns:a="http://schemas.openxmlformats.org/drawingml/2006/main">
            <a:off x="9544050" y="1943100"/>
            <a:ext cx="1905000" cy="333375"/>
          </a:xfrm>
          <a:prstGeom xmlns:a="http://schemas.openxmlformats.org/drawingml/2006/main" prst="roundRect">
            <a:avLst>
              <a:gd name="adj" fmla="val 34286"/>
            </a:avLst>
          </a:prstGeom>
          <a:solidFill xmlns:a="http://schemas.openxmlformats.org/drawingml/2006/main">
            <a:srgbClr val="00A9B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B26486C-3C4E-4B05-9571-181D528EEA33}"/>
              </a:ext>
            </a:extLst>
          </p:cNvPr>
          <p:cNvSpPr>
            <a:spLocks xmlns:a="http://schemas.openxmlformats.org/drawingml/2006/main" noGrp="1"/>
          </p:cNvSpPr>
          <p:nvPr/>
        </p:nvSpPr>
        <p:spPr>
          <a:xfrm xmlns:a="http://schemas.openxmlformats.org/drawingml/2006/main">
            <a:off x="9677400" y="1971675"/>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event_log</a:t>
            </a:r>
          </a:p>
        </p:txBody>
      </p:sp>
      <p:sp>
        <p:nvSpPr>
          <p:cNvPr id="22" name="">
            <a:extLst xmlns:a="http://schemas.openxmlformats.org/drawingml/2006/main">
              <a:ext uri="{FF2B5EF4-FFF2-40B4-BE49-F238E27FC236}">
                <a16:creationId xmlns:a16="http://schemas.microsoft.com/office/drawing/2014/main" id="{82B1915B-DBD8-4273-87AD-A4CA1E79AE15}"/>
              </a:ext>
            </a:extLst>
          </p:cNvPr>
          <p:cNvSpPr>
            <a:spLocks xmlns:a="http://schemas.openxmlformats.org/drawingml/2006/main" noGrp="1"/>
          </p:cNvSpPr>
          <p:nvPr/>
        </p:nvSpPr>
        <p:spPr>
          <a:xfrm xmlns:a="http://schemas.openxmlformats.org/drawingml/2006/main">
            <a:off x="9677400" y="2400300"/>
            <a:ext cx="1638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event_type</a:t>
            </a:r>
          </a:p>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created_at</a:t>
            </a:r>
          </a:p>
        </p:txBody>
      </p:sp>
      <p:sp>
        <p:nvSpPr>
          <p:cNvPr id="23" name="">
            <a:extLst xmlns:a="http://schemas.openxmlformats.org/drawingml/2006/main">
              <a:ext uri="{FF2B5EF4-FFF2-40B4-BE49-F238E27FC236}">
                <a16:creationId xmlns:a16="http://schemas.microsoft.com/office/drawing/2014/main" id="{A4837C43-0265-43B6-BD01-A97AB340CCBE}"/>
              </a:ext>
            </a:extLst>
          </p:cNvPr>
          <p:cNvSpPr>
            <a:spLocks xmlns:a="http://schemas.openxmlformats.org/drawingml/2006/main" noGrp="1"/>
          </p:cNvSpPr>
          <p:nvPr/>
        </p:nvSpPr>
        <p:spPr>
          <a:xfrm xmlns:a="http://schemas.openxmlformats.org/drawingml/2006/main">
            <a:off x="3000375" y="2581275"/>
            <a:ext cx="628650" cy="190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7CF46F3-C934-41FC-B8DE-4B77BF65485E}"/>
              </a:ext>
            </a:extLst>
          </p:cNvPr>
          <p:cNvSpPr>
            <a:spLocks xmlns:a="http://schemas.openxmlformats.org/drawingml/2006/main" noGrp="1"/>
          </p:cNvSpPr>
          <p:nvPr/>
        </p:nvSpPr>
        <p:spPr>
          <a:xfrm xmlns:a="http://schemas.openxmlformats.org/drawingml/2006/main">
            <a:off x="5972175" y="2581275"/>
            <a:ext cx="628650" cy="190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D8C6484-D5B5-4796-BDA4-61EA043C925A}"/>
              </a:ext>
            </a:extLst>
          </p:cNvPr>
          <p:cNvSpPr>
            <a:spLocks xmlns:a="http://schemas.openxmlformats.org/drawingml/2006/main" noGrp="1"/>
          </p:cNvSpPr>
          <p:nvPr/>
        </p:nvSpPr>
        <p:spPr>
          <a:xfrm xmlns:a="http://schemas.openxmlformats.org/drawingml/2006/main">
            <a:off x="3019425" y="23241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defPPr>
              <a:defRPr sz="750" b="1">
                <a:solidFill>
                  <a:srgbClr val="00A9B7"/>
                </a:solidFill>
                <a:latin typeface="Arial"/>
                <a:ea typeface="Arial"/>
                <a:cs typeface="Arial"/>
              </a:defRPr>
            </a:defPPr>
          </a:lstStyle>
          <a:p xmlns:a="http://schemas.openxmlformats.org/drawingml/2006/main">
            <a:pPr>
              <a:defRPr sz="750" b="1">
                <a:solidFill>
                  <a:srgbClr val="00A9B7"/>
                </a:solidFill>
                <a:latin typeface="Arial"/>
                <a:ea typeface="Arial"/>
                <a:cs typeface="Arial"/>
              </a:defRPr>
            </a:pPr>
            <a:r>
              <a:rPr sz="750" b="1">
                <a:solidFill>
                  <a:srgbClr val="00A9B7"/>
                </a:solidFill>
                <a:latin typeface="Arial"/>
                <a:ea typeface="Arial"/>
                <a:cs typeface="Arial"/>
              </a:rPr>
              <a:t>1 to many</a:t>
            </a:r>
          </a:p>
        </p:txBody>
      </p:sp>
      <p:sp>
        <p:nvSpPr>
          <p:cNvPr id="26" name="">
            <a:extLst xmlns:a="http://schemas.openxmlformats.org/drawingml/2006/main">
              <a:ext uri="{FF2B5EF4-FFF2-40B4-BE49-F238E27FC236}">
                <a16:creationId xmlns:a16="http://schemas.microsoft.com/office/drawing/2014/main" id="{72F6CC06-BAB7-445C-9384-772BF4760795}"/>
              </a:ext>
            </a:extLst>
          </p:cNvPr>
          <p:cNvSpPr>
            <a:spLocks xmlns:a="http://schemas.openxmlformats.org/drawingml/2006/main" noGrp="1"/>
          </p:cNvSpPr>
          <p:nvPr/>
        </p:nvSpPr>
        <p:spPr>
          <a:xfrm xmlns:a="http://schemas.openxmlformats.org/drawingml/2006/main">
            <a:off x="5991225" y="23241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defPPr>
              <a:defRPr sz="750" b="1">
                <a:solidFill>
                  <a:srgbClr val="00A9B7"/>
                </a:solidFill>
                <a:latin typeface="Arial"/>
                <a:ea typeface="Arial"/>
                <a:cs typeface="Arial"/>
              </a:defRPr>
            </a:defPPr>
          </a:lstStyle>
          <a:p xmlns:a="http://schemas.openxmlformats.org/drawingml/2006/main">
            <a:pPr>
              <a:defRPr sz="750" b="1">
                <a:solidFill>
                  <a:srgbClr val="00A9B7"/>
                </a:solidFill>
                <a:latin typeface="Arial"/>
                <a:ea typeface="Arial"/>
                <a:cs typeface="Arial"/>
              </a:defRPr>
            </a:pPr>
            <a:r>
              <a:rPr sz="750" b="1">
                <a:solidFill>
                  <a:srgbClr val="00A9B7"/>
                </a:solidFill>
                <a:latin typeface="Arial"/>
                <a:ea typeface="Arial"/>
                <a:cs typeface="Arial"/>
              </a:rPr>
              <a:t>1 to many</a:t>
            </a:r>
          </a:p>
        </p:txBody>
      </p:sp>
      <p:sp>
        <p:nvSpPr>
          <p:cNvPr id="27" name="">
            <a:extLst xmlns:a="http://schemas.openxmlformats.org/drawingml/2006/main">
              <a:ext uri="{FF2B5EF4-FFF2-40B4-BE49-F238E27FC236}">
                <a16:creationId xmlns:a16="http://schemas.microsoft.com/office/drawing/2014/main" id="{53BF0931-22AC-4E93-A9A0-05F16C4CFF38}"/>
              </a:ext>
            </a:extLst>
          </p:cNvPr>
          <p:cNvSpPr>
            <a:spLocks xmlns:a="http://schemas.openxmlformats.org/drawingml/2006/main" noGrp="1"/>
          </p:cNvSpPr>
          <p:nvPr/>
        </p:nvSpPr>
        <p:spPr>
          <a:xfrm xmlns:a="http://schemas.openxmlformats.org/drawingml/2006/main">
            <a:off x="10325100" y="3381375"/>
            <a:ext cx="19050" cy="476250"/>
          </a:xfrm>
          <a:prstGeom xmlns:a="http://schemas.openxmlformats.org/drawingml/2006/main" prst="rect">
            <a:avLst/>
          </a:prstGeom>
          <a:solidFill xmlns:a="http://schemas.openxmlformats.org/drawingml/2006/main">
            <a:srgbClr val="D18A2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79CF3E2-633F-4F8B-B285-D4F9CE67F2BD}"/>
              </a:ext>
            </a:extLst>
          </p:cNvPr>
          <p:cNvSpPr>
            <a:spLocks xmlns:a="http://schemas.openxmlformats.org/drawingml/2006/main" noGrp="1"/>
          </p:cNvSpPr>
          <p:nvPr/>
        </p:nvSpPr>
        <p:spPr>
          <a:xfrm xmlns:a="http://schemas.openxmlformats.org/drawingml/2006/main">
            <a:off x="9048750" y="401002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defPPr>
              <a:defRPr sz="975" b="1">
                <a:solidFill>
                  <a:srgbClr val="D18A27"/>
                </a:solidFill>
                <a:latin typeface="Arial"/>
                <a:ea typeface="Arial"/>
                <a:cs typeface="Arial"/>
              </a:defRPr>
            </a:defPPr>
          </a:lstStyle>
          <a:p xmlns:a="http://schemas.openxmlformats.org/drawingml/2006/main">
            <a:pPr>
              <a:defRPr sz="975" b="1">
                <a:solidFill>
                  <a:srgbClr val="D18A27"/>
                </a:solidFill>
                <a:latin typeface="Arial"/>
                <a:ea typeface="Arial"/>
                <a:cs typeface="Arial"/>
              </a:defRPr>
            </a:pPr>
            <a:r>
              <a:rPr sz="975" b="1">
                <a:solidFill>
                  <a:srgbClr val="D18A27"/>
                </a:solidFill>
                <a:latin typeface="Arial"/>
                <a:ea typeface="Arial"/>
                <a:cs typeface="Arial"/>
              </a:rPr>
              <a:t>Review prompt</a:t>
            </a:r>
          </a:p>
        </p:txBody>
      </p:sp>
      <p:sp>
        <p:nvSpPr>
          <p:cNvPr id="29" name="">
            <a:extLst xmlns:a="http://schemas.openxmlformats.org/drawingml/2006/main">
              <a:ext uri="{FF2B5EF4-FFF2-40B4-BE49-F238E27FC236}">
                <a16:creationId xmlns:a16="http://schemas.microsoft.com/office/drawing/2014/main" id="{CE51A0A3-791E-4AF5-865F-AC4F616ACDA1}"/>
              </a:ext>
            </a:extLst>
          </p:cNvPr>
          <p:cNvSpPr>
            <a:spLocks xmlns:a="http://schemas.openxmlformats.org/drawingml/2006/main" noGrp="1"/>
          </p:cNvSpPr>
          <p:nvPr/>
        </p:nvSpPr>
        <p:spPr>
          <a:xfrm xmlns:a="http://schemas.openxmlformats.org/drawingml/2006/main">
            <a:off x="9048750" y="4314825"/>
            <a:ext cx="2343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No declared primary key and a timestamp without time zone invite review. They do not prove the table is wrong.</a:t>
            </a:r>
          </a:p>
        </p:txBody>
      </p:sp>
      <p:sp>
        <p:nvSpPr>
          <p:cNvPr id="30" name="">
            <a:extLst xmlns:a="http://schemas.openxmlformats.org/drawingml/2006/main">
              <a:ext uri="{FF2B5EF4-FFF2-40B4-BE49-F238E27FC236}">
                <a16:creationId xmlns:a16="http://schemas.microsoft.com/office/drawing/2014/main" id="{F7C38601-FAFF-4311-8CB9-BFB120F759D9}"/>
              </a:ext>
            </a:extLst>
          </p:cNvPr>
          <p:cNvSpPr>
            <a:spLocks xmlns:a="http://schemas.openxmlformats.org/drawingml/2006/main" noGrp="1"/>
          </p:cNvSpPr>
          <p:nvPr/>
        </p:nvSpPr>
        <p:spPr>
          <a:xfrm xmlns:a="http://schemas.openxmlformats.org/drawingml/2006/main">
            <a:off x="723900" y="3800475"/>
            <a:ext cx="7810500" cy="1257300"/>
          </a:xfrm>
          <a:prstGeom xmlns:a="http://schemas.openxmlformats.org/drawingml/2006/main" prst="roundRect">
            <a:avLst>
              <a:gd name="adj" fmla="val 9091"/>
            </a:avLst>
          </a:prstGeom>
          <a:solidFill xmlns:a="http://schemas.openxmlformats.org/drawingml/2006/main">
            <a:srgbClr val="E6F4F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6905ABC-6D98-4C20-A7D4-D665F441BB2E}"/>
              </a:ext>
            </a:extLst>
          </p:cNvPr>
          <p:cNvSpPr>
            <a:spLocks xmlns:a="http://schemas.openxmlformats.org/drawingml/2006/main" noGrp="1"/>
          </p:cNvSpPr>
          <p:nvPr/>
        </p:nvSpPr>
        <p:spPr>
          <a:xfrm xmlns:a="http://schemas.openxmlformats.org/drawingml/2006/main">
            <a:off x="952500" y="40100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defPPr>
              <a:defRPr sz="1050" b="1">
                <a:solidFill>
                  <a:srgbClr val="00A9B7"/>
                </a:solidFill>
                <a:latin typeface="Arial"/>
                <a:ea typeface="Arial"/>
                <a:cs typeface="Arial"/>
              </a:defRPr>
            </a:defPPr>
          </a:lstStyle>
          <a:p xmlns:a="http://schemas.openxmlformats.org/drawingml/2006/main">
            <a:pPr>
              <a:defRPr sz="1050" b="1">
                <a:solidFill>
                  <a:srgbClr val="00A9B7"/>
                </a:solidFill>
                <a:latin typeface="Arial"/>
                <a:ea typeface="Arial"/>
                <a:cs typeface="Arial"/>
              </a:defRPr>
            </a:pPr>
            <a:r>
              <a:rPr sz="1050" b="1">
                <a:solidFill>
                  <a:srgbClr val="00A9B7"/>
                </a:solidFill>
                <a:latin typeface="Arial"/>
                <a:ea typeface="Arial"/>
                <a:cs typeface="Arial"/>
              </a:rPr>
              <a:t>A useful modeling nuance</a:t>
            </a:r>
          </a:p>
        </p:txBody>
      </p:sp>
      <p:sp>
        <p:nvSpPr>
          <p:cNvPr id="32" name="">
            <a:extLst xmlns:a="http://schemas.openxmlformats.org/drawingml/2006/main">
              <a:ext uri="{FF2B5EF4-FFF2-40B4-BE49-F238E27FC236}">
                <a16:creationId xmlns:a16="http://schemas.microsoft.com/office/drawing/2014/main" id="{CDDDAFC3-06B3-4E39-AAFE-97428848FE11}"/>
              </a:ext>
            </a:extLst>
          </p:cNvPr>
          <p:cNvSpPr>
            <a:spLocks xmlns:a="http://schemas.openxmlformats.org/drawingml/2006/main" noGrp="1"/>
          </p:cNvSpPr>
          <p:nvPr/>
        </p:nvSpPr>
        <p:spPr>
          <a:xfrm xmlns:a="http://schemas.openxmlformats.org/drawingml/2006/main">
            <a:off x="952500" y="4371975"/>
            <a:ext cx="719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350" b="1">
                <a:solidFill>
                  <a:srgbClr val="183244"/>
                </a:solidFill>
                <a:latin typeface="Arial"/>
                <a:ea typeface="Arial"/>
                <a:cs typeface="Arial"/>
              </a:defRPr>
            </a:defPPr>
          </a:lstStyle>
          <a:p xmlns:a="http://schemas.openxmlformats.org/drawingml/2006/main">
            <a:pPr>
              <a:defRPr sz="1350" b="1">
                <a:solidFill>
                  <a:srgbClr val="183244"/>
                </a:solidFill>
                <a:latin typeface="Arial"/>
                <a:ea typeface="Arial"/>
                <a:cs typeface="Arial"/>
              </a:defRPr>
            </a:pPr>
            <a:r>
              <a:rPr sz="1350" b="1">
                <a:solidFill>
                  <a:srgbClr val="183244"/>
                </a:solidFill>
                <a:latin typeface="Arial"/>
                <a:ea typeface="Arial"/>
                <a:cs typeface="Arial"/>
              </a:rPr>
              <a:t>order_items keeps product name and price from the purchase date. That history may be intentional, even if a catalog stores current values too.</a:t>
            </a:r>
          </a:p>
        </p:txBody>
      </p:sp>
    </p:spTree>
    <p:extLst>
      <p:ext uri="{BB962C8B-B14F-4D97-AF65-F5344CB8AC3E}">
        <p14:creationId xmlns:p14="http://schemas.microsoft.com/office/powerpoint/2010/main" val="1765866748"/>
      </p:ext>
    </p:extLst>
  </p:cSld>
</p:sld>
</file>

<file path=ppt/slides/slide6.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CB4CBEF-8083-4D9C-893D-0891269BF59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CAA75B-7F4D-4813-8394-2054F5D62835}"/>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The recorded live demo completed the core review loop</a:t>
            </a:r>
          </a:p>
        </p:txBody>
      </p:sp>
      <p:sp>
        <p:nvSpPr>
          <p:cNvPr id="3" name="">
            <a:extLst xmlns:a="http://schemas.openxmlformats.org/drawingml/2006/main">
              <a:ext uri="{FF2B5EF4-FFF2-40B4-BE49-F238E27FC236}">
                <a16:creationId xmlns:a16="http://schemas.microsoft.com/office/drawing/2014/main" id="{50146F28-DB81-452C-8A13-6297A327E097}"/>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PostgreSQL verification on October 7, 2026 covered the path from connection to safe query rejection.</a:t>
            </a:r>
          </a:p>
        </p:txBody>
      </p:sp>
      <p:sp>
        <p:nvSpPr>
          <p:cNvPr id="4" name="">
            <a:extLst xmlns:a="http://schemas.openxmlformats.org/drawingml/2006/main">
              <a:ext uri="{FF2B5EF4-FFF2-40B4-BE49-F238E27FC236}">
                <a16:creationId xmlns:a16="http://schemas.microsoft.com/office/drawing/2014/main" id="{E967E4AC-3B5D-4609-A211-05C7EA296D09}"/>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D4AFC6-8A02-4F67-B3B0-73E5449E7FCB}"/>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0A777C65-8598-43BC-AAC4-B197FF4509A2}"/>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8AB55126-2FBA-4E36-8A81-8A7D2E37D43E}"/>
              </a:ext>
            </a:extLst>
          </p:cNvPr>
          <p:cNvSpPr>
            <a:spLocks xmlns:a="http://schemas.openxmlformats.org/drawingml/2006/main" noGrp="1"/>
          </p:cNvSpPr>
          <p:nvPr/>
        </p:nvSpPr>
        <p:spPr>
          <a:xfrm xmlns:a="http://schemas.openxmlformats.org/drawingml/2006/main">
            <a:off x="704850" y="1924050"/>
            <a:ext cx="2381250"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17EB2290-438D-4E33-8C8D-E0183CD9CFF1}"/>
              </a:ext>
            </a:extLst>
          </p:cNvPr>
          <p:cNvSpPr>
            <a:spLocks xmlns:a="http://schemas.openxmlformats.org/drawingml/2006/main" noGrp="1"/>
          </p:cNvSpPr>
          <p:nvPr/>
        </p:nvSpPr>
        <p:spPr>
          <a:xfrm xmlns:a="http://schemas.openxmlformats.org/drawingml/2006/main">
            <a:off x="895350" y="20574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61"/>
          </a:bodyPr>
          <a:lstStyle xmlns:a="http://schemas.openxmlformats.org/drawingml/2006/main">
            <a:defPPr>
              <a:defRPr sz="2850" b="1">
                <a:solidFill>
                  <a:srgbClr val="00A9B7"/>
                </a:solidFill>
                <a:latin typeface="Arial"/>
                <a:ea typeface="Arial"/>
                <a:cs typeface="Arial"/>
              </a:defRPr>
            </a:defPPr>
          </a:lstStyle>
          <a:p xmlns:a="http://schemas.openxmlformats.org/drawingml/2006/main">
            <a:pPr>
              <a:defRPr sz="2850" b="1">
                <a:solidFill>
                  <a:srgbClr val="00A9B7"/>
                </a:solidFill>
                <a:latin typeface="Arial"/>
                <a:ea typeface="Arial"/>
                <a:cs typeface="Arial"/>
              </a:defRPr>
            </a:pPr>
            <a:r>
              <a:rPr sz="2850" b="1">
                <a:solidFill>
                  <a:srgbClr val="00A9B7"/>
                </a:solidFill>
                <a:latin typeface="Arial"/>
                <a:ea typeface="Arial"/>
                <a:cs typeface="Arial"/>
              </a:rPr>
              <a:t>4</a:t>
            </a:r>
          </a:p>
        </p:txBody>
      </p:sp>
      <p:sp>
        <p:nvSpPr>
          <p:cNvPr id="9" name="">
            <a:extLst xmlns:a="http://schemas.openxmlformats.org/drawingml/2006/main">
              <a:ext uri="{FF2B5EF4-FFF2-40B4-BE49-F238E27FC236}">
                <a16:creationId xmlns:a16="http://schemas.microsoft.com/office/drawing/2014/main" id="{9A0FEFEF-5EFD-4041-92F8-A4EC06042B48}"/>
              </a:ext>
            </a:extLst>
          </p:cNvPr>
          <p:cNvSpPr>
            <a:spLocks xmlns:a="http://schemas.openxmlformats.org/drawingml/2006/main" noGrp="1"/>
          </p:cNvSpPr>
          <p:nvPr/>
        </p:nvSpPr>
        <p:spPr>
          <a:xfrm xmlns:a="http://schemas.openxmlformats.org/drawingml/2006/main">
            <a:off x="904875" y="26860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597180"/>
                </a:solidFill>
                <a:latin typeface="Arial"/>
                <a:ea typeface="Arial"/>
                <a:cs typeface="Arial"/>
              </a:defRPr>
            </a:defPPr>
          </a:lstStyle>
          <a:p xmlns:a="http://schemas.openxmlformats.org/drawingml/2006/main">
            <a:pPr>
              <a:defRPr sz="1125" b="1">
                <a:solidFill>
                  <a:srgbClr val="597180"/>
                </a:solidFill>
                <a:latin typeface="Arial"/>
                <a:ea typeface="Arial"/>
                <a:cs typeface="Arial"/>
              </a:defRPr>
            </a:pPr>
            <a:r>
              <a:rPr sz="1125" b="1">
                <a:solidFill>
                  <a:srgbClr val="597180"/>
                </a:solidFill>
                <a:latin typeface="Arial"/>
                <a:ea typeface="Arial"/>
                <a:cs typeface="Arial"/>
              </a:rPr>
              <a:t>tables scanned</a:t>
            </a:r>
          </a:p>
        </p:txBody>
      </p:sp>
      <p:sp>
        <p:nvSpPr>
          <p:cNvPr id="10" name="">
            <a:extLst xmlns:a="http://schemas.openxmlformats.org/drawingml/2006/main">
              <a:ext uri="{FF2B5EF4-FFF2-40B4-BE49-F238E27FC236}">
                <a16:creationId xmlns:a16="http://schemas.microsoft.com/office/drawing/2014/main" id="{3E5378E8-EF7C-4195-8825-6722C068DC2C}"/>
              </a:ext>
            </a:extLst>
          </p:cNvPr>
          <p:cNvSpPr>
            <a:spLocks xmlns:a="http://schemas.openxmlformats.org/drawingml/2006/main" noGrp="1"/>
          </p:cNvSpPr>
          <p:nvPr/>
        </p:nvSpPr>
        <p:spPr>
          <a:xfrm xmlns:a="http://schemas.openxmlformats.org/drawingml/2006/main">
            <a:off x="3390900" y="1924050"/>
            <a:ext cx="2381250"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9525">
            <a:solidFill>
              <a:srgbClr val="D8E4E7"/>
            </a:solidFill>
          </a:ln>
        </p:spPr>
      </p:sp>
      <p:sp>
        <p:nvSpPr>
          <p:cNvPr id="11" name="">
            <a:extLst xmlns:a="http://schemas.openxmlformats.org/drawingml/2006/main">
              <a:ext uri="{FF2B5EF4-FFF2-40B4-BE49-F238E27FC236}">
                <a16:creationId xmlns:a16="http://schemas.microsoft.com/office/drawing/2014/main" id="{C1698368-E393-44BB-B3BE-712BBB48AF7B}"/>
              </a:ext>
            </a:extLst>
          </p:cNvPr>
          <p:cNvSpPr>
            <a:spLocks xmlns:a="http://schemas.openxmlformats.org/drawingml/2006/main" noGrp="1"/>
          </p:cNvSpPr>
          <p:nvPr/>
        </p:nvSpPr>
        <p:spPr>
          <a:xfrm xmlns:a="http://schemas.openxmlformats.org/drawingml/2006/main">
            <a:off x="3581400" y="20574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61"/>
          </a:bodyPr>
          <a:lstStyle xmlns:a="http://schemas.openxmlformats.org/drawingml/2006/main">
            <a:defPPr>
              <a:defRPr sz="2850" b="1">
                <a:solidFill>
                  <a:srgbClr val="00A9B7"/>
                </a:solidFill>
                <a:latin typeface="Arial"/>
                <a:ea typeface="Arial"/>
                <a:cs typeface="Arial"/>
              </a:defRPr>
            </a:defPPr>
          </a:lstStyle>
          <a:p xmlns:a="http://schemas.openxmlformats.org/drawingml/2006/main">
            <a:pPr>
              <a:defRPr sz="2850" b="1">
                <a:solidFill>
                  <a:srgbClr val="00A9B7"/>
                </a:solidFill>
                <a:latin typeface="Arial"/>
                <a:ea typeface="Arial"/>
                <a:cs typeface="Arial"/>
              </a:defRPr>
            </a:pPr>
            <a:r>
              <a:rPr sz="2850" b="1">
                <a:solidFill>
                  <a:srgbClr val="00A9B7"/>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8DF73EAD-1C06-400D-A367-3A33EE3A3B30}"/>
              </a:ext>
            </a:extLst>
          </p:cNvPr>
          <p:cNvSpPr>
            <a:spLocks xmlns:a="http://schemas.openxmlformats.org/drawingml/2006/main" noGrp="1"/>
          </p:cNvSpPr>
          <p:nvPr/>
        </p:nvSpPr>
        <p:spPr>
          <a:xfrm xmlns:a="http://schemas.openxmlformats.org/drawingml/2006/main">
            <a:off x="3590925" y="26860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597180"/>
                </a:solidFill>
                <a:latin typeface="Arial"/>
                <a:ea typeface="Arial"/>
                <a:cs typeface="Arial"/>
              </a:defRPr>
            </a:defPPr>
          </a:lstStyle>
          <a:p xmlns:a="http://schemas.openxmlformats.org/drawingml/2006/main">
            <a:pPr>
              <a:defRPr sz="1125" b="1">
                <a:solidFill>
                  <a:srgbClr val="597180"/>
                </a:solidFill>
                <a:latin typeface="Arial"/>
                <a:ea typeface="Arial"/>
                <a:cs typeface="Arial"/>
              </a:defRPr>
            </a:pPr>
            <a:r>
              <a:rPr sz="1125" b="1">
                <a:solidFill>
                  <a:srgbClr val="597180"/>
                </a:solidFill>
                <a:latin typeface="Arial"/>
                <a:ea typeface="Arial"/>
                <a:cs typeface="Arial"/>
              </a:rPr>
              <a:t>findings generated</a:t>
            </a:r>
          </a:p>
        </p:txBody>
      </p:sp>
      <p:sp>
        <p:nvSpPr>
          <p:cNvPr id="13" name="">
            <a:extLst xmlns:a="http://schemas.openxmlformats.org/drawingml/2006/main">
              <a:ext uri="{FF2B5EF4-FFF2-40B4-BE49-F238E27FC236}">
                <a16:creationId xmlns:a16="http://schemas.microsoft.com/office/drawing/2014/main" id="{5BEC0F04-740F-492D-A6C6-5B14FC51B705}"/>
              </a:ext>
            </a:extLst>
          </p:cNvPr>
          <p:cNvSpPr>
            <a:spLocks xmlns:a="http://schemas.openxmlformats.org/drawingml/2006/main" noGrp="1"/>
          </p:cNvSpPr>
          <p:nvPr/>
        </p:nvSpPr>
        <p:spPr>
          <a:xfrm xmlns:a="http://schemas.openxmlformats.org/drawingml/2006/main">
            <a:off x="6076950" y="1924050"/>
            <a:ext cx="2381250"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9525">
            <a:solidFill>
              <a:srgbClr val="D8E4E7"/>
            </a:solidFill>
          </a:ln>
        </p:spPr>
      </p:sp>
      <p:sp>
        <p:nvSpPr>
          <p:cNvPr id="14" name="">
            <a:extLst xmlns:a="http://schemas.openxmlformats.org/drawingml/2006/main">
              <a:ext uri="{FF2B5EF4-FFF2-40B4-BE49-F238E27FC236}">
                <a16:creationId xmlns:a16="http://schemas.microsoft.com/office/drawing/2014/main" id="{1EDEB151-7DFB-40C5-9E3A-2D6862E2A27A}"/>
              </a:ext>
            </a:extLst>
          </p:cNvPr>
          <p:cNvSpPr>
            <a:spLocks xmlns:a="http://schemas.openxmlformats.org/drawingml/2006/main" noGrp="1"/>
          </p:cNvSpPr>
          <p:nvPr/>
        </p:nvSpPr>
        <p:spPr>
          <a:xfrm xmlns:a="http://schemas.openxmlformats.org/drawingml/2006/main">
            <a:off x="6267450" y="20574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61"/>
          </a:bodyPr>
          <a:lstStyle xmlns:a="http://schemas.openxmlformats.org/drawingml/2006/main">
            <a:defPPr>
              <a:defRPr sz="2850" b="1">
                <a:solidFill>
                  <a:srgbClr val="00A9B7"/>
                </a:solidFill>
                <a:latin typeface="Arial"/>
                <a:ea typeface="Arial"/>
                <a:cs typeface="Arial"/>
              </a:defRPr>
            </a:defPPr>
          </a:lstStyle>
          <a:p xmlns:a="http://schemas.openxmlformats.org/drawingml/2006/main">
            <a:pPr>
              <a:defRPr sz="2850" b="1">
                <a:solidFill>
                  <a:srgbClr val="00A9B7"/>
                </a:solidFill>
                <a:latin typeface="Arial"/>
                <a:ea typeface="Arial"/>
                <a:cs typeface="Arial"/>
              </a:defRPr>
            </a:pPr>
            <a:r>
              <a:rPr sz="2850" b="1">
                <a:solidFill>
                  <a:srgbClr val="00A9B7"/>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A5DD6347-B5AE-4BAA-B32D-90A35E39B03F}"/>
              </a:ext>
            </a:extLst>
          </p:cNvPr>
          <p:cNvSpPr>
            <a:spLocks xmlns:a="http://schemas.openxmlformats.org/drawingml/2006/main" noGrp="1"/>
          </p:cNvSpPr>
          <p:nvPr/>
        </p:nvSpPr>
        <p:spPr>
          <a:xfrm xmlns:a="http://schemas.openxmlformats.org/drawingml/2006/main">
            <a:off x="6276975" y="26860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597180"/>
                </a:solidFill>
                <a:latin typeface="Arial"/>
                <a:ea typeface="Arial"/>
                <a:cs typeface="Arial"/>
              </a:defRPr>
            </a:defPPr>
          </a:lstStyle>
          <a:p xmlns:a="http://schemas.openxmlformats.org/drawingml/2006/main">
            <a:pPr>
              <a:defRPr sz="1125" b="1">
                <a:solidFill>
                  <a:srgbClr val="597180"/>
                </a:solidFill>
                <a:latin typeface="Arial"/>
                <a:ea typeface="Arial"/>
                <a:cs typeface="Arial"/>
              </a:defRPr>
            </a:pPr>
            <a:r>
              <a:rPr sz="1125" b="1">
                <a:solidFill>
                  <a:srgbClr val="597180"/>
                </a:solidFill>
                <a:latin typeface="Arial"/>
                <a:ea typeface="Arial"/>
                <a:cs typeface="Arial"/>
              </a:rPr>
              <a:t>documentation report</a:t>
            </a:r>
          </a:p>
        </p:txBody>
      </p:sp>
      <p:sp>
        <p:nvSpPr>
          <p:cNvPr id="16" name="">
            <a:extLst xmlns:a="http://schemas.openxmlformats.org/drawingml/2006/main">
              <a:ext uri="{FF2B5EF4-FFF2-40B4-BE49-F238E27FC236}">
                <a16:creationId xmlns:a16="http://schemas.microsoft.com/office/drawing/2014/main" id="{DCA61923-C104-4352-BAA5-3B2D1794CDC2}"/>
              </a:ext>
            </a:extLst>
          </p:cNvPr>
          <p:cNvSpPr>
            <a:spLocks xmlns:a="http://schemas.openxmlformats.org/drawingml/2006/main" noGrp="1"/>
          </p:cNvSpPr>
          <p:nvPr/>
        </p:nvSpPr>
        <p:spPr>
          <a:xfrm xmlns:a="http://schemas.openxmlformats.org/drawingml/2006/main">
            <a:off x="8763000" y="1924050"/>
            <a:ext cx="2381250"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9525">
            <a:solidFill>
              <a:srgbClr val="D8E4E7"/>
            </a:solidFill>
          </a:ln>
        </p:spPr>
      </p:sp>
      <p:sp>
        <p:nvSpPr>
          <p:cNvPr id="17" name="">
            <a:extLst xmlns:a="http://schemas.openxmlformats.org/drawingml/2006/main">
              <a:ext uri="{FF2B5EF4-FFF2-40B4-BE49-F238E27FC236}">
                <a16:creationId xmlns:a16="http://schemas.microsoft.com/office/drawing/2014/main" id="{638DDB48-B45D-4B71-B5D2-A5353C0A3402}"/>
              </a:ext>
            </a:extLst>
          </p:cNvPr>
          <p:cNvSpPr>
            <a:spLocks xmlns:a="http://schemas.openxmlformats.org/drawingml/2006/main" noGrp="1"/>
          </p:cNvSpPr>
          <p:nvPr/>
        </p:nvSpPr>
        <p:spPr>
          <a:xfrm xmlns:a="http://schemas.openxmlformats.org/drawingml/2006/main">
            <a:off x="8953500" y="20574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61"/>
          </a:bodyPr>
          <a:lstStyle xmlns:a="http://schemas.openxmlformats.org/drawingml/2006/main">
            <a:defPPr>
              <a:defRPr sz="2850" b="1">
                <a:solidFill>
                  <a:srgbClr val="25785D"/>
                </a:solidFill>
                <a:latin typeface="Arial"/>
                <a:ea typeface="Arial"/>
                <a:cs typeface="Arial"/>
              </a:defRPr>
            </a:defPPr>
          </a:lstStyle>
          <a:p xmlns:a="http://schemas.openxmlformats.org/drawingml/2006/main">
            <a:pPr>
              <a:defRPr sz="2850" b="1">
                <a:solidFill>
                  <a:srgbClr val="25785D"/>
                </a:solidFill>
                <a:latin typeface="Arial"/>
                <a:ea typeface="Arial"/>
                <a:cs typeface="Arial"/>
              </a:defRPr>
            </a:pPr>
            <a:r>
              <a:rPr sz="2850" b="1">
                <a:solidFill>
                  <a:srgbClr val="25785D"/>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697CD12F-EFDF-491E-BC09-4DD67EEFAF17}"/>
              </a:ext>
            </a:extLst>
          </p:cNvPr>
          <p:cNvSpPr>
            <a:spLocks xmlns:a="http://schemas.openxmlformats.org/drawingml/2006/main" noGrp="1"/>
          </p:cNvSpPr>
          <p:nvPr/>
        </p:nvSpPr>
        <p:spPr>
          <a:xfrm xmlns:a="http://schemas.openxmlformats.org/drawingml/2006/main">
            <a:off x="8963025" y="26860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597180"/>
                </a:solidFill>
                <a:latin typeface="Arial"/>
                <a:ea typeface="Arial"/>
                <a:cs typeface="Arial"/>
              </a:defRPr>
            </a:defPPr>
          </a:lstStyle>
          <a:p xmlns:a="http://schemas.openxmlformats.org/drawingml/2006/main">
            <a:pPr>
              <a:defRPr sz="1125" b="1">
                <a:solidFill>
                  <a:srgbClr val="597180"/>
                </a:solidFill>
                <a:latin typeface="Arial"/>
                <a:ea typeface="Arial"/>
                <a:cs typeface="Arial"/>
              </a:defRPr>
            </a:pPr>
            <a:r>
              <a:rPr sz="1125" b="1">
                <a:solidFill>
                  <a:srgbClr val="597180"/>
                </a:solidFill>
                <a:latin typeface="Arial"/>
                <a:ea typeface="Arial"/>
                <a:cs typeface="Arial"/>
              </a:rPr>
              <a:t>write attempt rejected</a:t>
            </a:r>
          </a:p>
        </p:txBody>
      </p:sp>
      <p:sp>
        <p:nvSpPr>
          <p:cNvPr id="19" name="">
            <a:extLst xmlns:a="http://schemas.openxmlformats.org/drawingml/2006/main">
              <a:ext uri="{FF2B5EF4-FFF2-40B4-BE49-F238E27FC236}">
                <a16:creationId xmlns:a16="http://schemas.microsoft.com/office/drawing/2014/main" id="{4B3E5B00-14A5-462F-8961-4C798BFFC8F5}"/>
              </a:ext>
            </a:extLst>
          </p:cNvPr>
          <p:cNvSpPr>
            <a:spLocks xmlns:a="http://schemas.openxmlformats.org/drawingml/2006/main" noGrp="1"/>
          </p:cNvSpPr>
          <p:nvPr/>
        </p:nvSpPr>
        <p:spPr>
          <a:xfrm xmlns:a="http://schemas.openxmlformats.org/drawingml/2006/main">
            <a:off x="714375" y="37147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defPPr>
              <a:defRPr sz="900" b="1">
                <a:solidFill>
                  <a:srgbClr val="00A9B7"/>
                </a:solidFill>
                <a:latin typeface="Arial"/>
                <a:ea typeface="Arial"/>
                <a:cs typeface="Arial"/>
              </a:defRPr>
            </a:defPPr>
          </a:lstStyle>
          <a:p xmlns:a="http://schemas.openxmlformats.org/drawingml/2006/main">
            <a:pPr>
              <a:defRPr sz="900" b="1">
                <a:solidFill>
                  <a:srgbClr val="00A9B7"/>
                </a:solidFill>
                <a:latin typeface="Arial"/>
                <a:ea typeface="Arial"/>
                <a:cs typeface="Arial"/>
              </a:defRPr>
            </a:pPr>
            <a:r>
              <a:rPr sz="900" b="1">
                <a:solidFill>
                  <a:srgbClr val="00A9B7"/>
                </a:solidFill>
                <a:latin typeface="Arial"/>
                <a:ea typeface="Arial"/>
                <a:cs typeface="Arial"/>
              </a:rPr>
              <a:t>ALSO EXERCISED</a:t>
            </a:r>
          </a:p>
        </p:txBody>
      </p:sp>
      <p:sp>
        <p:nvSpPr>
          <p:cNvPr id="20" name="">
            <a:extLst xmlns:a="http://schemas.openxmlformats.org/drawingml/2006/main">
              <a:ext uri="{FF2B5EF4-FFF2-40B4-BE49-F238E27FC236}">
                <a16:creationId xmlns:a16="http://schemas.microsoft.com/office/drawing/2014/main" id="{6B47EF2B-DA86-4B8F-8FDE-9F1C733B60FC}"/>
              </a:ext>
            </a:extLst>
          </p:cNvPr>
          <p:cNvSpPr>
            <a:spLocks xmlns:a="http://schemas.openxmlformats.org/drawingml/2006/main" noGrp="1"/>
          </p:cNvSpPr>
          <p:nvPr/>
        </p:nvSpPr>
        <p:spPr>
          <a:xfrm xmlns:a="http://schemas.openxmlformats.org/drawingml/2006/main">
            <a:off x="704850" y="4114800"/>
            <a:ext cx="32385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D8E4E7"/>
            </a:solidFill>
          </a:ln>
        </p:spPr>
      </p:sp>
      <p:sp>
        <p:nvSpPr>
          <p:cNvPr id="21" name="">
            <a:extLst xmlns:a="http://schemas.openxmlformats.org/drawingml/2006/main">
              <a:ext uri="{FF2B5EF4-FFF2-40B4-BE49-F238E27FC236}">
                <a16:creationId xmlns:a16="http://schemas.microsoft.com/office/drawing/2014/main" id="{66F20C10-5109-42C9-AF9F-10FC39597A3D}"/>
              </a:ext>
            </a:extLst>
          </p:cNvPr>
          <p:cNvSpPr>
            <a:spLocks xmlns:a="http://schemas.openxmlformats.org/drawingml/2006/main" noGrp="1"/>
          </p:cNvSpPr>
          <p:nvPr/>
        </p:nvSpPr>
        <p:spPr>
          <a:xfrm xmlns:a="http://schemas.openxmlformats.org/drawingml/2006/main">
            <a:off x="876300" y="42672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defPPr>
              <a:defRPr sz="1350" b="1">
                <a:solidFill>
                  <a:srgbClr val="183244"/>
                </a:solidFill>
                <a:latin typeface="Arial"/>
                <a:ea typeface="Arial"/>
                <a:cs typeface="Arial"/>
              </a:defRPr>
            </a:defPPr>
          </a:lstStyle>
          <a:p xmlns:a="http://schemas.openxmlformats.org/drawingml/2006/main">
            <a:pPr>
              <a:defRPr sz="1350" b="1">
                <a:solidFill>
                  <a:srgbClr val="183244"/>
                </a:solidFill>
                <a:latin typeface="Arial"/>
                <a:ea typeface="Arial"/>
                <a:cs typeface="Arial"/>
              </a:defRPr>
            </a:pPr>
            <a:r>
              <a:rPr sz="1350" b="1">
                <a:solidFill>
                  <a:srgbClr val="183244"/>
                </a:solidFill>
                <a:latin typeface="Arial"/>
                <a:ea typeface="Arial"/>
                <a:cs typeface="Arial"/>
              </a:rPr>
              <a:t>Connection test</a:t>
            </a:r>
          </a:p>
        </p:txBody>
      </p:sp>
      <p:sp>
        <p:nvSpPr>
          <p:cNvPr id="22" name="">
            <a:extLst xmlns:a="http://schemas.openxmlformats.org/drawingml/2006/main">
              <a:ext uri="{FF2B5EF4-FFF2-40B4-BE49-F238E27FC236}">
                <a16:creationId xmlns:a16="http://schemas.microsoft.com/office/drawing/2014/main" id="{739C382C-BAB8-4206-BA1F-114F4344CECB}"/>
              </a:ext>
            </a:extLst>
          </p:cNvPr>
          <p:cNvSpPr>
            <a:spLocks xmlns:a="http://schemas.openxmlformats.org/drawingml/2006/main" noGrp="1"/>
          </p:cNvSpPr>
          <p:nvPr/>
        </p:nvSpPr>
        <p:spPr>
          <a:xfrm xmlns:a="http://schemas.openxmlformats.org/drawingml/2006/main">
            <a:off x="876300" y="45910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Saved and tested the demo target</a:t>
            </a:r>
          </a:p>
        </p:txBody>
      </p:sp>
      <p:sp>
        <p:nvSpPr>
          <p:cNvPr id="23" name="">
            <a:extLst xmlns:a="http://schemas.openxmlformats.org/drawingml/2006/main">
              <a:ext uri="{FF2B5EF4-FFF2-40B4-BE49-F238E27FC236}">
                <a16:creationId xmlns:a16="http://schemas.microsoft.com/office/drawing/2014/main" id="{1694D420-3CF1-400C-BED3-83E4E33DDB12}"/>
              </a:ext>
            </a:extLst>
          </p:cNvPr>
          <p:cNvSpPr>
            <a:spLocks xmlns:a="http://schemas.openxmlformats.org/drawingml/2006/main" noGrp="1"/>
          </p:cNvSpPr>
          <p:nvPr/>
        </p:nvSpPr>
        <p:spPr>
          <a:xfrm xmlns:a="http://schemas.openxmlformats.org/drawingml/2006/main">
            <a:off x="4229100" y="4114800"/>
            <a:ext cx="32385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D8E4E7"/>
            </a:solidFill>
          </a:ln>
        </p:spPr>
      </p:sp>
      <p:sp>
        <p:nvSpPr>
          <p:cNvPr id="24" name="">
            <a:extLst xmlns:a="http://schemas.openxmlformats.org/drawingml/2006/main">
              <a:ext uri="{FF2B5EF4-FFF2-40B4-BE49-F238E27FC236}">
                <a16:creationId xmlns:a16="http://schemas.microsoft.com/office/drawing/2014/main" id="{3834389F-5B62-402B-9435-9642C12BEAED}"/>
              </a:ext>
            </a:extLst>
          </p:cNvPr>
          <p:cNvSpPr>
            <a:spLocks xmlns:a="http://schemas.openxmlformats.org/drawingml/2006/main" noGrp="1"/>
          </p:cNvSpPr>
          <p:nvPr/>
        </p:nvSpPr>
        <p:spPr>
          <a:xfrm xmlns:a="http://schemas.openxmlformats.org/drawingml/2006/main">
            <a:off x="4400550" y="42672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defPPr>
              <a:defRPr sz="1350" b="1">
                <a:solidFill>
                  <a:srgbClr val="183244"/>
                </a:solidFill>
                <a:latin typeface="Arial"/>
                <a:ea typeface="Arial"/>
                <a:cs typeface="Arial"/>
              </a:defRPr>
            </a:defPPr>
          </a:lstStyle>
          <a:p xmlns:a="http://schemas.openxmlformats.org/drawingml/2006/main">
            <a:pPr>
              <a:defRPr sz="1350" b="1">
                <a:solidFill>
                  <a:srgbClr val="183244"/>
                </a:solidFill>
                <a:latin typeface="Arial"/>
                <a:ea typeface="Arial"/>
                <a:cs typeface="Arial"/>
              </a:defRPr>
            </a:pPr>
            <a:r>
              <a:rPr sz="1350" b="1">
                <a:solidFill>
                  <a:srgbClr val="183244"/>
                </a:solidFill>
                <a:latin typeface="Arial"/>
                <a:ea typeface="Arial"/>
                <a:cs typeface="Arial"/>
              </a:rPr>
              <a:t>Evidence chat</a:t>
            </a:r>
          </a:p>
        </p:txBody>
      </p:sp>
      <p:sp>
        <p:nvSpPr>
          <p:cNvPr id="25" name="">
            <a:extLst xmlns:a="http://schemas.openxmlformats.org/drawingml/2006/main">
              <a:ext uri="{FF2B5EF4-FFF2-40B4-BE49-F238E27FC236}">
                <a16:creationId xmlns:a16="http://schemas.microsoft.com/office/drawing/2014/main" id="{AA00C17C-1503-4709-B274-C1BB0E20307F}"/>
              </a:ext>
            </a:extLst>
          </p:cNvPr>
          <p:cNvSpPr>
            <a:spLocks xmlns:a="http://schemas.openxmlformats.org/drawingml/2006/main" noGrp="1"/>
          </p:cNvSpPr>
          <p:nvPr/>
        </p:nvSpPr>
        <p:spPr>
          <a:xfrm xmlns:a="http://schemas.openxmlformats.org/drawingml/2006/main">
            <a:off x="4400550" y="45910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Answer referenced saved schema facts</a:t>
            </a:r>
          </a:p>
        </p:txBody>
      </p:sp>
      <p:sp>
        <p:nvSpPr>
          <p:cNvPr id="26" name="">
            <a:extLst xmlns:a="http://schemas.openxmlformats.org/drawingml/2006/main">
              <a:ext uri="{FF2B5EF4-FFF2-40B4-BE49-F238E27FC236}">
                <a16:creationId xmlns:a16="http://schemas.microsoft.com/office/drawing/2014/main" id="{0A73FDE5-64E0-41EA-BF9B-A60A2B7DA890}"/>
              </a:ext>
            </a:extLst>
          </p:cNvPr>
          <p:cNvSpPr>
            <a:spLocks xmlns:a="http://schemas.openxmlformats.org/drawingml/2006/main" noGrp="1"/>
          </p:cNvSpPr>
          <p:nvPr/>
        </p:nvSpPr>
        <p:spPr>
          <a:xfrm xmlns:a="http://schemas.openxmlformats.org/drawingml/2006/main">
            <a:off x="7753350" y="4114800"/>
            <a:ext cx="32385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D8E4E7"/>
            </a:solidFill>
          </a:ln>
        </p:spPr>
      </p:sp>
      <p:sp>
        <p:nvSpPr>
          <p:cNvPr id="27" name="">
            <a:extLst xmlns:a="http://schemas.openxmlformats.org/drawingml/2006/main">
              <a:ext uri="{FF2B5EF4-FFF2-40B4-BE49-F238E27FC236}">
                <a16:creationId xmlns:a16="http://schemas.microsoft.com/office/drawing/2014/main" id="{5F753956-EEC8-4ED5-80AE-E94D96F6B678}"/>
              </a:ext>
            </a:extLst>
          </p:cNvPr>
          <p:cNvSpPr>
            <a:spLocks xmlns:a="http://schemas.openxmlformats.org/drawingml/2006/main" noGrp="1"/>
          </p:cNvSpPr>
          <p:nvPr/>
        </p:nvSpPr>
        <p:spPr>
          <a:xfrm xmlns:a="http://schemas.openxmlformats.org/drawingml/2006/main">
            <a:off x="7924800" y="42672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defPPr>
              <a:defRPr sz="1350" b="1">
                <a:solidFill>
                  <a:srgbClr val="183244"/>
                </a:solidFill>
                <a:latin typeface="Arial"/>
                <a:ea typeface="Arial"/>
                <a:cs typeface="Arial"/>
              </a:defRPr>
            </a:defPPr>
          </a:lstStyle>
          <a:p xmlns:a="http://schemas.openxmlformats.org/drawingml/2006/main">
            <a:pPr>
              <a:defRPr sz="1350" b="1">
                <a:solidFill>
                  <a:srgbClr val="183244"/>
                </a:solidFill>
                <a:latin typeface="Arial"/>
                <a:ea typeface="Arial"/>
                <a:cs typeface="Arial"/>
              </a:defRPr>
            </a:pPr>
            <a:r>
              <a:rPr sz="1350" b="1">
                <a:solidFill>
                  <a:srgbClr val="183244"/>
                </a:solidFill>
                <a:latin typeface="Arial"/>
                <a:ea typeface="Arial"/>
                <a:cs typeface="Arial"/>
              </a:rPr>
              <a:t>Query lab</a:t>
            </a:r>
          </a:p>
        </p:txBody>
      </p:sp>
      <p:sp>
        <p:nvSpPr>
          <p:cNvPr id="28" name="">
            <a:extLst xmlns:a="http://schemas.openxmlformats.org/drawingml/2006/main">
              <a:ext uri="{FF2B5EF4-FFF2-40B4-BE49-F238E27FC236}">
                <a16:creationId xmlns:a16="http://schemas.microsoft.com/office/drawing/2014/main" id="{E2428CA4-F1C9-404C-A832-50541A4ACCBA}"/>
              </a:ext>
            </a:extLst>
          </p:cNvPr>
          <p:cNvSpPr>
            <a:spLocks xmlns:a="http://schemas.openxmlformats.org/drawingml/2006/main" noGrp="1"/>
          </p:cNvSpPr>
          <p:nvPr/>
        </p:nvSpPr>
        <p:spPr>
          <a:xfrm xmlns:a="http://schemas.openxmlformats.org/drawingml/2006/main">
            <a:off x="7924800" y="45910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Bounded SELECT and estimated plan returned</a:t>
            </a:r>
          </a:p>
        </p:txBody>
      </p:sp>
      <p:sp>
        <p:nvSpPr>
          <p:cNvPr id="29" name="">
            <a:extLst xmlns:a="http://schemas.openxmlformats.org/drawingml/2006/main">
              <a:ext uri="{FF2B5EF4-FFF2-40B4-BE49-F238E27FC236}">
                <a16:creationId xmlns:a16="http://schemas.microsoft.com/office/drawing/2014/main" id="{B4A289D6-9764-4B51-9425-D2CAD09C8275}"/>
              </a:ext>
            </a:extLst>
          </p:cNvPr>
          <p:cNvSpPr>
            <a:spLocks xmlns:a="http://schemas.openxmlformats.org/drawingml/2006/main" noGrp="1"/>
          </p:cNvSpPr>
          <p:nvPr/>
        </p:nvSpPr>
        <p:spPr>
          <a:xfrm xmlns:a="http://schemas.openxmlformats.org/drawingml/2006/main">
            <a:off x="723900" y="54673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Recorded automated checks: 20 backend tests, 5 frontend tests, and a successful frontend production build.</a:t>
            </a:r>
          </a:p>
        </p:txBody>
      </p:sp>
    </p:spTree>
    <p:extLst>
      <p:ext uri="{BB962C8B-B14F-4D97-AF65-F5344CB8AC3E}">
        <p14:creationId xmlns:p14="http://schemas.microsoft.com/office/powerpoint/2010/main" val="1911405710"/>
      </p:ext>
    </p:extLst>
  </p:cSld>
</p:sld>
</file>

<file path=ppt/slides/slide7.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3E1366A-877C-49CD-95D5-5ECEDE52B20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1F8994-480A-4C4E-AB16-A549A7A06EC0}"/>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Three kinds of reasoning share the work</a:t>
            </a:r>
          </a:p>
        </p:txBody>
      </p:sp>
      <p:sp>
        <p:nvSpPr>
          <p:cNvPr id="3" name="">
            <a:extLst xmlns:a="http://schemas.openxmlformats.org/drawingml/2006/main">
              <a:ext uri="{FF2B5EF4-FFF2-40B4-BE49-F238E27FC236}">
                <a16:creationId xmlns:a16="http://schemas.microsoft.com/office/drawing/2014/main" id="{B0B1F027-E320-406E-9073-F3BD5F0CA341}"/>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Repeatable checks establish facts; human context and optional AI help interpret them.</a:t>
            </a:r>
          </a:p>
        </p:txBody>
      </p:sp>
      <p:sp>
        <p:nvSpPr>
          <p:cNvPr id="4" name="">
            <a:extLst xmlns:a="http://schemas.openxmlformats.org/drawingml/2006/main">
              <a:ext uri="{FF2B5EF4-FFF2-40B4-BE49-F238E27FC236}">
                <a16:creationId xmlns:a16="http://schemas.microsoft.com/office/drawing/2014/main" id="{7AD63CEA-CE7E-4851-9126-05B3FC815BD7}"/>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EA3046-3E4A-4A43-B368-624D1C2C88EA}"/>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CE7DBB33-4482-49D3-B425-02985F8ECED5}"/>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937775F3-1FCA-4328-AD00-5632883D592E}"/>
              </a:ext>
            </a:extLst>
          </p:cNvPr>
          <p:cNvSpPr>
            <a:spLocks xmlns:a="http://schemas.openxmlformats.org/drawingml/2006/main" noGrp="1"/>
          </p:cNvSpPr>
          <p:nvPr/>
        </p:nvSpPr>
        <p:spPr>
          <a:xfrm xmlns:a="http://schemas.openxmlformats.org/drawingml/2006/main">
            <a:off x="704850" y="2009775"/>
            <a:ext cx="3333750" cy="280035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956D3482-CF79-4883-A922-6967D14E7F07}"/>
              </a:ext>
            </a:extLst>
          </p:cNvPr>
          <p:cNvSpPr>
            <a:spLocks xmlns:a="http://schemas.openxmlformats.org/drawingml/2006/main" noGrp="1"/>
          </p:cNvSpPr>
          <p:nvPr/>
        </p:nvSpPr>
        <p:spPr>
          <a:xfrm xmlns:a="http://schemas.openxmlformats.org/drawingml/2006/main">
            <a:off x="704850" y="2009775"/>
            <a:ext cx="3333750" cy="76200"/>
          </a:xfrm>
          <a:prstGeom xmlns:a="http://schemas.openxmlformats.org/drawingml/2006/main" prst="rect">
            <a:avLst/>
          </a:prstGeom>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2E02B8-D3B9-4783-B7D5-250368792323}"/>
              </a:ext>
            </a:extLst>
          </p:cNvPr>
          <p:cNvSpPr>
            <a:spLocks xmlns:a="http://schemas.openxmlformats.org/drawingml/2006/main" noGrp="1"/>
          </p:cNvSpPr>
          <p:nvPr/>
        </p:nvSpPr>
        <p:spPr>
          <a:xfrm xmlns:a="http://schemas.openxmlformats.org/drawingml/2006/main">
            <a:off x="914400" y="2295525"/>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75" b="1">
                <a:solidFill>
                  <a:srgbClr val="183244"/>
                </a:solidFill>
                <a:latin typeface="Arial"/>
                <a:ea typeface="Arial"/>
                <a:cs typeface="Arial"/>
              </a:defRPr>
            </a:defPPr>
          </a:lstStyle>
          <a:p xmlns:a="http://schemas.openxmlformats.org/drawingml/2006/main">
            <a:pPr>
              <a:defRPr sz="975" b="1">
                <a:solidFill>
                  <a:srgbClr val="183244"/>
                </a:solidFill>
                <a:latin typeface="Arial"/>
                <a:ea typeface="Arial"/>
                <a:cs typeface="Arial"/>
              </a:defRPr>
            </a:pPr>
            <a:r>
              <a:rPr sz="975" b="1">
                <a:solidFill>
                  <a:srgbClr val="183244"/>
                </a:solidFill>
                <a:latin typeface="Arial"/>
                <a:ea typeface="Arial"/>
                <a:cs typeface="Arial"/>
              </a:rPr>
              <a:t>01  Deterministic checks</a:t>
            </a:r>
          </a:p>
        </p:txBody>
      </p:sp>
      <p:sp>
        <p:nvSpPr>
          <p:cNvPr id="10" name="">
            <a:extLst xmlns:a="http://schemas.openxmlformats.org/drawingml/2006/main">
              <a:ext uri="{FF2B5EF4-FFF2-40B4-BE49-F238E27FC236}">
                <a16:creationId xmlns:a16="http://schemas.microsoft.com/office/drawing/2014/main" id="{11D438D7-7F49-4F74-A23A-96170921C258}"/>
              </a:ext>
            </a:extLst>
          </p:cNvPr>
          <p:cNvSpPr>
            <a:spLocks xmlns:a="http://schemas.openxmlformats.org/drawingml/2006/main" noGrp="1"/>
          </p:cNvSpPr>
          <p:nvPr/>
        </p:nvSpPr>
        <p:spPr>
          <a:xfrm xmlns:a="http://schemas.openxmlformats.org/drawingml/2006/main">
            <a:off x="914400" y="2762250"/>
            <a:ext cx="2876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183244"/>
                </a:solidFill>
                <a:latin typeface="Arial"/>
                <a:ea typeface="Arial"/>
                <a:cs typeface="Arial"/>
              </a:defRPr>
            </a:defPPr>
          </a:lstStyle>
          <a:p xmlns:a="http://schemas.openxmlformats.org/drawingml/2006/main">
            <a:pPr>
              <a:defRPr sz="1650" b="1">
                <a:solidFill>
                  <a:srgbClr val="183244"/>
                </a:solidFill>
                <a:latin typeface="Arial"/>
                <a:ea typeface="Arial"/>
                <a:cs typeface="Arial"/>
              </a:defRPr>
            </a:pPr>
            <a:r>
              <a:rPr sz="1650" b="1">
                <a:solidFill>
                  <a:srgbClr val="183244"/>
                </a:solidFill>
                <a:latin typeface="Arial"/>
                <a:ea typeface="Arial"/>
                <a:cs typeface="Arial"/>
              </a:rPr>
              <a:t>Repeatable observations</a:t>
            </a:r>
          </a:p>
        </p:txBody>
      </p:sp>
      <p:sp>
        <p:nvSpPr>
          <p:cNvPr id="11" name="">
            <a:extLst xmlns:a="http://schemas.openxmlformats.org/drawingml/2006/main">
              <a:ext uri="{FF2B5EF4-FFF2-40B4-BE49-F238E27FC236}">
                <a16:creationId xmlns:a16="http://schemas.microsoft.com/office/drawing/2014/main" id="{A15EBDB8-3488-44F5-B16C-F00172435A50}"/>
              </a:ext>
            </a:extLst>
          </p:cNvPr>
          <p:cNvSpPr>
            <a:spLocks xmlns:a="http://schemas.openxmlformats.org/drawingml/2006/main" noGrp="1"/>
          </p:cNvSpPr>
          <p:nvPr/>
        </p:nvSpPr>
        <p:spPr>
          <a:xfrm xmlns:a="http://schemas.openxmlformats.org/drawingml/2006/main">
            <a:off x="914400" y="35623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0">
                <a:solidFill>
                  <a:srgbClr val="597180"/>
                </a:solidFill>
                <a:latin typeface="Arial"/>
                <a:ea typeface="Arial"/>
                <a:cs typeface="Arial"/>
              </a:defRPr>
            </a:defPPr>
          </a:lstStyle>
          <a:p xmlns:a="http://schemas.openxmlformats.org/drawingml/2006/main">
            <a:pPr>
              <a:defRPr sz="1200" b="0">
                <a:solidFill>
                  <a:srgbClr val="597180"/>
                </a:solidFill>
                <a:latin typeface="Arial"/>
                <a:ea typeface="Arial"/>
                <a:cs typeface="Arial"/>
              </a:defRPr>
            </a:pPr>
            <a:r>
              <a:rPr sz="1200" b="0">
                <a:solidFill>
                  <a:srgbClr val="597180"/>
                </a:solidFill>
                <a:latin typeface="Arial"/>
                <a:ea typeface="Arial"/>
                <a:cs typeface="Arial"/>
              </a:rPr>
              <a:t>Example: a table has no declared primary key. The output is a finding with evidence, assumptions, and a certainty label.</a:t>
            </a:r>
          </a:p>
        </p:txBody>
      </p:sp>
      <p:sp>
        <p:nvSpPr>
          <p:cNvPr id="12" name="">
            <a:extLst xmlns:a="http://schemas.openxmlformats.org/drawingml/2006/main">
              <a:ext uri="{FF2B5EF4-FFF2-40B4-BE49-F238E27FC236}">
                <a16:creationId xmlns:a16="http://schemas.microsoft.com/office/drawing/2014/main" id="{775AE273-BB21-4F8A-93D4-A5E308AB5C56}"/>
              </a:ext>
            </a:extLst>
          </p:cNvPr>
          <p:cNvSpPr>
            <a:spLocks xmlns:a="http://schemas.openxmlformats.org/drawingml/2006/main" noGrp="1"/>
          </p:cNvSpPr>
          <p:nvPr/>
        </p:nvSpPr>
        <p:spPr>
          <a:xfrm xmlns:a="http://schemas.openxmlformats.org/drawingml/2006/main">
            <a:off x="4324350" y="2009775"/>
            <a:ext cx="3333750" cy="280035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D8E4E7"/>
            </a:solidFill>
          </a:ln>
        </p:spPr>
      </p:sp>
      <p:sp>
        <p:nvSpPr>
          <p:cNvPr id="13" name="">
            <a:extLst xmlns:a="http://schemas.openxmlformats.org/drawingml/2006/main">
              <a:ext uri="{FF2B5EF4-FFF2-40B4-BE49-F238E27FC236}">
                <a16:creationId xmlns:a16="http://schemas.microsoft.com/office/drawing/2014/main" id="{CACB447F-CABC-4368-A692-1F9A3ED62C69}"/>
              </a:ext>
            </a:extLst>
          </p:cNvPr>
          <p:cNvSpPr>
            <a:spLocks xmlns:a="http://schemas.openxmlformats.org/drawingml/2006/main" noGrp="1"/>
          </p:cNvSpPr>
          <p:nvPr/>
        </p:nvSpPr>
        <p:spPr>
          <a:xfrm xmlns:a="http://schemas.openxmlformats.org/drawingml/2006/main">
            <a:off x="4324350" y="2009775"/>
            <a:ext cx="3333750" cy="76200"/>
          </a:xfrm>
          <a:prstGeom xmlns:a="http://schemas.openxmlformats.org/drawingml/2006/main" prst="rect">
            <a:avLst/>
          </a:prstGeom>
          <a:solidFill xmlns:a="http://schemas.openxmlformats.org/drawingml/2006/main">
            <a:srgbClr val="7865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6C263E0-8A94-4C12-A53A-D2C04D27F768}"/>
              </a:ext>
            </a:extLst>
          </p:cNvPr>
          <p:cNvSpPr>
            <a:spLocks xmlns:a="http://schemas.openxmlformats.org/drawingml/2006/main" noGrp="1"/>
          </p:cNvSpPr>
          <p:nvPr/>
        </p:nvSpPr>
        <p:spPr>
          <a:xfrm xmlns:a="http://schemas.openxmlformats.org/drawingml/2006/main">
            <a:off x="4533900" y="2295525"/>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75" b="1">
                <a:solidFill>
                  <a:srgbClr val="7865BA"/>
                </a:solidFill>
                <a:latin typeface="Arial"/>
                <a:ea typeface="Arial"/>
                <a:cs typeface="Arial"/>
              </a:defRPr>
            </a:defPPr>
          </a:lstStyle>
          <a:p xmlns:a="http://schemas.openxmlformats.org/drawingml/2006/main">
            <a:pPr>
              <a:defRPr sz="975" b="1">
                <a:solidFill>
                  <a:srgbClr val="7865BA"/>
                </a:solidFill>
                <a:latin typeface="Arial"/>
                <a:ea typeface="Arial"/>
                <a:cs typeface="Arial"/>
              </a:defRPr>
            </a:pPr>
            <a:r>
              <a:rPr sz="975" b="1">
                <a:solidFill>
                  <a:srgbClr val="7865BA"/>
                </a:solidFill>
                <a:latin typeface="Arial"/>
                <a:ea typeface="Arial"/>
                <a:cs typeface="Arial"/>
              </a:rPr>
              <a:t>02  User supplied meaning</a:t>
            </a:r>
          </a:p>
        </p:txBody>
      </p:sp>
      <p:sp>
        <p:nvSpPr>
          <p:cNvPr id="15" name="">
            <a:extLst xmlns:a="http://schemas.openxmlformats.org/drawingml/2006/main">
              <a:ext uri="{FF2B5EF4-FFF2-40B4-BE49-F238E27FC236}">
                <a16:creationId xmlns:a16="http://schemas.microsoft.com/office/drawing/2014/main" id="{A05E5C7F-D385-4ACA-BC59-328A9E4349D8}"/>
              </a:ext>
            </a:extLst>
          </p:cNvPr>
          <p:cNvSpPr>
            <a:spLocks xmlns:a="http://schemas.openxmlformats.org/drawingml/2006/main" noGrp="1"/>
          </p:cNvSpPr>
          <p:nvPr/>
        </p:nvSpPr>
        <p:spPr>
          <a:xfrm xmlns:a="http://schemas.openxmlformats.org/drawingml/2006/main">
            <a:off x="4533900" y="2762250"/>
            <a:ext cx="2876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757"/>
          </a:bodyPr>
          <a:lstStyle xmlns:a="http://schemas.openxmlformats.org/drawingml/2006/main">
            <a:defPPr>
              <a:defRPr sz="1650" b="1">
                <a:solidFill>
                  <a:srgbClr val="183244"/>
                </a:solidFill>
                <a:latin typeface="Arial"/>
                <a:ea typeface="Arial"/>
                <a:cs typeface="Arial"/>
              </a:defRPr>
            </a:defPPr>
          </a:lstStyle>
          <a:p xmlns:a="http://schemas.openxmlformats.org/drawingml/2006/main">
            <a:pPr>
              <a:defRPr sz="1650" b="1">
                <a:solidFill>
                  <a:srgbClr val="183244"/>
                </a:solidFill>
                <a:latin typeface="Arial"/>
                <a:ea typeface="Arial"/>
                <a:cs typeface="Arial"/>
              </a:defRPr>
            </a:pPr>
            <a:r>
              <a:rPr sz="1650" b="1">
                <a:solidFill>
                  <a:srgbClr val="183244"/>
                </a:solidFill>
                <a:latin typeface="Arial"/>
                <a:ea typeface="Arial"/>
                <a:cs typeface="Arial"/>
              </a:rPr>
              <a:t>Business rules add context</a:t>
            </a:r>
          </a:p>
        </p:txBody>
      </p:sp>
      <p:sp>
        <p:nvSpPr>
          <p:cNvPr id="16" name="">
            <a:extLst xmlns:a="http://schemas.openxmlformats.org/drawingml/2006/main">
              <a:ext uri="{FF2B5EF4-FFF2-40B4-BE49-F238E27FC236}">
                <a16:creationId xmlns:a16="http://schemas.microsoft.com/office/drawing/2014/main" id="{36B84CCD-A69B-4A9D-B6A2-C7796A3EFBBD}"/>
              </a:ext>
            </a:extLst>
          </p:cNvPr>
          <p:cNvSpPr>
            <a:spLocks xmlns:a="http://schemas.openxmlformats.org/drawingml/2006/main" noGrp="1"/>
          </p:cNvSpPr>
          <p:nvPr/>
        </p:nvSpPr>
        <p:spPr>
          <a:xfrm xmlns:a="http://schemas.openxmlformats.org/drawingml/2006/main">
            <a:off x="4533900" y="35623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0">
                <a:solidFill>
                  <a:srgbClr val="597180"/>
                </a:solidFill>
                <a:latin typeface="Arial"/>
                <a:ea typeface="Arial"/>
                <a:cs typeface="Arial"/>
              </a:defRPr>
            </a:defPPr>
          </a:lstStyle>
          <a:p xmlns:a="http://schemas.openxmlformats.org/drawingml/2006/main">
            <a:pPr>
              <a:defRPr sz="1200" b="0">
                <a:solidFill>
                  <a:srgbClr val="597180"/>
                </a:solidFill>
                <a:latin typeface="Arial"/>
                <a:ea typeface="Arial"/>
                <a:cs typeface="Arial"/>
              </a:defRPr>
            </a:pPr>
            <a:r>
              <a:rPr sz="1200" b="0">
                <a:solidFill>
                  <a:srgbClr val="597180"/>
                </a:solidFill>
                <a:latin typeface="Arial"/>
                <a:ea typeface="Arial"/>
                <a:cs typeface="Arial"/>
              </a:rPr>
              <a:t>Normalization checks use confirmed functional dependencies. The result depends on whether those rules are complete and true.</a:t>
            </a:r>
          </a:p>
        </p:txBody>
      </p:sp>
      <p:sp>
        <p:nvSpPr>
          <p:cNvPr id="17" name="">
            <a:extLst xmlns:a="http://schemas.openxmlformats.org/drawingml/2006/main">
              <a:ext uri="{FF2B5EF4-FFF2-40B4-BE49-F238E27FC236}">
                <a16:creationId xmlns:a16="http://schemas.microsoft.com/office/drawing/2014/main" id="{E2D21031-C05D-447E-9EDF-22DA5BD23662}"/>
              </a:ext>
            </a:extLst>
          </p:cNvPr>
          <p:cNvSpPr>
            <a:spLocks xmlns:a="http://schemas.openxmlformats.org/drawingml/2006/main" noGrp="1"/>
          </p:cNvSpPr>
          <p:nvPr/>
        </p:nvSpPr>
        <p:spPr>
          <a:xfrm xmlns:a="http://schemas.openxmlformats.org/drawingml/2006/main">
            <a:off x="7943850" y="2009775"/>
            <a:ext cx="3333750" cy="280035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D8E4E7"/>
            </a:solidFill>
          </a:ln>
        </p:spPr>
      </p:sp>
      <p:sp>
        <p:nvSpPr>
          <p:cNvPr id="18" name="">
            <a:extLst xmlns:a="http://schemas.openxmlformats.org/drawingml/2006/main">
              <a:ext uri="{FF2B5EF4-FFF2-40B4-BE49-F238E27FC236}">
                <a16:creationId xmlns:a16="http://schemas.microsoft.com/office/drawing/2014/main" id="{D8F8DDA1-48FA-4928-8BF2-8DA146969CD1}"/>
              </a:ext>
            </a:extLst>
          </p:cNvPr>
          <p:cNvSpPr>
            <a:spLocks xmlns:a="http://schemas.openxmlformats.org/drawingml/2006/main" noGrp="1"/>
          </p:cNvSpPr>
          <p:nvPr/>
        </p:nvSpPr>
        <p:spPr>
          <a:xfrm xmlns:a="http://schemas.openxmlformats.org/drawingml/2006/main">
            <a:off x="7943850" y="2009775"/>
            <a:ext cx="3333750" cy="762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C99E49-0C15-4DAD-AAFB-76D41EA363C2}"/>
              </a:ext>
            </a:extLst>
          </p:cNvPr>
          <p:cNvSpPr>
            <a:spLocks xmlns:a="http://schemas.openxmlformats.org/drawingml/2006/main" noGrp="1"/>
          </p:cNvSpPr>
          <p:nvPr/>
        </p:nvSpPr>
        <p:spPr>
          <a:xfrm xmlns:a="http://schemas.openxmlformats.org/drawingml/2006/main">
            <a:off x="8153400" y="2295525"/>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75" b="1">
                <a:solidFill>
                  <a:srgbClr val="00A9B7"/>
                </a:solidFill>
                <a:latin typeface="Arial"/>
                <a:ea typeface="Arial"/>
                <a:cs typeface="Arial"/>
              </a:defRPr>
            </a:defPPr>
          </a:lstStyle>
          <a:p xmlns:a="http://schemas.openxmlformats.org/drawingml/2006/main">
            <a:pPr>
              <a:defRPr sz="975" b="1">
                <a:solidFill>
                  <a:srgbClr val="00A9B7"/>
                </a:solidFill>
                <a:latin typeface="Arial"/>
                <a:ea typeface="Arial"/>
                <a:cs typeface="Arial"/>
              </a:defRPr>
            </a:pPr>
            <a:r>
              <a:rPr sz="975" b="1">
                <a:solidFill>
                  <a:srgbClr val="00A9B7"/>
                </a:solidFill>
                <a:latin typeface="Arial"/>
                <a:ea typeface="Arial"/>
                <a:cs typeface="Arial"/>
              </a:rPr>
              <a:t>03  Optional AI assistant</a:t>
            </a:r>
          </a:p>
        </p:txBody>
      </p:sp>
      <p:sp>
        <p:nvSpPr>
          <p:cNvPr id="20" name="">
            <a:extLst xmlns:a="http://schemas.openxmlformats.org/drawingml/2006/main">
              <a:ext uri="{FF2B5EF4-FFF2-40B4-BE49-F238E27FC236}">
                <a16:creationId xmlns:a16="http://schemas.microsoft.com/office/drawing/2014/main" id="{2ACBB1D0-6E23-4EAE-934D-D3FF73AE5B2B}"/>
              </a:ext>
            </a:extLst>
          </p:cNvPr>
          <p:cNvSpPr>
            <a:spLocks xmlns:a="http://schemas.openxmlformats.org/drawingml/2006/main" noGrp="1"/>
          </p:cNvSpPr>
          <p:nvPr/>
        </p:nvSpPr>
        <p:spPr>
          <a:xfrm xmlns:a="http://schemas.openxmlformats.org/drawingml/2006/main">
            <a:off x="8153400" y="2762250"/>
            <a:ext cx="2876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48"/>
          </a:bodyPr>
          <a:lstStyle xmlns:a="http://schemas.openxmlformats.org/drawingml/2006/main">
            <a:defPPr>
              <a:defRPr sz="1650" b="1">
                <a:solidFill>
                  <a:srgbClr val="183244"/>
                </a:solidFill>
                <a:latin typeface="Arial"/>
                <a:ea typeface="Arial"/>
                <a:cs typeface="Arial"/>
              </a:defRPr>
            </a:defPPr>
          </a:lstStyle>
          <a:p xmlns:a="http://schemas.openxmlformats.org/drawingml/2006/main">
            <a:pPr>
              <a:defRPr sz="1650" b="1">
                <a:solidFill>
                  <a:srgbClr val="183244"/>
                </a:solidFill>
                <a:latin typeface="Arial"/>
                <a:ea typeface="Arial"/>
                <a:cs typeface="Arial"/>
              </a:defRPr>
            </a:pPr>
            <a:r>
              <a:rPr sz="1650" b="1">
                <a:solidFill>
                  <a:srgbClr val="183244"/>
                </a:solidFill>
                <a:latin typeface="Arial"/>
                <a:ea typeface="Arial"/>
                <a:cs typeface="Arial"/>
              </a:rPr>
              <a:t>Flexible explanation, limited tools</a:t>
            </a:r>
          </a:p>
        </p:txBody>
      </p:sp>
      <p:sp>
        <p:nvSpPr>
          <p:cNvPr id="21" name="">
            <a:extLst xmlns:a="http://schemas.openxmlformats.org/drawingml/2006/main">
              <a:ext uri="{FF2B5EF4-FFF2-40B4-BE49-F238E27FC236}">
                <a16:creationId xmlns:a16="http://schemas.microsoft.com/office/drawing/2014/main" id="{7C04BBDD-1BD3-4CB0-A62D-04D742B58FF1}"/>
              </a:ext>
            </a:extLst>
          </p:cNvPr>
          <p:cNvSpPr>
            <a:spLocks xmlns:a="http://schemas.openxmlformats.org/drawingml/2006/main" noGrp="1"/>
          </p:cNvSpPr>
          <p:nvPr/>
        </p:nvSpPr>
        <p:spPr>
          <a:xfrm xmlns:a="http://schemas.openxmlformats.org/drawingml/2006/main">
            <a:off x="8153400" y="35623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0">
                <a:solidFill>
                  <a:srgbClr val="597180"/>
                </a:solidFill>
                <a:latin typeface="Arial"/>
                <a:ea typeface="Arial"/>
                <a:cs typeface="Arial"/>
              </a:defRPr>
            </a:defPPr>
          </a:lstStyle>
          <a:p xmlns:a="http://schemas.openxmlformats.org/drawingml/2006/main">
            <a:pPr>
              <a:defRPr sz="1200" b="0">
                <a:solidFill>
                  <a:srgbClr val="597180"/>
                </a:solidFill>
                <a:latin typeface="Arial"/>
                <a:ea typeface="Arial"/>
                <a:cs typeface="Arial"/>
              </a:defRPr>
            </a:pPr>
            <a:r>
              <a:rPr sz="1200" b="0">
                <a:solidFill>
                  <a:srgbClr val="597180"/>
                </a:solidFill>
                <a:latin typeface="Arial"/>
                <a:ea typeface="Arial"/>
                <a:cs typeface="Arial"/>
              </a:rPr>
              <a:t>With explicit opt-in, the model can inspect objects, findings, or business rules, then cite saved evidence.</a:t>
            </a:r>
          </a:p>
        </p:txBody>
      </p:sp>
      <p:sp>
        <p:nvSpPr>
          <p:cNvPr id="22" name="">
            <a:extLst xmlns:a="http://schemas.openxmlformats.org/drawingml/2006/main">
              <a:ext uri="{FF2B5EF4-FFF2-40B4-BE49-F238E27FC236}">
                <a16:creationId xmlns:a16="http://schemas.microsoft.com/office/drawing/2014/main" id="{E181F1BF-B71C-4186-8A9D-45A34AA970E9}"/>
              </a:ext>
            </a:extLst>
          </p:cNvPr>
          <p:cNvSpPr>
            <a:spLocks xmlns:a="http://schemas.openxmlformats.org/drawingml/2006/main" noGrp="1"/>
          </p:cNvSpPr>
          <p:nvPr/>
        </p:nvSpPr>
        <p:spPr>
          <a:xfrm xmlns:a="http://schemas.openxmlformats.org/drawingml/2006/main">
            <a:off x="704850" y="5191125"/>
            <a:ext cx="10572750" cy="533400"/>
          </a:xfrm>
          <a:prstGeom xmlns:a="http://schemas.openxmlformats.org/drawingml/2006/main" prst="roundRect">
            <a:avLst>
              <a:gd name="adj" fmla="val 21429"/>
            </a:avLst>
          </a:prstGeom>
          <a:solidFill xmlns:a="http://schemas.openxmlformats.org/drawingml/2006/main">
            <a:srgbClr val="071A2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C0CAB4C-AA88-4A2A-A5FA-9ECA63A71381}"/>
              </a:ext>
            </a:extLst>
          </p:cNvPr>
          <p:cNvSpPr>
            <a:spLocks xmlns:a="http://schemas.openxmlformats.org/drawingml/2006/main" noGrp="1"/>
          </p:cNvSpPr>
          <p:nvPr/>
        </p:nvSpPr>
        <p:spPr>
          <a:xfrm xmlns:a="http://schemas.openxmlformats.org/drawingml/2006/main">
            <a:off x="904875" y="52959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The model has no general SQL execution or schema-change tool.</a:t>
            </a:r>
          </a:p>
        </p:txBody>
      </p:sp>
    </p:spTree>
    <p:extLst>
      <p:ext uri="{BB962C8B-B14F-4D97-AF65-F5344CB8AC3E}">
        <p14:creationId xmlns:p14="http://schemas.microsoft.com/office/powerpoint/2010/main" val="74806841"/>
      </p:ext>
    </p:extLst>
  </p:cSld>
</p:sld>
</file>

<file path=ppt/slides/slide8.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2C1335D-4A6B-4482-A03D-D3BA236CBB2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FFEF4B-A439-4C5C-87FE-8D28B50DBFC6}"/>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The Design Lab helps investigate tradeoffs</a:t>
            </a:r>
          </a:p>
        </p:txBody>
      </p:sp>
      <p:sp>
        <p:nvSpPr>
          <p:cNvPr id="3" name="">
            <a:extLst xmlns:a="http://schemas.openxmlformats.org/drawingml/2006/main">
              <a:ext uri="{FF2B5EF4-FFF2-40B4-BE49-F238E27FC236}">
                <a16:creationId xmlns:a16="http://schemas.microsoft.com/office/drawing/2014/main" id="{2A71EC3D-BED4-4A9B-B464-56AF2EF2E6BA}"/>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Each report has a different evidence base, so its limits travel with the result.</a:t>
            </a:r>
          </a:p>
        </p:txBody>
      </p:sp>
      <p:sp>
        <p:nvSpPr>
          <p:cNvPr id="4" name="">
            <a:extLst xmlns:a="http://schemas.openxmlformats.org/drawingml/2006/main">
              <a:ext uri="{FF2B5EF4-FFF2-40B4-BE49-F238E27FC236}">
                <a16:creationId xmlns:a16="http://schemas.microsoft.com/office/drawing/2014/main" id="{AC73588A-9253-4B5C-AD5D-64B3F4D144AC}"/>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EE9FC3-5224-48DF-8FFC-4DAC93A85F00}"/>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F5B3591A-A49E-4C45-BEE1-3BA8C07369EC}"/>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57E078CD-1A62-488A-B9C1-56172E745596}"/>
              </a:ext>
            </a:extLst>
          </p:cNvPr>
          <p:cNvSpPr>
            <a:spLocks xmlns:a="http://schemas.openxmlformats.org/drawingml/2006/main" noGrp="1"/>
          </p:cNvSpPr>
          <p:nvPr/>
        </p:nvSpPr>
        <p:spPr>
          <a:xfrm xmlns:a="http://schemas.openxmlformats.org/drawingml/2006/main">
            <a:off x="723900" y="17430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defPPr>
              <a:defRPr sz="900" b="1">
                <a:solidFill>
                  <a:srgbClr val="00A9B7"/>
                </a:solidFill>
                <a:latin typeface="Arial"/>
                <a:ea typeface="Arial"/>
                <a:cs typeface="Arial"/>
              </a:defRPr>
            </a:defPPr>
          </a:lstStyle>
          <a:p xmlns:a="http://schemas.openxmlformats.org/drawingml/2006/main">
            <a:pPr>
              <a:defRPr sz="900" b="1">
                <a:solidFill>
                  <a:srgbClr val="00A9B7"/>
                </a:solidFill>
                <a:latin typeface="Arial"/>
                <a:ea typeface="Arial"/>
                <a:cs typeface="Arial"/>
              </a:defRPr>
            </a:pPr>
            <a:r>
              <a:rPr sz="900" b="1">
                <a:solidFill>
                  <a:srgbClr val="00A9B7"/>
                </a:solidFill>
                <a:latin typeface="Arial"/>
                <a:ea typeface="Arial"/>
                <a:cs typeface="Arial"/>
              </a:rPr>
              <a:t>TOOL</a:t>
            </a:r>
          </a:p>
        </p:txBody>
      </p:sp>
      <p:sp>
        <p:nvSpPr>
          <p:cNvPr id="8" name="">
            <a:extLst xmlns:a="http://schemas.openxmlformats.org/drawingml/2006/main">
              <a:ext uri="{FF2B5EF4-FFF2-40B4-BE49-F238E27FC236}">
                <a16:creationId xmlns:a16="http://schemas.microsoft.com/office/drawing/2014/main" id="{F4021612-6780-40F4-B9B2-D8B15AAA391B}"/>
              </a:ext>
            </a:extLst>
          </p:cNvPr>
          <p:cNvSpPr>
            <a:spLocks xmlns:a="http://schemas.openxmlformats.org/drawingml/2006/main" noGrp="1"/>
          </p:cNvSpPr>
          <p:nvPr/>
        </p:nvSpPr>
        <p:spPr>
          <a:xfrm xmlns:a="http://schemas.openxmlformats.org/drawingml/2006/main">
            <a:off x="3200400" y="1743075"/>
            <a:ext cx="3476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defPPr>
              <a:defRPr sz="900" b="1">
                <a:solidFill>
                  <a:srgbClr val="00A9B7"/>
                </a:solidFill>
                <a:latin typeface="Arial"/>
                <a:ea typeface="Arial"/>
                <a:cs typeface="Arial"/>
              </a:defRPr>
            </a:defPPr>
          </a:lstStyle>
          <a:p xmlns:a="http://schemas.openxmlformats.org/drawingml/2006/main">
            <a:pPr>
              <a:defRPr sz="900" b="1">
                <a:solidFill>
                  <a:srgbClr val="00A9B7"/>
                </a:solidFill>
                <a:latin typeface="Arial"/>
                <a:ea typeface="Arial"/>
                <a:cs typeface="Arial"/>
              </a:defRPr>
            </a:pPr>
            <a:r>
              <a:rPr sz="900" b="1">
                <a:solidFill>
                  <a:srgbClr val="00A9B7"/>
                </a:solidFill>
                <a:latin typeface="Arial"/>
                <a:ea typeface="Arial"/>
                <a:cs typeface="Arial"/>
              </a:rPr>
              <a:t>WHAT IT USES</a:t>
            </a:r>
          </a:p>
        </p:txBody>
      </p:sp>
      <p:sp>
        <p:nvSpPr>
          <p:cNvPr id="9" name="">
            <a:extLst xmlns:a="http://schemas.openxmlformats.org/drawingml/2006/main">
              <a:ext uri="{FF2B5EF4-FFF2-40B4-BE49-F238E27FC236}">
                <a16:creationId xmlns:a16="http://schemas.microsoft.com/office/drawing/2014/main" id="{45C3436B-AF7E-4DC9-90BB-0B7660CDB9FF}"/>
              </a:ext>
            </a:extLst>
          </p:cNvPr>
          <p:cNvSpPr>
            <a:spLocks xmlns:a="http://schemas.openxmlformats.org/drawingml/2006/main" noGrp="1"/>
          </p:cNvSpPr>
          <p:nvPr/>
        </p:nvSpPr>
        <p:spPr>
          <a:xfrm xmlns:a="http://schemas.openxmlformats.org/drawingml/2006/main">
            <a:off x="7143750" y="1743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defPPr>
              <a:defRPr sz="900" b="1">
                <a:solidFill>
                  <a:srgbClr val="00A9B7"/>
                </a:solidFill>
                <a:latin typeface="Arial"/>
                <a:ea typeface="Arial"/>
                <a:cs typeface="Arial"/>
              </a:defRPr>
            </a:defPPr>
          </a:lstStyle>
          <a:p xmlns:a="http://schemas.openxmlformats.org/drawingml/2006/main">
            <a:pPr>
              <a:defRPr sz="900" b="1">
                <a:solidFill>
                  <a:srgbClr val="00A9B7"/>
                </a:solidFill>
                <a:latin typeface="Arial"/>
                <a:ea typeface="Arial"/>
                <a:cs typeface="Arial"/>
              </a:defRPr>
            </a:pPr>
            <a:r>
              <a:rPr sz="900" b="1">
                <a:solidFill>
                  <a:srgbClr val="00A9B7"/>
                </a:solidFill>
                <a:latin typeface="Arial"/>
                <a:ea typeface="Arial"/>
                <a:cs typeface="Arial"/>
              </a:rPr>
              <a:t>HOW TO READ THE RESULT</a:t>
            </a:r>
          </a:p>
        </p:txBody>
      </p:sp>
      <p:sp>
        <p:nvSpPr>
          <p:cNvPr id="10" name="">
            <a:extLst xmlns:a="http://schemas.openxmlformats.org/drawingml/2006/main">
              <a:ext uri="{FF2B5EF4-FFF2-40B4-BE49-F238E27FC236}">
                <a16:creationId xmlns:a16="http://schemas.microsoft.com/office/drawing/2014/main" id="{EE22243D-7072-416E-A6CA-D753B32A08F1}"/>
              </a:ext>
            </a:extLst>
          </p:cNvPr>
          <p:cNvSpPr>
            <a:spLocks xmlns:a="http://schemas.openxmlformats.org/drawingml/2006/main" noGrp="1"/>
          </p:cNvSpPr>
          <p:nvPr/>
        </p:nvSpPr>
        <p:spPr>
          <a:xfrm xmlns:a="http://schemas.openxmlformats.org/drawingml/2006/main">
            <a:off x="704850" y="2047875"/>
            <a:ext cx="10572750" cy="19050"/>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AE536E-02FA-4335-9BD7-24599A42BAF8}"/>
              </a:ext>
            </a:extLst>
          </p:cNvPr>
          <p:cNvSpPr>
            <a:spLocks xmlns:a="http://schemas.openxmlformats.org/drawingml/2006/main" noGrp="1"/>
          </p:cNvSpPr>
          <p:nvPr/>
        </p:nvSpPr>
        <p:spPr>
          <a:xfrm xmlns:a="http://schemas.openxmlformats.org/drawingml/2006/main">
            <a:off x="723900" y="2181225"/>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183244"/>
                </a:solidFill>
                <a:latin typeface="Arial"/>
                <a:ea typeface="Arial"/>
                <a:cs typeface="Arial"/>
              </a:defRPr>
            </a:defPPr>
          </a:lstStyle>
          <a:p xmlns:a="http://schemas.openxmlformats.org/drawingml/2006/main">
            <a:pPr>
              <a:defRPr sz="1125" b="1">
                <a:solidFill>
                  <a:srgbClr val="183244"/>
                </a:solidFill>
                <a:latin typeface="Arial"/>
                <a:ea typeface="Arial"/>
                <a:cs typeface="Arial"/>
              </a:defRPr>
            </a:pPr>
            <a:r>
              <a:rPr sz="1125" b="1">
                <a:solidFill>
                  <a:srgbClr val="183244"/>
                </a:solidFill>
                <a:latin typeface="Arial"/>
                <a:ea typeface="Arial"/>
                <a:cs typeface="Arial"/>
              </a:rPr>
              <a:t>Normalization</a:t>
            </a:r>
          </a:p>
        </p:txBody>
      </p:sp>
      <p:sp>
        <p:nvSpPr>
          <p:cNvPr id="12" name="">
            <a:extLst xmlns:a="http://schemas.openxmlformats.org/drawingml/2006/main">
              <a:ext uri="{FF2B5EF4-FFF2-40B4-BE49-F238E27FC236}">
                <a16:creationId xmlns:a16="http://schemas.microsoft.com/office/drawing/2014/main" id="{7E621CF5-6D28-4EEC-8E02-E8EFC9A4A483}"/>
              </a:ext>
            </a:extLst>
          </p:cNvPr>
          <p:cNvSpPr>
            <a:spLocks xmlns:a="http://schemas.openxmlformats.org/drawingml/2006/main" noGrp="1"/>
          </p:cNvSpPr>
          <p:nvPr/>
        </p:nvSpPr>
        <p:spPr>
          <a:xfrm xmlns:a="http://schemas.openxmlformats.org/drawingml/2006/main">
            <a:off x="3200400" y="2181225"/>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Checks supplied dependencies</a:t>
            </a:r>
          </a:p>
        </p:txBody>
      </p:sp>
      <p:sp>
        <p:nvSpPr>
          <p:cNvPr id="13" name="">
            <a:extLst xmlns:a="http://schemas.openxmlformats.org/drawingml/2006/main">
              <a:ext uri="{FF2B5EF4-FFF2-40B4-BE49-F238E27FC236}">
                <a16:creationId xmlns:a16="http://schemas.microsoft.com/office/drawing/2014/main" id="{8FB3612F-B139-4097-9F15-84D230763BF0}"/>
              </a:ext>
            </a:extLst>
          </p:cNvPr>
          <p:cNvSpPr>
            <a:spLocks xmlns:a="http://schemas.openxmlformats.org/drawingml/2006/main" noGrp="1"/>
          </p:cNvSpPr>
          <p:nvPr/>
        </p:nvSpPr>
        <p:spPr>
          <a:xfrm xmlns:a="http://schemas.openxmlformats.org/drawingml/2006/main">
            <a:off x="7143750" y="2181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Business rules may be incomplete</a:t>
            </a:r>
          </a:p>
        </p:txBody>
      </p:sp>
      <p:sp>
        <p:nvSpPr>
          <p:cNvPr id="14" name="">
            <a:extLst xmlns:a="http://schemas.openxmlformats.org/drawingml/2006/main">
              <a:ext uri="{FF2B5EF4-FFF2-40B4-BE49-F238E27FC236}">
                <a16:creationId xmlns:a16="http://schemas.microsoft.com/office/drawing/2014/main" id="{67CCFB99-575F-4E00-A7EF-E551C4578CD3}"/>
              </a:ext>
            </a:extLst>
          </p:cNvPr>
          <p:cNvSpPr>
            <a:spLocks xmlns:a="http://schemas.openxmlformats.org/drawingml/2006/main" noGrp="1"/>
          </p:cNvSpPr>
          <p:nvPr/>
        </p:nvSpPr>
        <p:spPr>
          <a:xfrm xmlns:a="http://schemas.openxmlformats.org/drawingml/2006/main">
            <a:off x="704850" y="2600325"/>
            <a:ext cx="105727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EFFEDE4-C1ED-4193-BE16-FF74B28BD626}"/>
              </a:ext>
            </a:extLst>
          </p:cNvPr>
          <p:cNvSpPr>
            <a:spLocks xmlns:a="http://schemas.openxmlformats.org/drawingml/2006/main" noGrp="1"/>
          </p:cNvSpPr>
          <p:nvPr/>
        </p:nvSpPr>
        <p:spPr>
          <a:xfrm xmlns:a="http://schemas.openxmlformats.org/drawingml/2006/main">
            <a:off x="723900" y="272415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183244"/>
                </a:solidFill>
                <a:latin typeface="Arial"/>
                <a:ea typeface="Arial"/>
                <a:cs typeface="Arial"/>
              </a:defRPr>
            </a:defPPr>
          </a:lstStyle>
          <a:p xmlns:a="http://schemas.openxmlformats.org/drawingml/2006/main">
            <a:pPr>
              <a:defRPr sz="1125" b="1">
                <a:solidFill>
                  <a:srgbClr val="183244"/>
                </a:solidFill>
                <a:latin typeface="Arial"/>
                <a:ea typeface="Arial"/>
                <a:cs typeface="Arial"/>
              </a:defRPr>
            </a:pPr>
            <a:r>
              <a:rPr sz="1125" b="1">
                <a:solidFill>
                  <a:srgbClr val="183244"/>
                </a:solidFill>
                <a:latin typeface="Arial"/>
                <a:ea typeface="Arial"/>
                <a:cs typeface="Arial"/>
              </a:rPr>
              <a:t>Profiling</a:t>
            </a:r>
          </a:p>
        </p:txBody>
      </p:sp>
      <p:sp>
        <p:nvSpPr>
          <p:cNvPr id="16" name="">
            <a:extLst xmlns:a="http://schemas.openxmlformats.org/drawingml/2006/main">
              <a:ext uri="{FF2B5EF4-FFF2-40B4-BE49-F238E27FC236}">
                <a16:creationId xmlns:a16="http://schemas.microsoft.com/office/drawing/2014/main" id="{479E00A6-61CD-4A87-8D2D-62C8F638E3B7}"/>
              </a:ext>
            </a:extLst>
          </p:cNvPr>
          <p:cNvSpPr>
            <a:spLocks xmlns:a="http://schemas.openxmlformats.org/drawingml/2006/main" noGrp="1"/>
          </p:cNvSpPr>
          <p:nvPr/>
        </p:nvSpPr>
        <p:spPr>
          <a:xfrm xmlns:a="http://schemas.openxmlformats.org/drawingml/2006/main">
            <a:off x="3200400" y="2724150"/>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Samples up to 1,000 rows per table</a:t>
            </a:r>
          </a:p>
        </p:txBody>
      </p:sp>
      <p:sp>
        <p:nvSpPr>
          <p:cNvPr id="17" name="">
            <a:extLst xmlns:a="http://schemas.openxmlformats.org/drawingml/2006/main">
              <a:ext uri="{FF2B5EF4-FFF2-40B4-BE49-F238E27FC236}">
                <a16:creationId xmlns:a16="http://schemas.microsoft.com/office/drawing/2014/main" id="{B306BCED-7963-4DA8-83E5-A2A62377B745}"/>
              </a:ext>
            </a:extLst>
          </p:cNvPr>
          <p:cNvSpPr>
            <a:spLocks xmlns:a="http://schemas.openxmlformats.org/drawingml/2006/main" noGrp="1"/>
          </p:cNvSpPr>
          <p:nvPr/>
        </p:nvSpPr>
        <p:spPr>
          <a:xfrm xmlns:a="http://schemas.openxmlformats.org/drawingml/2006/main">
            <a:off x="7143750" y="27241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Sample may not represent all rows</a:t>
            </a:r>
          </a:p>
        </p:txBody>
      </p:sp>
      <p:sp>
        <p:nvSpPr>
          <p:cNvPr id="18" name="">
            <a:extLst xmlns:a="http://schemas.openxmlformats.org/drawingml/2006/main">
              <a:ext uri="{FF2B5EF4-FFF2-40B4-BE49-F238E27FC236}">
                <a16:creationId xmlns:a16="http://schemas.microsoft.com/office/drawing/2014/main" id="{2213709C-B3E4-4FC3-BCC4-34CD59585D93}"/>
              </a:ext>
            </a:extLst>
          </p:cNvPr>
          <p:cNvSpPr>
            <a:spLocks xmlns:a="http://schemas.openxmlformats.org/drawingml/2006/main" noGrp="1"/>
          </p:cNvSpPr>
          <p:nvPr/>
        </p:nvSpPr>
        <p:spPr>
          <a:xfrm xmlns:a="http://schemas.openxmlformats.org/drawingml/2006/main">
            <a:off x="704850" y="3143250"/>
            <a:ext cx="105727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6A5DE7E-F1DB-4499-AD5C-B793EFD0C792}"/>
              </a:ext>
            </a:extLst>
          </p:cNvPr>
          <p:cNvSpPr>
            <a:spLocks xmlns:a="http://schemas.openxmlformats.org/drawingml/2006/main" noGrp="1"/>
          </p:cNvSpPr>
          <p:nvPr/>
        </p:nvSpPr>
        <p:spPr>
          <a:xfrm xmlns:a="http://schemas.openxmlformats.org/drawingml/2006/main">
            <a:off x="723900" y="3267075"/>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183244"/>
                </a:solidFill>
                <a:latin typeface="Arial"/>
                <a:ea typeface="Arial"/>
                <a:cs typeface="Arial"/>
              </a:defRPr>
            </a:defPPr>
          </a:lstStyle>
          <a:p xmlns:a="http://schemas.openxmlformats.org/drawingml/2006/main">
            <a:pPr>
              <a:defRPr sz="1125" b="1">
                <a:solidFill>
                  <a:srgbClr val="183244"/>
                </a:solidFill>
                <a:latin typeface="Arial"/>
                <a:ea typeface="Arial"/>
                <a:cs typeface="Arial"/>
              </a:defRPr>
            </a:pPr>
            <a:r>
              <a:rPr sz="1125" b="1">
                <a:solidFill>
                  <a:srgbClr val="183244"/>
                </a:solidFill>
                <a:latin typeface="Arial"/>
                <a:ea typeface="Arial"/>
                <a:cs typeface="Arial"/>
              </a:rPr>
              <a:t>Workload + indexes</a:t>
            </a:r>
          </a:p>
        </p:txBody>
      </p:sp>
      <p:sp>
        <p:nvSpPr>
          <p:cNvPr id="20" name="">
            <a:extLst xmlns:a="http://schemas.openxmlformats.org/drawingml/2006/main">
              <a:ext uri="{FF2B5EF4-FFF2-40B4-BE49-F238E27FC236}">
                <a16:creationId xmlns:a16="http://schemas.microsoft.com/office/drawing/2014/main" id="{87B861B3-30B9-4754-8029-38617CFBF315}"/>
              </a:ext>
            </a:extLst>
          </p:cNvPr>
          <p:cNvSpPr>
            <a:spLocks xmlns:a="http://schemas.openxmlformats.org/drawingml/2006/main" noGrp="1"/>
          </p:cNvSpPr>
          <p:nvPr/>
        </p:nvSpPr>
        <p:spPr>
          <a:xfrm xmlns:a="http://schemas.openxmlformats.org/drawingml/2006/main">
            <a:off x="3200400" y="3267075"/>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Fingerprints SQL and suggests candidates</a:t>
            </a:r>
          </a:p>
        </p:txBody>
      </p:sp>
      <p:sp>
        <p:nvSpPr>
          <p:cNvPr id="21" name="">
            <a:extLst xmlns:a="http://schemas.openxmlformats.org/drawingml/2006/main">
              <a:ext uri="{FF2B5EF4-FFF2-40B4-BE49-F238E27FC236}">
                <a16:creationId xmlns:a16="http://schemas.microsoft.com/office/drawing/2014/main" id="{D6EEB4A4-D5C1-4243-A743-A768A087DB0B}"/>
              </a:ext>
            </a:extLst>
          </p:cNvPr>
          <p:cNvSpPr>
            <a:spLocks xmlns:a="http://schemas.openxmlformats.org/drawingml/2006/main" noGrp="1"/>
          </p:cNvSpPr>
          <p:nvPr/>
        </p:nvSpPr>
        <p:spPr>
          <a:xfrm xmlns:a="http://schemas.openxmlformats.org/drawingml/2006/main">
            <a:off x="7143750" y="32670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Candidate needs plan and write-cost review</a:t>
            </a:r>
          </a:p>
        </p:txBody>
      </p:sp>
      <p:sp>
        <p:nvSpPr>
          <p:cNvPr id="22" name="">
            <a:extLst xmlns:a="http://schemas.openxmlformats.org/drawingml/2006/main">
              <a:ext uri="{FF2B5EF4-FFF2-40B4-BE49-F238E27FC236}">
                <a16:creationId xmlns:a16="http://schemas.microsoft.com/office/drawing/2014/main" id="{707ACD9E-855B-4CF4-A7B8-2897808C2FD5}"/>
              </a:ext>
            </a:extLst>
          </p:cNvPr>
          <p:cNvSpPr>
            <a:spLocks xmlns:a="http://schemas.openxmlformats.org/drawingml/2006/main" noGrp="1"/>
          </p:cNvSpPr>
          <p:nvPr/>
        </p:nvSpPr>
        <p:spPr>
          <a:xfrm xmlns:a="http://schemas.openxmlformats.org/drawingml/2006/main">
            <a:off x="704850" y="3686175"/>
            <a:ext cx="105727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E01C49-C8D9-43A9-8833-A63054D6A27D}"/>
              </a:ext>
            </a:extLst>
          </p:cNvPr>
          <p:cNvSpPr>
            <a:spLocks xmlns:a="http://schemas.openxmlformats.org/drawingml/2006/main" noGrp="1"/>
          </p:cNvSpPr>
          <p:nvPr/>
        </p:nvSpPr>
        <p:spPr>
          <a:xfrm xmlns:a="http://schemas.openxmlformats.org/drawingml/2006/main">
            <a:off x="723900" y="381000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183244"/>
                </a:solidFill>
                <a:latin typeface="Arial"/>
                <a:ea typeface="Arial"/>
                <a:cs typeface="Arial"/>
              </a:defRPr>
            </a:defPPr>
          </a:lstStyle>
          <a:p xmlns:a="http://schemas.openxmlformats.org/drawingml/2006/main">
            <a:pPr>
              <a:defRPr sz="1125" b="1">
                <a:solidFill>
                  <a:srgbClr val="183244"/>
                </a:solidFill>
                <a:latin typeface="Arial"/>
                <a:ea typeface="Arial"/>
                <a:cs typeface="Arial"/>
              </a:defRPr>
            </a:pPr>
            <a:r>
              <a:rPr sz="1125" b="1">
                <a:solidFill>
                  <a:srgbClr val="183244"/>
                </a:solidFill>
                <a:latin typeface="Arial"/>
                <a:ea typeface="Arial"/>
                <a:cs typeface="Arial"/>
              </a:rPr>
              <a:t>Engine suitability</a:t>
            </a:r>
          </a:p>
        </p:txBody>
      </p:sp>
      <p:sp>
        <p:nvSpPr>
          <p:cNvPr id="24" name="">
            <a:extLst xmlns:a="http://schemas.openxmlformats.org/drawingml/2006/main">
              <a:ext uri="{FF2B5EF4-FFF2-40B4-BE49-F238E27FC236}">
                <a16:creationId xmlns:a16="http://schemas.microsoft.com/office/drawing/2014/main" id="{2DBA32FD-4B14-4A49-9326-EADD1C310B45}"/>
              </a:ext>
            </a:extLst>
          </p:cNvPr>
          <p:cNvSpPr>
            <a:spLocks xmlns:a="http://schemas.openxmlformats.org/drawingml/2006/main" noGrp="1"/>
          </p:cNvSpPr>
          <p:nvPr/>
        </p:nvSpPr>
        <p:spPr>
          <a:xfrm xmlns:a="http://schemas.openxmlformats.org/drawingml/2006/main">
            <a:off x="3200400" y="3810000"/>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Uses workload description and heuristics</a:t>
            </a:r>
          </a:p>
        </p:txBody>
      </p:sp>
      <p:sp>
        <p:nvSpPr>
          <p:cNvPr id="25" name="">
            <a:extLst xmlns:a="http://schemas.openxmlformats.org/drawingml/2006/main">
              <a:ext uri="{FF2B5EF4-FFF2-40B4-BE49-F238E27FC236}">
                <a16:creationId xmlns:a16="http://schemas.microsoft.com/office/drawing/2014/main" id="{8B611D5A-F872-4E72-B18A-3CE25550756C}"/>
              </a:ext>
            </a:extLst>
          </p:cNvPr>
          <p:cNvSpPr>
            <a:spLocks xmlns:a="http://schemas.openxmlformats.org/drawingml/2006/main" noGrp="1"/>
          </p:cNvSpPr>
          <p:nvPr/>
        </p:nvSpPr>
        <p:spPr>
          <a:xfrm xmlns:a="http://schemas.openxmlformats.org/drawingml/2006/main">
            <a:off x="7143750" y="38100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Not a benchmark or migration decision</a:t>
            </a:r>
          </a:p>
        </p:txBody>
      </p:sp>
      <p:sp>
        <p:nvSpPr>
          <p:cNvPr id="26" name="">
            <a:extLst xmlns:a="http://schemas.openxmlformats.org/drawingml/2006/main">
              <a:ext uri="{FF2B5EF4-FFF2-40B4-BE49-F238E27FC236}">
                <a16:creationId xmlns:a16="http://schemas.microsoft.com/office/drawing/2014/main" id="{A1AD6CCD-B85D-4545-8CA5-6E5BB67C0920}"/>
              </a:ext>
            </a:extLst>
          </p:cNvPr>
          <p:cNvSpPr>
            <a:spLocks xmlns:a="http://schemas.openxmlformats.org/drawingml/2006/main" noGrp="1"/>
          </p:cNvSpPr>
          <p:nvPr/>
        </p:nvSpPr>
        <p:spPr>
          <a:xfrm xmlns:a="http://schemas.openxmlformats.org/drawingml/2006/main">
            <a:off x="704850" y="4229100"/>
            <a:ext cx="105727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3D4E8EC-41F7-4F82-BE55-775E83262480}"/>
              </a:ext>
            </a:extLst>
          </p:cNvPr>
          <p:cNvSpPr>
            <a:spLocks xmlns:a="http://schemas.openxmlformats.org/drawingml/2006/main" noGrp="1"/>
          </p:cNvSpPr>
          <p:nvPr/>
        </p:nvSpPr>
        <p:spPr>
          <a:xfrm xmlns:a="http://schemas.openxmlformats.org/drawingml/2006/main">
            <a:off x="723900" y="4352925"/>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183244"/>
                </a:solidFill>
                <a:latin typeface="Arial"/>
                <a:ea typeface="Arial"/>
                <a:cs typeface="Arial"/>
              </a:defRPr>
            </a:defPPr>
          </a:lstStyle>
          <a:p xmlns:a="http://schemas.openxmlformats.org/drawingml/2006/main">
            <a:pPr>
              <a:defRPr sz="1125" b="1">
                <a:solidFill>
                  <a:srgbClr val="183244"/>
                </a:solidFill>
                <a:latin typeface="Arial"/>
                <a:ea typeface="Arial"/>
                <a:cs typeface="Arial"/>
              </a:defRPr>
            </a:pPr>
            <a:r>
              <a:rPr sz="1125" b="1">
                <a:solidFill>
                  <a:srgbClr val="183244"/>
                </a:solidFill>
                <a:latin typeface="Arial"/>
                <a:ea typeface="Arial"/>
                <a:cs typeface="Arial"/>
              </a:rPr>
              <a:t>Index experiments</a:t>
            </a:r>
          </a:p>
        </p:txBody>
      </p:sp>
      <p:sp>
        <p:nvSpPr>
          <p:cNvPr id="28" name="">
            <a:extLst xmlns:a="http://schemas.openxmlformats.org/drawingml/2006/main">
              <a:ext uri="{FF2B5EF4-FFF2-40B4-BE49-F238E27FC236}">
                <a16:creationId xmlns:a16="http://schemas.microsoft.com/office/drawing/2014/main" id="{699DD88D-00F0-4E3E-A418-42B05BAEE2EA}"/>
              </a:ext>
            </a:extLst>
          </p:cNvPr>
          <p:cNvSpPr>
            <a:spLocks xmlns:a="http://schemas.openxmlformats.org/drawingml/2006/main" noGrp="1"/>
          </p:cNvSpPr>
          <p:nvPr/>
        </p:nvSpPr>
        <p:spPr>
          <a:xfrm xmlns:a="http://schemas.openxmlformats.org/drawingml/2006/main">
            <a:off x="3200400" y="4352925"/>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Measures synthetic rows in SQLite or sandbox</a:t>
            </a:r>
          </a:p>
        </p:txBody>
      </p:sp>
      <p:sp>
        <p:nvSpPr>
          <p:cNvPr id="29" name="">
            <a:extLst xmlns:a="http://schemas.openxmlformats.org/drawingml/2006/main">
              <a:ext uri="{FF2B5EF4-FFF2-40B4-BE49-F238E27FC236}">
                <a16:creationId xmlns:a16="http://schemas.microsoft.com/office/drawing/2014/main" id="{3554B907-A865-4720-B5B5-E1ED8BE77275}"/>
              </a:ext>
            </a:extLst>
          </p:cNvPr>
          <p:cNvSpPr>
            <a:spLocks xmlns:a="http://schemas.openxmlformats.org/drawingml/2006/main" noGrp="1"/>
          </p:cNvSpPr>
          <p:nvPr/>
        </p:nvSpPr>
        <p:spPr>
          <a:xfrm xmlns:a="http://schemas.openxmlformats.org/drawingml/2006/main">
            <a:off x="7143750" y="43529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Does not predict source performance</a:t>
            </a:r>
          </a:p>
        </p:txBody>
      </p:sp>
      <p:sp>
        <p:nvSpPr>
          <p:cNvPr id="30" name="">
            <a:extLst xmlns:a="http://schemas.openxmlformats.org/drawingml/2006/main">
              <a:ext uri="{FF2B5EF4-FFF2-40B4-BE49-F238E27FC236}">
                <a16:creationId xmlns:a16="http://schemas.microsoft.com/office/drawing/2014/main" id="{86DB5876-45CA-4D5C-99A6-5006C50E012E}"/>
              </a:ext>
            </a:extLst>
          </p:cNvPr>
          <p:cNvSpPr>
            <a:spLocks xmlns:a="http://schemas.openxmlformats.org/drawingml/2006/main" noGrp="1"/>
          </p:cNvSpPr>
          <p:nvPr/>
        </p:nvSpPr>
        <p:spPr>
          <a:xfrm xmlns:a="http://schemas.openxmlformats.org/drawingml/2006/main">
            <a:off x="704850" y="4772025"/>
            <a:ext cx="1057275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AE2FBE2-109D-4BC8-926A-F00D572CC740}"/>
              </a:ext>
            </a:extLst>
          </p:cNvPr>
          <p:cNvSpPr>
            <a:spLocks xmlns:a="http://schemas.openxmlformats.org/drawingml/2006/main" noGrp="1"/>
          </p:cNvSpPr>
          <p:nvPr/>
        </p:nvSpPr>
        <p:spPr>
          <a:xfrm xmlns:a="http://schemas.openxmlformats.org/drawingml/2006/main">
            <a:off x="723900" y="489585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1">
                <a:solidFill>
                  <a:srgbClr val="183244"/>
                </a:solidFill>
                <a:latin typeface="Arial"/>
                <a:ea typeface="Arial"/>
                <a:cs typeface="Arial"/>
              </a:defRPr>
            </a:defPPr>
          </a:lstStyle>
          <a:p xmlns:a="http://schemas.openxmlformats.org/drawingml/2006/main">
            <a:pPr>
              <a:defRPr sz="1125" b="1">
                <a:solidFill>
                  <a:srgbClr val="183244"/>
                </a:solidFill>
                <a:latin typeface="Arial"/>
                <a:ea typeface="Arial"/>
                <a:cs typeface="Arial"/>
              </a:defRPr>
            </a:pPr>
            <a:r>
              <a:rPr sz="1125" b="1">
                <a:solidFill>
                  <a:srgbClr val="183244"/>
                </a:solidFill>
                <a:latin typeface="Arial"/>
                <a:ea typeface="Arial"/>
                <a:cs typeface="Arial"/>
              </a:rPr>
              <a:t>Diffs + relationships</a:t>
            </a:r>
          </a:p>
        </p:txBody>
      </p:sp>
      <p:sp>
        <p:nvSpPr>
          <p:cNvPr id="32" name="">
            <a:extLst xmlns:a="http://schemas.openxmlformats.org/drawingml/2006/main">
              <a:ext uri="{FF2B5EF4-FFF2-40B4-BE49-F238E27FC236}">
                <a16:creationId xmlns:a16="http://schemas.microsoft.com/office/drawing/2014/main" id="{2207F503-3BAF-47DB-B7A6-457D0EE20F82}"/>
              </a:ext>
            </a:extLst>
          </p:cNvPr>
          <p:cNvSpPr>
            <a:spLocks xmlns:a="http://schemas.openxmlformats.org/drawingml/2006/main" noGrp="1"/>
          </p:cNvSpPr>
          <p:nvPr/>
        </p:nvSpPr>
        <p:spPr>
          <a:xfrm xmlns:a="http://schemas.openxmlformats.org/drawingml/2006/main">
            <a:off x="3200400" y="4895850"/>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Compares snapshots and suggests matches</a:t>
            </a:r>
          </a:p>
        </p:txBody>
      </p:sp>
      <p:sp>
        <p:nvSpPr>
          <p:cNvPr id="33" name="">
            <a:extLst xmlns:a="http://schemas.openxmlformats.org/drawingml/2006/main">
              <a:ext uri="{FF2B5EF4-FFF2-40B4-BE49-F238E27FC236}">
                <a16:creationId xmlns:a16="http://schemas.microsoft.com/office/drawing/2014/main" id="{7880C83D-7C80-438B-A120-5B6B73570539}"/>
              </a:ext>
            </a:extLst>
          </p:cNvPr>
          <p:cNvSpPr>
            <a:spLocks xmlns:a="http://schemas.openxmlformats.org/drawingml/2006/main" noGrp="1"/>
          </p:cNvSpPr>
          <p:nvPr/>
        </p:nvSpPr>
        <p:spPr>
          <a:xfrm xmlns:a="http://schemas.openxmlformats.org/drawingml/2006/main">
            <a:off x="7143750" y="48958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A suggestion needs semantic confirmation</a:t>
            </a:r>
          </a:p>
        </p:txBody>
      </p:sp>
    </p:spTree>
    <p:extLst>
      <p:ext uri="{BB962C8B-B14F-4D97-AF65-F5344CB8AC3E}">
        <p14:creationId xmlns:p14="http://schemas.microsoft.com/office/powerpoint/2010/main" val="724615612"/>
      </p:ext>
    </p:extLst>
  </p:cSld>
</p:sld>
</file>

<file path=ppt/slides/slide9.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4C961C0-A1BD-4040-808C-196A726E6B3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86A80B-B340-4AAE-8F64-576C59EE27E7}"/>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Recent work makes the demo easier to connect and explain</a:t>
            </a:r>
          </a:p>
        </p:txBody>
      </p:sp>
      <p:sp>
        <p:nvSpPr>
          <p:cNvPr id="3" name="">
            <a:extLst xmlns:a="http://schemas.openxmlformats.org/drawingml/2006/main">
              <a:ext uri="{FF2B5EF4-FFF2-40B4-BE49-F238E27FC236}">
                <a16:creationId xmlns:a16="http://schemas.microsoft.com/office/drawing/2014/main" id="{C7E390E3-1850-4266-AE1B-2D22B0081755}"/>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The current tree adds Supabase-oriented sample assets and a clearer connection workflow.</a:t>
            </a:r>
          </a:p>
        </p:txBody>
      </p:sp>
      <p:sp>
        <p:nvSpPr>
          <p:cNvPr id="4" name="">
            <a:extLst xmlns:a="http://schemas.openxmlformats.org/drawingml/2006/main">
              <a:ext uri="{FF2B5EF4-FFF2-40B4-BE49-F238E27FC236}">
                <a16:creationId xmlns:a16="http://schemas.microsoft.com/office/drawing/2014/main" id="{85C07F89-9E27-427B-8A62-E73FBFB4571D}"/>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C18213-60A6-477F-86E7-CB79CE2C4F4B}"/>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7DD6FCD0-1521-47B2-B97C-FF7A51100152}"/>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DE316608-49B8-4028-ABDB-87DD4C32C7B4}"/>
              </a:ext>
            </a:extLst>
          </p:cNvPr>
          <p:cNvSpPr>
            <a:spLocks xmlns:a="http://schemas.openxmlformats.org/drawingml/2006/main" noGrp="1"/>
          </p:cNvSpPr>
          <p:nvPr/>
        </p:nvSpPr>
        <p:spPr>
          <a:xfrm xmlns:a="http://schemas.openxmlformats.org/drawingml/2006/main">
            <a:off x="704850" y="1943100"/>
            <a:ext cx="32956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DB43246D-F98A-4113-8CF7-FBF7F4C48CCB}"/>
              </a:ext>
            </a:extLst>
          </p:cNvPr>
          <p:cNvSpPr>
            <a:spLocks xmlns:a="http://schemas.openxmlformats.org/drawingml/2006/main" noGrp="1"/>
          </p:cNvSpPr>
          <p:nvPr/>
        </p:nvSpPr>
        <p:spPr>
          <a:xfrm xmlns:a="http://schemas.openxmlformats.org/drawingml/2006/main">
            <a:off x="704850" y="1943100"/>
            <a:ext cx="47625" cy="13335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DE75D7-1A38-442D-B150-59566F491803}"/>
              </a:ext>
            </a:extLst>
          </p:cNvPr>
          <p:cNvSpPr>
            <a:spLocks xmlns:a="http://schemas.openxmlformats.org/drawingml/2006/main" noGrp="1"/>
          </p:cNvSpPr>
          <p:nvPr/>
        </p:nvSpPr>
        <p:spPr>
          <a:xfrm xmlns:a="http://schemas.openxmlformats.org/drawingml/2006/main">
            <a:off x="895350" y="2085975"/>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Supabase shop demo</a:t>
            </a:r>
          </a:p>
        </p:txBody>
      </p:sp>
      <p:sp>
        <p:nvSpPr>
          <p:cNvPr id="10" name="">
            <a:extLst xmlns:a="http://schemas.openxmlformats.org/drawingml/2006/main">
              <a:ext uri="{FF2B5EF4-FFF2-40B4-BE49-F238E27FC236}">
                <a16:creationId xmlns:a16="http://schemas.microsoft.com/office/drawing/2014/main" id="{11ABCE44-105D-486A-9CDB-F4386460D631}"/>
              </a:ext>
            </a:extLst>
          </p:cNvPr>
          <p:cNvSpPr>
            <a:spLocks xmlns:a="http://schemas.openxmlformats.org/drawingml/2006/main" noGrp="1"/>
          </p:cNvSpPr>
          <p:nvPr/>
        </p:nvSpPr>
        <p:spPr>
          <a:xfrm xmlns:a="http://schemas.openxmlformats.org/drawingml/2006/main">
            <a:off x="895350" y="24384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Schema, seed, and expansion SQL files support a richer shop example.</a:t>
            </a:r>
          </a:p>
        </p:txBody>
      </p:sp>
      <p:sp>
        <p:nvSpPr>
          <p:cNvPr id="11" name="">
            <a:extLst xmlns:a="http://schemas.openxmlformats.org/drawingml/2006/main">
              <a:ext uri="{FF2B5EF4-FFF2-40B4-BE49-F238E27FC236}">
                <a16:creationId xmlns:a16="http://schemas.microsoft.com/office/drawing/2014/main" id="{425F7322-2A96-45C5-B995-B32262240855}"/>
              </a:ext>
            </a:extLst>
          </p:cNvPr>
          <p:cNvSpPr>
            <a:spLocks xmlns:a="http://schemas.openxmlformats.org/drawingml/2006/main" noGrp="1"/>
          </p:cNvSpPr>
          <p:nvPr/>
        </p:nvSpPr>
        <p:spPr>
          <a:xfrm xmlns:a="http://schemas.openxmlformats.org/drawingml/2006/main">
            <a:off x="4324350" y="1943100"/>
            <a:ext cx="32956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E4E7"/>
            </a:solidFill>
          </a:ln>
        </p:spPr>
      </p:sp>
      <p:sp>
        <p:nvSpPr>
          <p:cNvPr id="12" name="">
            <a:extLst xmlns:a="http://schemas.openxmlformats.org/drawingml/2006/main">
              <a:ext uri="{FF2B5EF4-FFF2-40B4-BE49-F238E27FC236}">
                <a16:creationId xmlns:a16="http://schemas.microsoft.com/office/drawing/2014/main" id="{C61280D9-59E7-4C46-B0D0-21CF0DDE3958}"/>
              </a:ext>
            </a:extLst>
          </p:cNvPr>
          <p:cNvSpPr>
            <a:spLocks xmlns:a="http://schemas.openxmlformats.org/drawingml/2006/main" noGrp="1"/>
          </p:cNvSpPr>
          <p:nvPr/>
        </p:nvSpPr>
        <p:spPr>
          <a:xfrm xmlns:a="http://schemas.openxmlformats.org/drawingml/2006/main">
            <a:off x="4324350" y="1943100"/>
            <a:ext cx="47625" cy="13335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60A032-BB9E-4B28-BE34-F85B0F4B2013}"/>
              </a:ext>
            </a:extLst>
          </p:cNvPr>
          <p:cNvSpPr>
            <a:spLocks xmlns:a="http://schemas.openxmlformats.org/drawingml/2006/main" noGrp="1"/>
          </p:cNvSpPr>
          <p:nvPr/>
        </p:nvSpPr>
        <p:spPr>
          <a:xfrm xmlns:a="http://schemas.openxmlformats.org/drawingml/2006/main">
            <a:off x="4514850" y="2085975"/>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Safer diagnostics</a:t>
            </a:r>
          </a:p>
        </p:txBody>
      </p:sp>
      <p:sp>
        <p:nvSpPr>
          <p:cNvPr id="14" name="">
            <a:extLst xmlns:a="http://schemas.openxmlformats.org/drawingml/2006/main">
              <a:ext uri="{FF2B5EF4-FFF2-40B4-BE49-F238E27FC236}">
                <a16:creationId xmlns:a16="http://schemas.microsoft.com/office/drawing/2014/main" id="{48560954-6C3B-4E43-8A29-21C37AE7CC16}"/>
              </a:ext>
            </a:extLst>
          </p:cNvPr>
          <p:cNvSpPr>
            <a:spLocks xmlns:a="http://schemas.openxmlformats.org/drawingml/2006/main" noGrp="1"/>
          </p:cNvSpPr>
          <p:nvPr/>
        </p:nvSpPr>
        <p:spPr>
          <a:xfrm xmlns:a="http://schemas.openxmlformats.org/drawingml/2006/main">
            <a:off x="4514850" y="24384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Connection errors explain likely auth, pooler, database, and network causes without exposing driver text.</a:t>
            </a:r>
          </a:p>
        </p:txBody>
      </p:sp>
      <p:sp>
        <p:nvSpPr>
          <p:cNvPr id="15" name="">
            <a:extLst xmlns:a="http://schemas.openxmlformats.org/drawingml/2006/main">
              <a:ext uri="{FF2B5EF4-FFF2-40B4-BE49-F238E27FC236}">
                <a16:creationId xmlns:a16="http://schemas.microsoft.com/office/drawing/2014/main" id="{9D79542C-062C-4CB8-A6EA-2B54E0ACC196}"/>
              </a:ext>
            </a:extLst>
          </p:cNvPr>
          <p:cNvSpPr>
            <a:spLocks xmlns:a="http://schemas.openxmlformats.org/drawingml/2006/main" noGrp="1"/>
          </p:cNvSpPr>
          <p:nvPr/>
        </p:nvSpPr>
        <p:spPr>
          <a:xfrm xmlns:a="http://schemas.openxmlformats.org/drawingml/2006/main">
            <a:off x="7943850" y="1943100"/>
            <a:ext cx="32956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E4E7"/>
            </a:solidFill>
          </a:ln>
        </p:spPr>
      </p:sp>
      <p:sp>
        <p:nvSpPr>
          <p:cNvPr id="16" name="">
            <a:extLst xmlns:a="http://schemas.openxmlformats.org/drawingml/2006/main">
              <a:ext uri="{FF2B5EF4-FFF2-40B4-BE49-F238E27FC236}">
                <a16:creationId xmlns:a16="http://schemas.microsoft.com/office/drawing/2014/main" id="{5D987A04-45E3-439F-9BB8-F4EF97A6E516}"/>
              </a:ext>
            </a:extLst>
          </p:cNvPr>
          <p:cNvSpPr>
            <a:spLocks xmlns:a="http://schemas.openxmlformats.org/drawingml/2006/main" noGrp="1"/>
          </p:cNvSpPr>
          <p:nvPr/>
        </p:nvSpPr>
        <p:spPr>
          <a:xfrm xmlns:a="http://schemas.openxmlformats.org/drawingml/2006/main">
            <a:off x="7943850" y="1943100"/>
            <a:ext cx="47625" cy="1333500"/>
          </a:xfrm>
          <a:prstGeom xmlns:a="http://schemas.openxmlformats.org/drawingml/2006/main" prst="rect">
            <a:avLst/>
          </a:prstGeom>
          <a:solidFill xmlns:a="http://schemas.openxmlformats.org/drawingml/2006/main">
            <a:srgbClr val="7865B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A5C9E0-F570-4AF0-B520-2ABE8EA19D72}"/>
              </a:ext>
            </a:extLst>
          </p:cNvPr>
          <p:cNvSpPr>
            <a:spLocks xmlns:a="http://schemas.openxmlformats.org/drawingml/2006/main" noGrp="1"/>
          </p:cNvSpPr>
          <p:nvPr/>
        </p:nvSpPr>
        <p:spPr>
          <a:xfrm xmlns:a="http://schemas.openxmlformats.org/drawingml/2006/main">
            <a:off x="8134350" y="2085975"/>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Editable connections</a:t>
            </a:r>
          </a:p>
        </p:txBody>
      </p:sp>
      <p:sp>
        <p:nvSpPr>
          <p:cNvPr id="18" name="">
            <a:extLst xmlns:a="http://schemas.openxmlformats.org/drawingml/2006/main">
              <a:ext uri="{FF2B5EF4-FFF2-40B4-BE49-F238E27FC236}">
                <a16:creationId xmlns:a16="http://schemas.microsoft.com/office/drawing/2014/main" id="{C10EC5D8-05BA-4C14-A897-9571A50A56F3}"/>
              </a:ext>
            </a:extLst>
          </p:cNvPr>
          <p:cNvSpPr>
            <a:spLocks xmlns:a="http://schemas.openxmlformats.org/drawingml/2006/main" noGrp="1"/>
          </p:cNvSpPr>
          <p:nvPr/>
        </p:nvSpPr>
        <p:spPr>
          <a:xfrm xmlns:a="http://schemas.openxmlformats.org/drawingml/2006/main">
            <a:off x="8134350" y="24384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Users can update a saved connection and leave the password blank to retain it.</a:t>
            </a:r>
          </a:p>
        </p:txBody>
      </p:sp>
      <p:sp>
        <p:nvSpPr>
          <p:cNvPr id="19" name="">
            <a:extLst xmlns:a="http://schemas.openxmlformats.org/drawingml/2006/main">
              <a:ext uri="{FF2B5EF4-FFF2-40B4-BE49-F238E27FC236}">
                <a16:creationId xmlns:a16="http://schemas.microsoft.com/office/drawing/2014/main" id="{D06FDF88-9765-4BC2-9BDA-F132E07FF42D}"/>
              </a:ext>
            </a:extLst>
          </p:cNvPr>
          <p:cNvSpPr>
            <a:spLocks xmlns:a="http://schemas.openxmlformats.org/drawingml/2006/main" noGrp="1"/>
          </p:cNvSpPr>
          <p:nvPr/>
        </p:nvSpPr>
        <p:spPr>
          <a:xfrm xmlns:a="http://schemas.openxmlformats.org/drawingml/2006/main">
            <a:off x="704850" y="3667125"/>
            <a:ext cx="32956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E4E7"/>
            </a:solidFill>
          </a:ln>
        </p:spPr>
      </p:sp>
      <p:sp>
        <p:nvSpPr>
          <p:cNvPr id="20" name="">
            <a:extLst xmlns:a="http://schemas.openxmlformats.org/drawingml/2006/main">
              <a:ext uri="{FF2B5EF4-FFF2-40B4-BE49-F238E27FC236}">
                <a16:creationId xmlns:a16="http://schemas.microsoft.com/office/drawing/2014/main" id="{D8765845-E014-495F-8357-DA23D624AC34}"/>
              </a:ext>
            </a:extLst>
          </p:cNvPr>
          <p:cNvSpPr>
            <a:spLocks xmlns:a="http://schemas.openxmlformats.org/drawingml/2006/main" noGrp="1"/>
          </p:cNvSpPr>
          <p:nvPr/>
        </p:nvSpPr>
        <p:spPr>
          <a:xfrm xmlns:a="http://schemas.openxmlformats.org/drawingml/2006/main">
            <a:off x="704850" y="3667125"/>
            <a:ext cx="47625" cy="1333500"/>
          </a:xfrm>
          <a:prstGeom xmlns:a="http://schemas.openxmlformats.org/drawingml/2006/main" prst="rect">
            <a:avLst/>
          </a:prstGeom>
          <a:solidFill xmlns:a="http://schemas.openxmlformats.org/drawingml/2006/main">
            <a:srgbClr val="25785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A4869CD-0438-4BC0-82CF-04B4C58ACA00}"/>
              </a:ext>
            </a:extLst>
          </p:cNvPr>
          <p:cNvSpPr>
            <a:spLocks xmlns:a="http://schemas.openxmlformats.org/drawingml/2006/main" noGrp="1"/>
          </p:cNvSpPr>
          <p:nvPr/>
        </p:nvSpPr>
        <p:spPr>
          <a:xfrm xmlns:a="http://schemas.openxmlformats.org/drawingml/2006/main">
            <a:off x="895350" y="3810000"/>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Grounded local fallback</a:t>
            </a:r>
          </a:p>
        </p:txBody>
      </p:sp>
      <p:sp>
        <p:nvSpPr>
          <p:cNvPr id="22" name="">
            <a:extLst xmlns:a="http://schemas.openxmlformats.org/drawingml/2006/main">
              <a:ext uri="{FF2B5EF4-FFF2-40B4-BE49-F238E27FC236}">
                <a16:creationId xmlns:a16="http://schemas.microsoft.com/office/drawing/2014/main" id="{A17BF4B1-C790-4152-8EAD-0EDC48FECEEE}"/>
              </a:ext>
            </a:extLst>
          </p:cNvPr>
          <p:cNvSpPr>
            <a:spLocks xmlns:a="http://schemas.openxmlformats.org/drawingml/2006/main" noGrp="1"/>
          </p:cNvSpPr>
          <p:nvPr/>
        </p:nvSpPr>
        <p:spPr>
          <a:xfrm xmlns:a="http://schemas.openxmlformats.org/drawingml/2006/main">
            <a:off x="895350" y="4162425"/>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Basic chat answers can cite saved objects and findings when external AI is off.</a:t>
            </a:r>
          </a:p>
        </p:txBody>
      </p:sp>
      <p:sp>
        <p:nvSpPr>
          <p:cNvPr id="23" name="">
            <a:extLst xmlns:a="http://schemas.openxmlformats.org/drawingml/2006/main">
              <a:ext uri="{FF2B5EF4-FFF2-40B4-BE49-F238E27FC236}">
                <a16:creationId xmlns:a16="http://schemas.microsoft.com/office/drawing/2014/main" id="{DD73F44B-8F4A-46BA-ABD1-484860A185E0}"/>
              </a:ext>
            </a:extLst>
          </p:cNvPr>
          <p:cNvSpPr>
            <a:spLocks xmlns:a="http://schemas.openxmlformats.org/drawingml/2006/main" noGrp="1"/>
          </p:cNvSpPr>
          <p:nvPr/>
        </p:nvSpPr>
        <p:spPr>
          <a:xfrm xmlns:a="http://schemas.openxmlformats.org/drawingml/2006/main">
            <a:off x="4324350" y="3667125"/>
            <a:ext cx="32956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E4E7"/>
            </a:solidFill>
          </a:ln>
        </p:spPr>
      </p:sp>
      <p:sp>
        <p:nvSpPr>
          <p:cNvPr id="24" name="">
            <a:extLst xmlns:a="http://schemas.openxmlformats.org/drawingml/2006/main">
              <a:ext uri="{FF2B5EF4-FFF2-40B4-BE49-F238E27FC236}">
                <a16:creationId xmlns:a16="http://schemas.microsoft.com/office/drawing/2014/main" id="{7D83A656-A2E9-48F9-802A-4F211412BF50}"/>
              </a:ext>
            </a:extLst>
          </p:cNvPr>
          <p:cNvSpPr>
            <a:spLocks xmlns:a="http://schemas.openxmlformats.org/drawingml/2006/main" noGrp="1"/>
          </p:cNvSpPr>
          <p:nvPr/>
        </p:nvSpPr>
        <p:spPr>
          <a:xfrm xmlns:a="http://schemas.openxmlformats.org/drawingml/2006/main">
            <a:off x="4324350" y="3667125"/>
            <a:ext cx="47625" cy="1333500"/>
          </a:xfrm>
          <a:prstGeom xmlns:a="http://schemas.openxmlformats.org/drawingml/2006/main" prst="rect">
            <a:avLst/>
          </a:prstGeom>
          <a:solidFill xmlns:a="http://schemas.openxmlformats.org/drawingml/2006/main">
            <a:srgbClr val="D18A2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9365D3F-FD52-4393-9C7B-D324D03F59E2}"/>
              </a:ext>
            </a:extLst>
          </p:cNvPr>
          <p:cNvSpPr>
            <a:spLocks xmlns:a="http://schemas.openxmlformats.org/drawingml/2006/main" noGrp="1"/>
          </p:cNvSpPr>
          <p:nvPr/>
        </p:nvSpPr>
        <p:spPr>
          <a:xfrm xmlns:a="http://schemas.openxmlformats.org/drawingml/2006/main">
            <a:off x="4514850" y="3810000"/>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Explicit AI sharing</a:t>
            </a:r>
          </a:p>
        </p:txBody>
      </p:sp>
      <p:sp>
        <p:nvSpPr>
          <p:cNvPr id="26" name="">
            <a:extLst xmlns:a="http://schemas.openxmlformats.org/drawingml/2006/main">
              <a:ext uri="{FF2B5EF4-FFF2-40B4-BE49-F238E27FC236}">
                <a16:creationId xmlns:a16="http://schemas.microsoft.com/office/drawing/2014/main" id="{EE4290DC-C987-418A-8BFC-8120313F2A69}"/>
              </a:ext>
            </a:extLst>
          </p:cNvPr>
          <p:cNvSpPr>
            <a:spLocks xmlns:a="http://schemas.openxmlformats.org/drawingml/2006/main" noGrp="1"/>
          </p:cNvSpPr>
          <p:nvPr/>
        </p:nvSpPr>
        <p:spPr>
          <a:xfrm xmlns:a="http://schemas.openxmlformats.org/drawingml/2006/main">
            <a:off x="4514850" y="4162425"/>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Open-ended model analysis requires a key and a separate schema-sharing opt-in.</a:t>
            </a:r>
          </a:p>
        </p:txBody>
      </p:sp>
      <p:sp>
        <p:nvSpPr>
          <p:cNvPr id="27" name="">
            <a:extLst xmlns:a="http://schemas.openxmlformats.org/drawingml/2006/main">
              <a:ext uri="{FF2B5EF4-FFF2-40B4-BE49-F238E27FC236}">
                <a16:creationId xmlns:a16="http://schemas.microsoft.com/office/drawing/2014/main" id="{52919EA7-ABC2-45DE-8543-5641576D774B}"/>
              </a:ext>
            </a:extLst>
          </p:cNvPr>
          <p:cNvSpPr>
            <a:spLocks xmlns:a="http://schemas.openxmlformats.org/drawingml/2006/main" noGrp="1"/>
          </p:cNvSpPr>
          <p:nvPr/>
        </p:nvSpPr>
        <p:spPr>
          <a:xfrm xmlns:a="http://schemas.openxmlformats.org/drawingml/2006/main">
            <a:off x="7943850" y="3667125"/>
            <a:ext cx="32956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E4E7"/>
            </a:solidFill>
          </a:ln>
        </p:spPr>
      </p:sp>
      <p:sp>
        <p:nvSpPr>
          <p:cNvPr id="28" name="">
            <a:extLst xmlns:a="http://schemas.openxmlformats.org/drawingml/2006/main">
              <a:ext uri="{FF2B5EF4-FFF2-40B4-BE49-F238E27FC236}">
                <a16:creationId xmlns:a16="http://schemas.microsoft.com/office/drawing/2014/main" id="{97CE71EA-D354-4383-9A22-450EAAF519A7}"/>
              </a:ext>
            </a:extLst>
          </p:cNvPr>
          <p:cNvSpPr>
            <a:spLocks xmlns:a="http://schemas.openxmlformats.org/drawingml/2006/main" noGrp="1"/>
          </p:cNvSpPr>
          <p:nvPr/>
        </p:nvSpPr>
        <p:spPr>
          <a:xfrm xmlns:a="http://schemas.openxmlformats.org/drawingml/2006/main">
            <a:off x="7943850" y="3667125"/>
            <a:ext cx="47625" cy="13335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4C76EF9-6F88-40FF-81C5-3FC96AA118D5}"/>
              </a:ext>
            </a:extLst>
          </p:cNvPr>
          <p:cNvSpPr>
            <a:spLocks xmlns:a="http://schemas.openxmlformats.org/drawingml/2006/main" noGrp="1"/>
          </p:cNvSpPr>
          <p:nvPr/>
        </p:nvSpPr>
        <p:spPr>
          <a:xfrm xmlns:a="http://schemas.openxmlformats.org/drawingml/2006/main">
            <a:off x="8134350" y="3810000"/>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Accessible review history</a:t>
            </a:r>
          </a:p>
        </p:txBody>
      </p:sp>
      <p:sp>
        <p:nvSpPr>
          <p:cNvPr id="30" name="">
            <a:extLst xmlns:a="http://schemas.openxmlformats.org/drawingml/2006/main">
              <a:ext uri="{FF2B5EF4-FFF2-40B4-BE49-F238E27FC236}">
                <a16:creationId xmlns:a16="http://schemas.microsoft.com/office/drawing/2014/main" id="{B822F5F9-7536-4750-9D68-BA413196B32C}"/>
              </a:ext>
            </a:extLst>
          </p:cNvPr>
          <p:cNvSpPr>
            <a:spLocks xmlns:a="http://schemas.openxmlformats.org/drawingml/2006/main" noGrp="1"/>
          </p:cNvSpPr>
          <p:nvPr/>
        </p:nvSpPr>
        <p:spPr>
          <a:xfrm xmlns:a="http://schemas.openxmlformats.org/drawingml/2006/main">
            <a:off x="8134350" y="4162425"/>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Snapshots, reports, findings, conversations, and run records stay available in the workbench.</a:t>
            </a:r>
          </a:p>
        </p:txBody>
      </p:sp>
      <p:sp>
        <p:nvSpPr>
          <p:cNvPr id="31" name="">
            <a:extLst xmlns:a="http://schemas.openxmlformats.org/drawingml/2006/main">
              <a:ext uri="{FF2B5EF4-FFF2-40B4-BE49-F238E27FC236}">
                <a16:creationId xmlns:a16="http://schemas.microsoft.com/office/drawing/2014/main" id="{0FA27FB4-8139-41A4-AEA2-7633E21DCFA3}"/>
              </a:ext>
            </a:extLst>
          </p:cNvPr>
          <p:cNvSpPr>
            <a:spLocks xmlns:a="http://schemas.openxmlformats.org/drawingml/2006/main" noGrp="1"/>
          </p:cNvSpPr>
          <p:nvPr/>
        </p:nvSpPr>
        <p:spPr>
          <a:xfrm xmlns:a="http://schemas.openxmlformats.org/drawingml/2006/main">
            <a:off x="714375" y="539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597180"/>
                </a:solidFill>
                <a:latin typeface="Arial"/>
                <a:ea typeface="Arial"/>
                <a:cs typeface="Arial"/>
              </a:defRPr>
            </a:defPPr>
          </a:lstStyle>
          <a:p xmlns:a="http://schemas.openxmlformats.org/drawingml/2006/main">
            <a:pPr>
              <a:defRPr sz="1050" b="0">
                <a:solidFill>
                  <a:srgbClr val="597180"/>
                </a:solidFill>
                <a:latin typeface="Arial"/>
                <a:ea typeface="Arial"/>
                <a:cs typeface="Arial"/>
              </a:defRPr>
            </a:pPr>
            <a:r>
              <a:rPr sz="1050" b="0">
                <a:solidFill>
                  <a:srgbClr val="597180"/>
                </a:solidFill>
                <a:latin typeface="Arial"/>
                <a:ea typeface="Arial"/>
                <a:cs typeface="Arial"/>
              </a:rPr>
              <a:t>Supabase demo assets are present in the repository; the recorded live end-to-end run used the local PostgreSQL demo.</a:t>
            </a:r>
          </a:p>
        </p:txBody>
      </p:sp>
    </p:spTree>
    <p:extLst>
      <p:ext uri="{BB962C8B-B14F-4D97-AF65-F5344CB8AC3E}">
        <p14:creationId xmlns:p14="http://schemas.microsoft.com/office/powerpoint/2010/main" val="1587181795"/>
      </p:ext>
    </p:extLst>
  </p:cSld>
</p:sld>
</file>

<file path=ppt/slides/slide10.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79973DA-08A8-411D-ABBA-42206E05B37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07DF0C-FFB2-4E07-805F-31AB8CE81217}"/>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Human review and database permissions set the boundary</a:t>
            </a:r>
          </a:p>
        </p:txBody>
      </p:sp>
      <p:sp>
        <p:nvSpPr>
          <p:cNvPr id="3" name="">
            <a:extLst xmlns:a="http://schemas.openxmlformats.org/drawingml/2006/main">
              <a:ext uri="{FF2B5EF4-FFF2-40B4-BE49-F238E27FC236}">
                <a16:creationId xmlns:a16="http://schemas.microsoft.com/office/drawing/2014/main" id="{BFC0890B-2278-4A83-B2DF-AFA59252EA1A}"/>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The workbench records and explains recommendations. The target database remains under the operator’s control.</a:t>
            </a:r>
          </a:p>
        </p:txBody>
      </p:sp>
      <p:sp>
        <p:nvSpPr>
          <p:cNvPr id="4" name="">
            <a:extLst xmlns:a="http://schemas.openxmlformats.org/drawingml/2006/main">
              <a:ext uri="{FF2B5EF4-FFF2-40B4-BE49-F238E27FC236}">
                <a16:creationId xmlns:a16="http://schemas.microsoft.com/office/drawing/2014/main" id="{9DF469D4-6A77-44C2-8DD8-8E9A49C876CD}"/>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AB9714-0D9D-486A-B2F4-ABDCE5EA19D9}"/>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A2D529AC-5620-47BA-B166-36901F5855A2}"/>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84A8120E-7DBA-4572-AA2A-3EA1CABE7426}"/>
              </a:ext>
            </a:extLst>
          </p:cNvPr>
          <p:cNvSpPr>
            <a:spLocks xmlns:a="http://schemas.openxmlformats.org/drawingml/2006/main" noGrp="1"/>
          </p:cNvSpPr>
          <p:nvPr/>
        </p:nvSpPr>
        <p:spPr>
          <a:xfrm xmlns:a="http://schemas.openxmlformats.org/drawingml/2006/main">
            <a:off x="704850" y="1885950"/>
            <a:ext cx="50482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6F170768-5603-41EB-BC87-B8CC38F1C0B9}"/>
              </a:ext>
            </a:extLst>
          </p:cNvPr>
          <p:cNvSpPr>
            <a:spLocks xmlns:a="http://schemas.openxmlformats.org/drawingml/2006/main" noGrp="1"/>
          </p:cNvSpPr>
          <p:nvPr/>
        </p:nvSpPr>
        <p:spPr>
          <a:xfrm xmlns:a="http://schemas.openxmlformats.org/drawingml/2006/main">
            <a:off x="704850" y="1885950"/>
            <a:ext cx="47625" cy="1000125"/>
          </a:xfrm>
          <a:prstGeom xmlns:a="http://schemas.openxmlformats.org/drawingml/2006/main" prst="rect">
            <a:avLst/>
          </a:prstGeom>
          <a:solidFill xmlns:a="http://schemas.openxmlformats.org/drawingml/2006/main">
            <a:srgbClr val="25785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C3274AC-2E0E-44EF-8B0E-2CADEBDA8269}"/>
              </a:ext>
            </a:extLst>
          </p:cNvPr>
          <p:cNvSpPr>
            <a:spLocks xmlns:a="http://schemas.openxmlformats.org/drawingml/2006/main" noGrp="1"/>
          </p:cNvSpPr>
          <p:nvPr/>
        </p:nvSpPr>
        <p:spPr>
          <a:xfrm xmlns:a="http://schemas.openxmlformats.org/drawingml/2006/main">
            <a:off x="895350" y="20288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Read first</a:t>
            </a:r>
          </a:p>
        </p:txBody>
      </p:sp>
      <p:sp>
        <p:nvSpPr>
          <p:cNvPr id="10" name="">
            <a:extLst xmlns:a="http://schemas.openxmlformats.org/drawingml/2006/main">
              <a:ext uri="{FF2B5EF4-FFF2-40B4-BE49-F238E27FC236}">
                <a16:creationId xmlns:a16="http://schemas.microsoft.com/office/drawing/2014/main" id="{CB7B1D1E-D417-4B96-A611-CB606210DFFA}"/>
              </a:ext>
            </a:extLst>
          </p:cNvPr>
          <p:cNvSpPr>
            <a:spLocks xmlns:a="http://schemas.openxmlformats.org/drawingml/2006/main" noGrp="1"/>
          </p:cNvSpPr>
          <p:nvPr/>
        </p:nvSpPr>
        <p:spPr>
          <a:xfrm xmlns:a="http://schemas.openxmlformats.org/drawingml/2006/main">
            <a:off x="895350" y="238125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97"/>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Use an authorized connection and read-only credentials for ordinary scans.</a:t>
            </a:r>
          </a:p>
        </p:txBody>
      </p:sp>
      <p:sp>
        <p:nvSpPr>
          <p:cNvPr id="11" name="">
            <a:extLst xmlns:a="http://schemas.openxmlformats.org/drawingml/2006/main">
              <a:ext uri="{FF2B5EF4-FFF2-40B4-BE49-F238E27FC236}">
                <a16:creationId xmlns:a16="http://schemas.microsoft.com/office/drawing/2014/main" id="{5C342F81-B369-419D-BDC4-9C3E7A837244}"/>
              </a:ext>
            </a:extLst>
          </p:cNvPr>
          <p:cNvSpPr>
            <a:spLocks xmlns:a="http://schemas.openxmlformats.org/drawingml/2006/main" noGrp="1"/>
          </p:cNvSpPr>
          <p:nvPr/>
        </p:nvSpPr>
        <p:spPr>
          <a:xfrm xmlns:a="http://schemas.openxmlformats.org/drawingml/2006/main">
            <a:off x="704850" y="3067050"/>
            <a:ext cx="50482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8E4E7"/>
            </a:solidFill>
          </a:ln>
        </p:spPr>
      </p:sp>
      <p:sp>
        <p:nvSpPr>
          <p:cNvPr id="12" name="">
            <a:extLst xmlns:a="http://schemas.openxmlformats.org/drawingml/2006/main">
              <a:ext uri="{FF2B5EF4-FFF2-40B4-BE49-F238E27FC236}">
                <a16:creationId xmlns:a16="http://schemas.microsoft.com/office/drawing/2014/main" id="{09CF02CF-D881-419D-ABE9-9BD99DEDC13B}"/>
              </a:ext>
            </a:extLst>
          </p:cNvPr>
          <p:cNvSpPr>
            <a:spLocks xmlns:a="http://schemas.openxmlformats.org/drawingml/2006/main" noGrp="1"/>
          </p:cNvSpPr>
          <p:nvPr/>
        </p:nvSpPr>
        <p:spPr>
          <a:xfrm xmlns:a="http://schemas.openxmlformats.org/drawingml/2006/main">
            <a:off x="704850" y="3067050"/>
            <a:ext cx="47625" cy="1000125"/>
          </a:xfrm>
          <a:prstGeom xmlns:a="http://schemas.openxmlformats.org/drawingml/2006/main" prst="rect">
            <a:avLst/>
          </a:prstGeom>
          <a:solidFill xmlns:a="http://schemas.openxmlformats.org/drawingml/2006/main">
            <a:srgbClr val="25785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42C863A-4770-478E-A0A8-1B6D0DD66133}"/>
              </a:ext>
            </a:extLst>
          </p:cNvPr>
          <p:cNvSpPr>
            <a:spLocks xmlns:a="http://schemas.openxmlformats.org/drawingml/2006/main" noGrp="1"/>
          </p:cNvSpPr>
          <p:nvPr/>
        </p:nvSpPr>
        <p:spPr>
          <a:xfrm xmlns:a="http://schemas.openxmlformats.org/drawingml/2006/main">
            <a:off x="895350" y="32099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Bound queries</a:t>
            </a:r>
          </a:p>
        </p:txBody>
      </p:sp>
      <p:sp>
        <p:nvSpPr>
          <p:cNvPr id="14" name="">
            <a:extLst xmlns:a="http://schemas.openxmlformats.org/drawingml/2006/main">
              <a:ext uri="{FF2B5EF4-FFF2-40B4-BE49-F238E27FC236}">
                <a16:creationId xmlns:a16="http://schemas.microsoft.com/office/drawing/2014/main" id="{39479A40-4BFD-418C-A186-A33F8BC9D1F1}"/>
              </a:ext>
            </a:extLst>
          </p:cNvPr>
          <p:cNvSpPr>
            <a:spLocks xmlns:a="http://schemas.openxmlformats.org/drawingml/2006/main" noGrp="1"/>
          </p:cNvSpPr>
          <p:nvPr/>
        </p:nvSpPr>
        <p:spPr>
          <a:xfrm xmlns:a="http://schemas.openxmlformats.org/drawingml/2006/main">
            <a:off x="895350" y="356235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22"/>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Limit returned rows, response size, and execution time; reject non-SELECT and locking queries.</a:t>
            </a:r>
          </a:p>
        </p:txBody>
      </p:sp>
      <p:sp>
        <p:nvSpPr>
          <p:cNvPr id="15" name="">
            <a:extLst xmlns:a="http://schemas.openxmlformats.org/drawingml/2006/main">
              <a:ext uri="{FF2B5EF4-FFF2-40B4-BE49-F238E27FC236}">
                <a16:creationId xmlns:a16="http://schemas.microsoft.com/office/drawing/2014/main" id="{BD61B23D-D24B-4745-8E4B-EFB88DE2219B}"/>
              </a:ext>
            </a:extLst>
          </p:cNvPr>
          <p:cNvSpPr>
            <a:spLocks xmlns:a="http://schemas.openxmlformats.org/drawingml/2006/main" noGrp="1"/>
          </p:cNvSpPr>
          <p:nvPr/>
        </p:nvSpPr>
        <p:spPr>
          <a:xfrm xmlns:a="http://schemas.openxmlformats.org/drawingml/2006/main">
            <a:off x="704850" y="4248150"/>
            <a:ext cx="50482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8E4E7"/>
            </a:solidFill>
          </a:ln>
        </p:spPr>
      </p:sp>
      <p:sp>
        <p:nvSpPr>
          <p:cNvPr id="16" name="">
            <a:extLst xmlns:a="http://schemas.openxmlformats.org/drawingml/2006/main">
              <a:ext uri="{FF2B5EF4-FFF2-40B4-BE49-F238E27FC236}">
                <a16:creationId xmlns:a16="http://schemas.microsoft.com/office/drawing/2014/main" id="{CF3FACF8-4BA2-4F28-B557-F650B53DB95F}"/>
              </a:ext>
            </a:extLst>
          </p:cNvPr>
          <p:cNvSpPr>
            <a:spLocks xmlns:a="http://schemas.openxmlformats.org/drawingml/2006/main" noGrp="1"/>
          </p:cNvSpPr>
          <p:nvPr/>
        </p:nvSpPr>
        <p:spPr>
          <a:xfrm xmlns:a="http://schemas.openxmlformats.org/drawingml/2006/main">
            <a:off x="704850" y="4248150"/>
            <a:ext cx="47625" cy="1000125"/>
          </a:xfrm>
          <a:prstGeom xmlns:a="http://schemas.openxmlformats.org/drawingml/2006/main" prst="rect">
            <a:avLst/>
          </a:prstGeom>
          <a:solidFill xmlns:a="http://schemas.openxmlformats.org/drawingml/2006/main">
            <a:srgbClr val="25785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02650A1-3A59-45D9-9868-590A9FDFABED}"/>
              </a:ext>
            </a:extLst>
          </p:cNvPr>
          <p:cNvSpPr>
            <a:spLocks xmlns:a="http://schemas.openxmlformats.org/drawingml/2006/main" noGrp="1"/>
          </p:cNvSpPr>
          <p:nvPr/>
        </p:nvSpPr>
        <p:spPr>
          <a:xfrm xmlns:a="http://schemas.openxmlformats.org/drawingml/2006/main">
            <a:off x="895350" y="43910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Keep decisions visible</a:t>
            </a:r>
          </a:p>
        </p:txBody>
      </p:sp>
      <p:sp>
        <p:nvSpPr>
          <p:cNvPr id="18" name="">
            <a:extLst xmlns:a="http://schemas.openxmlformats.org/drawingml/2006/main">
              <a:ext uri="{FF2B5EF4-FFF2-40B4-BE49-F238E27FC236}">
                <a16:creationId xmlns:a16="http://schemas.microsoft.com/office/drawing/2014/main" id="{D1402055-BD41-4927-9590-F4E1DEAE4662}"/>
              </a:ext>
            </a:extLst>
          </p:cNvPr>
          <p:cNvSpPr>
            <a:spLocks xmlns:a="http://schemas.openxmlformats.org/drawingml/2006/main" noGrp="1"/>
          </p:cNvSpPr>
          <p:nvPr/>
        </p:nvSpPr>
        <p:spPr>
          <a:xfrm xmlns:a="http://schemas.openxmlformats.org/drawingml/2006/main">
            <a:off x="895350" y="474345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22"/>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Approvals and migration inventories record review. They do not apply schema changes.</a:t>
            </a:r>
          </a:p>
        </p:txBody>
      </p:sp>
      <p:sp>
        <p:nvSpPr>
          <p:cNvPr id="19" name="">
            <a:extLst xmlns:a="http://schemas.openxmlformats.org/drawingml/2006/main">
              <a:ext uri="{FF2B5EF4-FFF2-40B4-BE49-F238E27FC236}">
                <a16:creationId xmlns:a16="http://schemas.microsoft.com/office/drawing/2014/main" id="{B72DAAC6-BB04-40A4-B6E3-DDA632EEC28F}"/>
              </a:ext>
            </a:extLst>
          </p:cNvPr>
          <p:cNvSpPr>
            <a:spLocks xmlns:a="http://schemas.openxmlformats.org/drawingml/2006/main" noGrp="1"/>
          </p:cNvSpPr>
          <p:nvPr/>
        </p:nvSpPr>
        <p:spPr>
          <a:xfrm xmlns:a="http://schemas.openxmlformats.org/drawingml/2006/main">
            <a:off x="6438900" y="1885950"/>
            <a:ext cx="50482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8E4E7"/>
            </a:solidFill>
          </a:ln>
        </p:spPr>
      </p:sp>
      <p:sp>
        <p:nvSpPr>
          <p:cNvPr id="20" name="">
            <a:extLst xmlns:a="http://schemas.openxmlformats.org/drawingml/2006/main">
              <a:ext uri="{FF2B5EF4-FFF2-40B4-BE49-F238E27FC236}">
                <a16:creationId xmlns:a16="http://schemas.microsoft.com/office/drawing/2014/main" id="{D02A17D0-C5F7-4416-90D4-22CB5EA3A6B3}"/>
              </a:ext>
            </a:extLst>
          </p:cNvPr>
          <p:cNvSpPr>
            <a:spLocks xmlns:a="http://schemas.openxmlformats.org/drawingml/2006/main" noGrp="1"/>
          </p:cNvSpPr>
          <p:nvPr/>
        </p:nvSpPr>
        <p:spPr>
          <a:xfrm xmlns:a="http://schemas.openxmlformats.org/drawingml/2006/main">
            <a:off x="6438900" y="1885950"/>
            <a:ext cx="47625" cy="1000125"/>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17C96E1-DD22-40C9-85A8-716013F8E69E}"/>
              </a:ext>
            </a:extLst>
          </p:cNvPr>
          <p:cNvSpPr>
            <a:spLocks xmlns:a="http://schemas.openxmlformats.org/drawingml/2006/main" noGrp="1"/>
          </p:cNvSpPr>
          <p:nvPr/>
        </p:nvSpPr>
        <p:spPr>
          <a:xfrm xmlns:a="http://schemas.openxmlformats.org/drawingml/2006/main">
            <a:off x="6629400" y="20288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AI privacy</a:t>
            </a:r>
          </a:p>
        </p:txBody>
      </p:sp>
      <p:sp>
        <p:nvSpPr>
          <p:cNvPr id="22" name="">
            <a:extLst xmlns:a="http://schemas.openxmlformats.org/drawingml/2006/main">
              <a:ext uri="{FF2B5EF4-FFF2-40B4-BE49-F238E27FC236}">
                <a16:creationId xmlns:a16="http://schemas.microsoft.com/office/drawing/2014/main" id="{E1B6C2CF-64D2-45B0-A3FE-6A3EBF5EF3C7}"/>
              </a:ext>
            </a:extLst>
          </p:cNvPr>
          <p:cNvSpPr>
            <a:spLocks xmlns:a="http://schemas.openxmlformats.org/drawingml/2006/main" noGrp="1"/>
          </p:cNvSpPr>
          <p:nvPr/>
        </p:nvSpPr>
        <p:spPr>
          <a:xfrm xmlns:a="http://schemas.openxmlformats.org/drawingml/2006/main">
            <a:off x="6629400" y="238125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22"/>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A model key and explicit schema-sharing opt-in are required for external AI context.</a:t>
            </a:r>
          </a:p>
        </p:txBody>
      </p:sp>
      <p:sp>
        <p:nvSpPr>
          <p:cNvPr id="23" name="">
            <a:extLst xmlns:a="http://schemas.openxmlformats.org/drawingml/2006/main">
              <a:ext uri="{FF2B5EF4-FFF2-40B4-BE49-F238E27FC236}">
                <a16:creationId xmlns:a16="http://schemas.microsoft.com/office/drawing/2014/main" id="{6E2D368E-F0DD-4E57-AAFF-54747728A537}"/>
              </a:ext>
            </a:extLst>
          </p:cNvPr>
          <p:cNvSpPr>
            <a:spLocks xmlns:a="http://schemas.openxmlformats.org/drawingml/2006/main" noGrp="1"/>
          </p:cNvSpPr>
          <p:nvPr/>
        </p:nvSpPr>
        <p:spPr>
          <a:xfrm xmlns:a="http://schemas.openxmlformats.org/drawingml/2006/main">
            <a:off x="6438900" y="3067050"/>
            <a:ext cx="50482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8E4E7"/>
            </a:solidFill>
          </a:ln>
        </p:spPr>
      </p:sp>
      <p:sp>
        <p:nvSpPr>
          <p:cNvPr id="24" name="">
            <a:extLst xmlns:a="http://schemas.openxmlformats.org/drawingml/2006/main">
              <a:ext uri="{FF2B5EF4-FFF2-40B4-BE49-F238E27FC236}">
                <a16:creationId xmlns:a16="http://schemas.microsoft.com/office/drawing/2014/main" id="{DE39E8C1-7279-4614-91A7-B7B4BE6D0B7B}"/>
              </a:ext>
            </a:extLst>
          </p:cNvPr>
          <p:cNvSpPr>
            <a:spLocks xmlns:a="http://schemas.openxmlformats.org/drawingml/2006/main" noGrp="1"/>
          </p:cNvSpPr>
          <p:nvPr/>
        </p:nvSpPr>
        <p:spPr>
          <a:xfrm xmlns:a="http://schemas.openxmlformats.org/drawingml/2006/main">
            <a:off x="6438900" y="3067050"/>
            <a:ext cx="47625" cy="1000125"/>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EA381B4-D26B-44D8-BB10-C1D0AE686D82}"/>
              </a:ext>
            </a:extLst>
          </p:cNvPr>
          <p:cNvSpPr>
            <a:spLocks xmlns:a="http://schemas.openxmlformats.org/drawingml/2006/main" noGrp="1"/>
          </p:cNvSpPr>
          <p:nvPr/>
        </p:nvSpPr>
        <p:spPr>
          <a:xfrm xmlns:a="http://schemas.openxmlformats.org/drawingml/2006/main">
            <a:off x="6629400" y="32099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Snapshot freshness</a:t>
            </a:r>
          </a:p>
        </p:txBody>
      </p:sp>
      <p:sp>
        <p:nvSpPr>
          <p:cNvPr id="26" name="">
            <a:extLst xmlns:a="http://schemas.openxmlformats.org/drawingml/2006/main">
              <a:ext uri="{FF2B5EF4-FFF2-40B4-BE49-F238E27FC236}">
                <a16:creationId xmlns:a16="http://schemas.microsoft.com/office/drawing/2014/main" id="{4F9F2916-52AA-4E88-8E74-C59119A9FB23}"/>
              </a:ext>
            </a:extLst>
          </p:cNvPr>
          <p:cNvSpPr>
            <a:spLocks xmlns:a="http://schemas.openxmlformats.org/drawingml/2006/main" noGrp="1"/>
          </p:cNvSpPr>
          <p:nvPr/>
        </p:nvSpPr>
        <p:spPr>
          <a:xfrm xmlns:a="http://schemas.openxmlformats.org/drawingml/2006/main">
            <a:off x="6629400" y="356235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22"/>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A saved snapshot describes one scan. Rescan before relying on changed database structure.</a:t>
            </a:r>
          </a:p>
        </p:txBody>
      </p:sp>
      <p:sp>
        <p:nvSpPr>
          <p:cNvPr id="27" name="">
            <a:extLst xmlns:a="http://schemas.openxmlformats.org/drawingml/2006/main">
              <a:ext uri="{FF2B5EF4-FFF2-40B4-BE49-F238E27FC236}">
                <a16:creationId xmlns:a16="http://schemas.microsoft.com/office/drawing/2014/main" id="{ECB09A87-FBC7-4D52-BE74-9C8C976F3529}"/>
              </a:ext>
            </a:extLst>
          </p:cNvPr>
          <p:cNvSpPr>
            <a:spLocks xmlns:a="http://schemas.openxmlformats.org/drawingml/2006/main" noGrp="1"/>
          </p:cNvSpPr>
          <p:nvPr/>
        </p:nvSpPr>
        <p:spPr>
          <a:xfrm xmlns:a="http://schemas.openxmlformats.org/drawingml/2006/main">
            <a:off x="6438900" y="4248150"/>
            <a:ext cx="50482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8E4E7"/>
            </a:solidFill>
          </a:ln>
        </p:spPr>
      </p:sp>
      <p:sp>
        <p:nvSpPr>
          <p:cNvPr id="28" name="">
            <a:extLst xmlns:a="http://schemas.openxmlformats.org/drawingml/2006/main">
              <a:ext uri="{FF2B5EF4-FFF2-40B4-BE49-F238E27FC236}">
                <a16:creationId xmlns:a16="http://schemas.microsoft.com/office/drawing/2014/main" id="{E7BD3F82-00DB-45B2-B487-05939ACD7515}"/>
              </a:ext>
            </a:extLst>
          </p:cNvPr>
          <p:cNvSpPr>
            <a:spLocks xmlns:a="http://schemas.openxmlformats.org/drawingml/2006/main" noGrp="1"/>
          </p:cNvSpPr>
          <p:nvPr/>
        </p:nvSpPr>
        <p:spPr>
          <a:xfrm xmlns:a="http://schemas.openxmlformats.org/drawingml/2006/main">
            <a:off x="6438900" y="4248150"/>
            <a:ext cx="47625" cy="1000125"/>
          </a:xfrm>
          <a:prstGeom xmlns:a="http://schemas.openxmlformats.org/drawingml/2006/main" prst="rect">
            <a:avLst/>
          </a:prstGeom>
          <a:solidFill xmlns:a="http://schemas.openxmlformats.org/drawingml/2006/main">
            <a:srgbClr val="D18A2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D9E675C-58FF-4D89-88FB-F262C778A460}"/>
              </a:ext>
            </a:extLst>
          </p:cNvPr>
          <p:cNvSpPr>
            <a:spLocks xmlns:a="http://schemas.openxmlformats.org/drawingml/2006/main" noGrp="1"/>
          </p:cNvSpPr>
          <p:nvPr/>
        </p:nvSpPr>
        <p:spPr>
          <a:xfrm xmlns:a="http://schemas.openxmlformats.org/drawingml/2006/main">
            <a:off x="6629400" y="43910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defPPr>
              <a:defRPr sz="1425" b="1">
                <a:solidFill>
                  <a:srgbClr val="183244"/>
                </a:solidFill>
                <a:latin typeface="Arial"/>
                <a:ea typeface="Arial"/>
                <a:cs typeface="Arial"/>
              </a:defRPr>
            </a:defPPr>
          </a:lstStyle>
          <a:p xmlns:a="http://schemas.openxmlformats.org/drawingml/2006/main">
            <a:pPr>
              <a:defRPr sz="1425" b="1">
                <a:solidFill>
                  <a:srgbClr val="183244"/>
                </a:solidFill>
                <a:latin typeface="Arial"/>
                <a:ea typeface="Arial"/>
                <a:cs typeface="Arial"/>
              </a:defRPr>
            </a:pPr>
            <a:r>
              <a:rPr sz="1425" b="1">
                <a:solidFill>
                  <a:srgbClr val="183244"/>
                </a:solidFill>
                <a:latin typeface="Arial"/>
                <a:ea typeface="Arial"/>
                <a:cs typeface="Arial"/>
              </a:rPr>
              <a:t>Local scope</a:t>
            </a:r>
          </a:p>
        </p:txBody>
      </p:sp>
      <p:sp>
        <p:nvSpPr>
          <p:cNvPr id="30" name="">
            <a:extLst xmlns:a="http://schemas.openxmlformats.org/drawingml/2006/main">
              <a:ext uri="{FF2B5EF4-FFF2-40B4-BE49-F238E27FC236}">
                <a16:creationId xmlns:a16="http://schemas.microsoft.com/office/drawing/2014/main" id="{D9CAF6BA-117C-4FA8-8574-F6574CDFA9C6}"/>
              </a:ext>
            </a:extLst>
          </p:cNvPr>
          <p:cNvSpPr>
            <a:spLocks xmlns:a="http://schemas.openxmlformats.org/drawingml/2006/main" noGrp="1"/>
          </p:cNvSpPr>
          <p:nvPr/>
        </p:nvSpPr>
        <p:spPr>
          <a:xfrm xmlns:a="http://schemas.openxmlformats.org/drawingml/2006/main">
            <a:off x="6629400" y="4743450"/>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22"/>
          </a:bodyPr>
          <a:lstStyle xmlns:a="http://schemas.openxmlformats.org/drawingml/2006/main">
            <a:defPPr>
              <a:defRPr sz="1125" b="0">
                <a:solidFill>
                  <a:srgbClr val="597180"/>
                </a:solidFill>
                <a:latin typeface="Arial"/>
                <a:ea typeface="Arial"/>
                <a:cs typeface="Arial"/>
              </a:defRPr>
            </a:defPPr>
          </a:lstStyle>
          <a:p xmlns:a="http://schemas.openxmlformats.org/drawingml/2006/main">
            <a:pPr>
              <a:defRPr sz="1125" b="0">
                <a:solidFill>
                  <a:srgbClr val="597180"/>
                </a:solidFill>
                <a:latin typeface="Arial"/>
                <a:ea typeface="Arial"/>
                <a:cs typeface="Arial"/>
              </a:defRPr>
            </a:pPr>
            <a:r>
              <a:rPr sz="1125" b="0">
                <a:solidFill>
                  <a:srgbClr val="597180"/>
                </a:solidFill>
                <a:latin typeface="Arial"/>
                <a:ea typeface="Arial"/>
                <a:cs typeface="Arial"/>
              </a:rPr>
              <a:t>Optional local accounts are not security-reviewed for public exposure; jobs run in one API process.</a:t>
            </a:r>
          </a:p>
        </p:txBody>
      </p:sp>
      <p:sp>
        <p:nvSpPr>
          <p:cNvPr id="31" name="">
            <a:extLst xmlns:a="http://schemas.openxmlformats.org/drawingml/2006/main">
              <a:ext uri="{FF2B5EF4-FFF2-40B4-BE49-F238E27FC236}">
                <a16:creationId xmlns:a16="http://schemas.microsoft.com/office/drawing/2014/main" id="{F4502B47-8BF2-4A91-A566-1E8B388796C7}"/>
              </a:ext>
            </a:extLst>
          </p:cNvPr>
          <p:cNvSpPr>
            <a:spLocks xmlns:a="http://schemas.openxmlformats.org/drawingml/2006/main" noGrp="1"/>
          </p:cNvSpPr>
          <p:nvPr/>
        </p:nvSpPr>
        <p:spPr>
          <a:xfrm xmlns:a="http://schemas.openxmlformats.org/drawingml/2006/main">
            <a:off x="723900" y="5657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183244"/>
                </a:solidFill>
                <a:latin typeface="Arial"/>
                <a:ea typeface="Arial"/>
                <a:cs typeface="Arial"/>
              </a:defRPr>
            </a:defPPr>
          </a:lstStyle>
          <a:p xmlns:a="http://schemas.openxmlformats.org/drawingml/2006/main">
            <a:pPr>
              <a:defRPr sz="1200" b="1">
                <a:solidFill>
                  <a:srgbClr val="183244"/>
                </a:solidFill>
                <a:latin typeface="Arial"/>
                <a:ea typeface="Arial"/>
                <a:cs typeface="Arial"/>
              </a:defRPr>
            </a:pPr>
            <a:r>
              <a:rPr sz="1200" b="1">
                <a:solidFill>
                  <a:srgbClr val="183244"/>
                </a:solidFill>
                <a:latin typeface="Arial"/>
                <a:ea typeface="Arial"/>
                <a:cs typeface="Arial"/>
              </a:rPr>
              <a:t>A recommendation can be useful and still require workload evidence or business context.</a:t>
            </a:r>
          </a:p>
        </p:txBody>
      </p:sp>
    </p:spTree>
    <p:extLst>
      <p:ext uri="{BB962C8B-B14F-4D97-AF65-F5344CB8AC3E}">
        <p14:creationId xmlns:p14="http://schemas.microsoft.com/office/powerpoint/2010/main" val="810500747"/>
      </p:ext>
    </p:extLst>
  </p:cSld>
</p:sld>
</file>

<file path=ppt/slides/slide11.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F685FCC-13B2-4CD2-9B18-98B6EE0EA4B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F0651F-39FF-4276-95A7-B9968FB4972D}"/>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Core flow is verified; several advanced paths need a live pass</a:t>
            </a:r>
          </a:p>
        </p:txBody>
      </p:sp>
      <p:sp>
        <p:nvSpPr>
          <p:cNvPr id="3" name="">
            <a:extLst xmlns:a="http://schemas.openxmlformats.org/drawingml/2006/main">
              <a:ext uri="{FF2B5EF4-FFF2-40B4-BE49-F238E27FC236}">
                <a16:creationId xmlns:a16="http://schemas.microsoft.com/office/drawing/2014/main" id="{C2ED0C93-3EFB-4BFA-8DFB-3C5AD085322E}"/>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This separates recorded results from capabilities that exist in code but have less end-to-end coverage.</a:t>
            </a:r>
          </a:p>
        </p:txBody>
      </p:sp>
      <p:sp>
        <p:nvSpPr>
          <p:cNvPr id="4" name="">
            <a:extLst xmlns:a="http://schemas.openxmlformats.org/drawingml/2006/main">
              <a:ext uri="{FF2B5EF4-FFF2-40B4-BE49-F238E27FC236}">
                <a16:creationId xmlns:a16="http://schemas.microsoft.com/office/drawing/2014/main" id="{E5CCA9A0-9D2F-4C53-BEB8-DBE921B29B83}"/>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AB4E28-097C-4B65-AD04-2683202F4FC5}"/>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8D037B41-AD38-4DCC-B6B6-BB3057A52B8A}"/>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8C5E6E3D-B8D9-4B29-AFA5-DA9E82D76025}"/>
              </a:ext>
            </a:extLst>
          </p:cNvPr>
          <p:cNvSpPr>
            <a:spLocks xmlns:a="http://schemas.openxmlformats.org/drawingml/2006/main" noGrp="1"/>
          </p:cNvSpPr>
          <p:nvPr/>
        </p:nvSpPr>
        <p:spPr>
          <a:xfrm xmlns:a="http://schemas.openxmlformats.org/drawingml/2006/main">
            <a:off x="704850" y="1828800"/>
            <a:ext cx="5048250" cy="36576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8E4E7"/>
            </a:solidFill>
          </a:ln>
        </p:spPr>
      </p:sp>
      <p:sp>
        <p:nvSpPr>
          <p:cNvPr id="8" name="">
            <a:extLst xmlns:a="http://schemas.openxmlformats.org/drawingml/2006/main">
              <a:ext uri="{FF2B5EF4-FFF2-40B4-BE49-F238E27FC236}">
                <a16:creationId xmlns:a16="http://schemas.microsoft.com/office/drawing/2014/main" id="{CD7F5AF9-7AA0-448F-A484-3AC79CE97DC5}"/>
              </a:ext>
            </a:extLst>
          </p:cNvPr>
          <p:cNvSpPr>
            <a:spLocks xmlns:a="http://schemas.openxmlformats.org/drawingml/2006/main" noGrp="1"/>
          </p:cNvSpPr>
          <p:nvPr/>
        </p:nvSpPr>
        <p:spPr>
          <a:xfrm xmlns:a="http://schemas.openxmlformats.org/drawingml/2006/main">
            <a:off x="704850" y="1828800"/>
            <a:ext cx="5048250" cy="457200"/>
          </a:xfrm>
          <a:prstGeom xmlns:a="http://schemas.openxmlformats.org/drawingml/2006/main" prst="roundRect">
            <a:avLst>
              <a:gd name="adj" fmla="val 25000"/>
            </a:avLst>
          </a:prstGeom>
          <a:solidFill xmlns:a="http://schemas.openxmlformats.org/drawingml/2006/main">
            <a:srgbClr val="E4F3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4E721CC-681B-4507-A91F-735266EEBB31}"/>
              </a:ext>
            </a:extLst>
          </p:cNvPr>
          <p:cNvSpPr>
            <a:spLocks xmlns:a="http://schemas.openxmlformats.org/drawingml/2006/main" noGrp="1"/>
          </p:cNvSpPr>
          <p:nvPr/>
        </p:nvSpPr>
        <p:spPr>
          <a:xfrm xmlns:a="http://schemas.openxmlformats.org/drawingml/2006/main">
            <a:off x="914400" y="193357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defPPr>
              <a:defRPr sz="975" b="1">
                <a:solidFill>
                  <a:srgbClr val="25785D"/>
                </a:solidFill>
                <a:latin typeface="Arial"/>
                <a:ea typeface="Arial"/>
                <a:cs typeface="Arial"/>
              </a:defRPr>
            </a:defPPr>
          </a:lstStyle>
          <a:p xmlns:a="http://schemas.openxmlformats.org/drawingml/2006/main">
            <a:pPr>
              <a:defRPr sz="975" b="1">
                <a:solidFill>
                  <a:srgbClr val="25785D"/>
                </a:solidFill>
                <a:latin typeface="Arial"/>
                <a:ea typeface="Arial"/>
                <a:cs typeface="Arial"/>
              </a:defRPr>
            </a:pPr>
            <a:r>
              <a:rPr sz="975" b="1">
                <a:solidFill>
                  <a:srgbClr val="25785D"/>
                </a:solidFill>
                <a:latin typeface="Arial"/>
                <a:ea typeface="Arial"/>
                <a:cs typeface="Arial"/>
              </a:rPr>
              <a:t>RECORDED LIVE VERIFICATION</a:t>
            </a:r>
          </a:p>
        </p:txBody>
      </p:sp>
      <p:sp>
        <p:nvSpPr>
          <p:cNvPr id="10" name="">
            <a:extLst xmlns:a="http://schemas.openxmlformats.org/drawingml/2006/main">
              <a:ext uri="{FF2B5EF4-FFF2-40B4-BE49-F238E27FC236}">
                <a16:creationId xmlns:a16="http://schemas.microsoft.com/office/drawing/2014/main" id="{3EE990EB-BC4B-407C-A279-706E1D6E58F6}"/>
              </a:ext>
            </a:extLst>
          </p:cNvPr>
          <p:cNvSpPr>
            <a:spLocks xmlns:a="http://schemas.openxmlformats.org/drawingml/2006/main" noGrp="1"/>
          </p:cNvSpPr>
          <p:nvPr/>
        </p:nvSpPr>
        <p:spPr>
          <a:xfrm xmlns:a="http://schemas.openxmlformats.org/drawingml/2006/main">
            <a:off x="933450" y="250507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169"/>
          </a:bodyPr>
          <a:lstStyle xmlns:a="http://schemas.openxmlformats.org/drawingml/2006/main">
            <a:defPPr>
              <a:defRPr sz="1350" b="1">
                <a:solidFill>
                  <a:srgbClr val="25785D"/>
                </a:solidFill>
                <a:latin typeface="Arial"/>
                <a:ea typeface="Arial"/>
                <a:cs typeface="Arial"/>
              </a:defRPr>
            </a:defPPr>
          </a:lstStyle>
          <a:p xmlns:a="http://schemas.openxmlformats.org/drawingml/2006/main">
            <a:pPr>
              <a:defRPr sz="1350" b="1">
                <a:solidFill>
                  <a:srgbClr val="25785D"/>
                </a:solidFill>
                <a:latin typeface="Arial"/>
                <a:ea typeface="Arial"/>
                <a:cs typeface="Arial"/>
              </a:defRPr>
            </a:pPr>
            <a:r>
              <a:rPr sz="1350" b="1">
                <a:solidFill>
                  <a:srgbClr val="25785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0957AF94-8CA4-41EF-B711-5A342A30B788}"/>
              </a:ext>
            </a:extLst>
          </p:cNvPr>
          <p:cNvSpPr>
            <a:spLocks xmlns:a="http://schemas.openxmlformats.org/drawingml/2006/main" noGrp="1"/>
          </p:cNvSpPr>
          <p:nvPr/>
        </p:nvSpPr>
        <p:spPr>
          <a:xfrm xmlns:a="http://schemas.openxmlformats.org/drawingml/2006/main">
            <a:off x="1257300" y="247650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PostgreSQL demo connection and scan</a:t>
            </a:r>
          </a:p>
        </p:txBody>
      </p:sp>
      <p:sp>
        <p:nvSpPr>
          <p:cNvPr id="12" name="">
            <a:extLst xmlns:a="http://schemas.openxmlformats.org/drawingml/2006/main">
              <a:ext uri="{FF2B5EF4-FFF2-40B4-BE49-F238E27FC236}">
                <a16:creationId xmlns:a16="http://schemas.microsoft.com/office/drawing/2014/main" id="{238C1535-6C2F-4D64-8619-BD826612CE72}"/>
              </a:ext>
            </a:extLst>
          </p:cNvPr>
          <p:cNvSpPr>
            <a:spLocks xmlns:a="http://schemas.openxmlformats.org/drawingml/2006/main" noGrp="1"/>
          </p:cNvSpPr>
          <p:nvPr/>
        </p:nvSpPr>
        <p:spPr>
          <a:xfrm xmlns:a="http://schemas.openxmlformats.org/drawingml/2006/main">
            <a:off x="933450" y="300990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169"/>
          </a:bodyPr>
          <a:lstStyle xmlns:a="http://schemas.openxmlformats.org/drawingml/2006/main">
            <a:defPPr>
              <a:defRPr sz="1350" b="1">
                <a:solidFill>
                  <a:srgbClr val="25785D"/>
                </a:solidFill>
                <a:latin typeface="Arial"/>
                <a:ea typeface="Arial"/>
                <a:cs typeface="Arial"/>
              </a:defRPr>
            </a:defPPr>
          </a:lstStyle>
          <a:p xmlns:a="http://schemas.openxmlformats.org/drawingml/2006/main">
            <a:pPr>
              <a:defRPr sz="1350" b="1">
                <a:solidFill>
                  <a:srgbClr val="25785D"/>
                </a:solidFill>
                <a:latin typeface="Arial"/>
                <a:ea typeface="Arial"/>
                <a:cs typeface="Arial"/>
              </a:defRPr>
            </a:pPr>
            <a:r>
              <a:rPr sz="1350" b="1">
                <a:solidFill>
                  <a:srgbClr val="25785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5D6001AA-BB0E-4D61-84B7-EA124A83BC34}"/>
              </a:ext>
            </a:extLst>
          </p:cNvPr>
          <p:cNvSpPr>
            <a:spLocks xmlns:a="http://schemas.openxmlformats.org/drawingml/2006/main" noGrp="1"/>
          </p:cNvSpPr>
          <p:nvPr/>
        </p:nvSpPr>
        <p:spPr>
          <a:xfrm xmlns:a="http://schemas.openxmlformats.org/drawingml/2006/main">
            <a:off x="1257300" y="29813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Four tables, relationships, and six findings</a:t>
            </a:r>
          </a:p>
        </p:txBody>
      </p:sp>
      <p:sp>
        <p:nvSpPr>
          <p:cNvPr id="14" name="">
            <a:extLst xmlns:a="http://schemas.openxmlformats.org/drawingml/2006/main">
              <a:ext uri="{FF2B5EF4-FFF2-40B4-BE49-F238E27FC236}">
                <a16:creationId xmlns:a16="http://schemas.microsoft.com/office/drawing/2014/main" id="{3A9B010E-1756-43CC-B56C-E05ECD9E393D}"/>
              </a:ext>
            </a:extLst>
          </p:cNvPr>
          <p:cNvSpPr>
            <a:spLocks xmlns:a="http://schemas.openxmlformats.org/drawingml/2006/main" noGrp="1"/>
          </p:cNvSpPr>
          <p:nvPr/>
        </p:nvSpPr>
        <p:spPr>
          <a:xfrm xmlns:a="http://schemas.openxmlformats.org/drawingml/2006/main">
            <a:off x="933450" y="35147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169"/>
          </a:bodyPr>
          <a:lstStyle xmlns:a="http://schemas.openxmlformats.org/drawingml/2006/main">
            <a:defPPr>
              <a:defRPr sz="1350" b="1">
                <a:solidFill>
                  <a:srgbClr val="25785D"/>
                </a:solidFill>
                <a:latin typeface="Arial"/>
                <a:ea typeface="Arial"/>
                <a:cs typeface="Arial"/>
              </a:defRPr>
            </a:defPPr>
          </a:lstStyle>
          <a:p xmlns:a="http://schemas.openxmlformats.org/drawingml/2006/main">
            <a:pPr>
              <a:defRPr sz="1350" b="1">
                <a:solidFill>
                  <a:srgbClr val="25785D"/>
                </a:solidFill>
                <a:latin typeface="Arial"/>
                <a:ea typeface="Arial"/>
                <a:cs typeface="Arial"/>
              </a:defRPr>
            </a:pPr>
            <a:r>
              <a:rPr sz="1350" b="1">
                <a:solidFill>
                  <a:srgbClr val="25785D"/>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92940CB-8E8E-4F62-8646-D8A624D3D14A}"/>
              </a:ext>
            </a:extLst>
          </p:cNvPr>
          <p:cNvSpPr>
            <a:spLocks xmlns:a="http://schemas.openxmlformats.org/drawingml/2006/main" noGrp="1"/>
          </p:cNvSpPr>
          <p:nvPr/>
        </p:nvSpPr>
        <p:spPr>
          <a:xfrm xmlns:a="http://schemas.openxmlformats.org/drawingml/2006/main">
            <a:off x="1257300" y="34861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Markdown documentation and cited fallback chat</a:t>
            </a:r>
          </a:p>
        </p:txBody>
      </p:sp>
      <p:sp>
        <p:nvSpPr>
          <p:cNvPr id="16" name="">
            <a:extLst xmlns:a="http://schemas.openxmlformats.org/drawingml/2006/main">
              <a:ext uri="{FF2B5EF4-FFF2-40B4-BE49-F238E27FC236}">
                <a16:creationId xmlns:a16="http://schemas.microsoft.com/office/drawing/2014/main" id="{39D5BB4E-3501-4D57-8C26-307C4792FA45}"/>
              </a:ext>
            </a:extLst>
          </p:cNvPr>
          <p:cNvSpPr>
            <a:spLocks xmlns:a="http://schemas.openxmlformats.org/drawingml/2006/main" noGrp="1"/>
          </p:cNvSpPr>
          <p:nvPr/>
        </p:nvSpPr>
        <p:spPr>
          <a:xfrm xmlns:a="http://schemas.openxmlformats.org/drawingml/2006/main">
            <a:off x="933450" y="401955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169"/>
          </a:bodyPr>
          <a:lstStyle xmlns:a="http://schemas.openxmlformats.org/drawingml/2006/main">
            <a:defPPr>
              <a:defRPr sz="1350" b="1">
                <a:solidFill>
                  <a:srgbClr val="25785D"/>
                </a:solidFill>
                <a:latin typeface="Arial"/>
                <a:ea typeface="Arial"/>
                <a:cs typeface="Arial"/>
              </a:defRPr>
            </a:defPPr>
          </a:lstStyle>
          <a:p xmlns:a="http://schemas.openxmlformats.org/drawingml/2006/main">
            <a:pPr>
              <a:defRPr sz="1350" b="1">
                <a:solidFill>
                  <a:srgbClr val="25785D"/>
                </a:solidFill>
                <a:latin typeface="Arial"/>
                <a:ea typeface="Arial"/>
                <a:cs typeface="Arial"/>
              </a:defRPr>
            </a:pPr>
            <a:r>
              <a:rPr sz="1350" b="1">
                <a:solidFill>
                  <a:srgbClr val="25785D"/>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F625775F-FB4B-4F4B-98B9-7C37982ACDAA}"/>
              </a:ext>
            </a:extLst>
          </p:cNvPr>
          <p:cNvSpPr>
            <a:spLocks xmlns:a="http://schemas.openxmlformats.org/drawingml/2006/main" noGrp="1"/>
          </p:cNvSpPr>
          <p:nvPr/>
        </p:nvSpPr>
        <p:spPr>
          <a:xfrm xmlns:a="http://schemas.openxmlformats.org/drawingml/2006/main">
            <a:off x="1257300" y="399097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Bounded SELECT, estimated plan, write rejection</a:t>
            </a:r>
          </a:p>
        </p:txBody>
      </p:sp>
      <p:sp>
        <p:nvSpPr>
          <p:cNvPr id="18" name="">
            <a:extLst xmlns:a="http://schemas.openxmlformats.org/drawingml/2006/main">
              <a:ext uri="{FF2B5EF4-FFF2-40B4-BE49-F238E27FC236}">
                <a16:creationId xmlns:a16="http://schemas.microsoft.com/office/drawing/2014/main" id="{DE505E77-25C7-442D-8F2F-64474D52787F}"/>
              </a:ext>
            </a:extLst>
          </p:cNvPr>
          <p:cNvSpPr>
            <a:spLocks xmlns:a="http://schemas.openxmlformats.org/drawingml/2006/main" noGrp="1"/>
          </p:cNvSpPr>
          <p:nvPr/>
        </p:nvSpPr>
        <p:spPr>
          <a:xfrm xmlns:a="http://schemas.openxmlformats.org/drawingml/2006/main">
            <a:off x="933450" y="452437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169"/>
          </a:bodyPr>
          <a:lstStyle xmlns:a="http://schemas.openxmlformats.org/drawingml/2006/main">
            <a:defPPr>
              <a:defRPr sz="1350" b="1">
                <a:solidFill>
                  <a:srgbClr val="25785D"/>
                </a:solidFill>
                <a:latin typeface="Arial"/>
                <a:ea typeface="Arial"/>
                <a:cs typeface="Arial"/>
              </a:defRPr>
            </a:defPPr>
          </a:lstStyle>
          <a:p xmlns:a="http://schemas.openxmlformats.org/drawingml/2006/main">
            <a:pPr>
              <a:defRPr sz="1350" b="1">
                <a:solidFill>
                  <a:srgbClr val="25785D"/>
                </a:solidFill>
                <a:latin typeface="Arial"/>
                <a:ea typeface="Arial"/>
                <a:cs typeface="Arial"/>
              </a:defRPr>
            </a:pPr>
            <a:r>
              <a:rPr sz="1350" b="1">
                <a:solidFill>
                  <a:srgbClr val="25785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A67E2F46-483F-4968-B8B9-49BEA58DB9AB}"/>
              </a:ext>
            </a:extLst>
          </p:cNvPr>
          <p:cNvSpPr>
            <a:spLocks xmlns:a="http://schemas.openxmlformats.org/drawingml/2006/main" noGrp="1"/>
          </p:cNvSpPr>
          <p:nvPr/>
        </p:nvSpPr>
        <p:spPr>
          <a:xfrm xmlns:a="http://schemas.openxmlformats.org/drawingml/2006/main">
            <a:off x="1257300" y="449580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20 backend tests, 5 frontend tests, frontend build</a:t>
            </a:r>
          </a:p>
        </p:txBody>
      </p:sp>
      <p:sp>
        <p:nvSpPr>
          <p:cNvPr id="20" name="">
            <a:extLst xmlns:a="http://schemas.openxmlformats.org/drawingml/2006/main">
              <a:ext uri="{FF2B5EF4-FFF2-40B4-BE49-F238E27FC236}">
                <a16:creationId xmlns:a16="http://schemas.microsoft.com/office/drawing/2014/main" id="{C6D53486-F14C-46CD-8F9A-F42C477C1B26}"/>
              </a:ext>
            </a:extLst>
          </p:cNvPr>
          <p:cNvSpPr>
            <a:spLocks xmlns:a="http://schemas.openxmlformats.org/drawingml/2006/main" noGrp="1"/>
          </p:cNvSpPr>
          <p:nvPr/>
        </p:nvSpPr>
        <p:spPr>
          <a:xfrm xmlns:a="http://schemas.openxmlformats.org/drawingml/2006/main">
            <a:off x="6419850" y="1828800"/>
            <a:ext cx="5048250" cy="36576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8E4E7"/>
            </a:solidFill>
          </a:ln>
        </p:spPr>
      </p:sp>
      <p:sp>
        <p:nvSpPr>
          <p:cNvPr id="21" name="">
            <a:extLst xmlns:a="http://schemas.openxmlformats.org/drawingml/2006/main">
              <a:ext uri="{FF2B5EF4-FFF2-40B4-BE49-F238E27FC236}">
                <a16:creationId xmlns:a16="http://schemas.microsoft.com/office/drawing/2014/main" id="{A03FF952-9893-423A-B7FC-A0D45CFBA3BB}"/>
              </a:ext>
            </a:extLst>
          </p:cNvPr>
          <p:cNvSpPr>
            <a:spLocks xmlns:a="http://schemas.openxmlformats.org/drawingml/2006/main" noGrp="1"/>
          </p:cNvSpPr>
          <p:nvPr/>
        </p:nvSpPr>
        <p:spPr>
          <a:xfrm xmlns:a="http://schemas.openxmlformats.org/drawingml/2006/main">
            <a:off x="6419850" y="1828800"/>
            <a:ext cx="5048250" cy="457200"/>
          </a:xfrm>
          <a:prstGeom xmlns:a="http://schemas.openxmlformats.org/drawingml/2006/main" prst="roundRect">
            <a:avLst>
              <a:gd name="adj" fmla="val 25000"/>
            </a:avLst>
          </a:prstGeom>
          <a:solidFill xmlns:a="http://schemas.openxmlformats.org/drawingml/2006/main">
            <a:srgbClr val="FFF2D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D214343-F60D-4759-9689-F84D4998BF92}"/>
              </a:ext>
            </a:extLst>
          </p:cNvPr>
          <p:cNvSpPr>
            <a:spLocks xmlns:a="http://schemas.openxmlformats.org/drawingml/2006/main" noGrp="1"/>
          </p:cNvSpPr>
          <p:nvPr/>
        </p:nvSpPr>
        <p:spPr>
          <a:xfrm xmlns:a="http://schemas.openxmlformats.org/drawingml/2006/main">
            <a:off x="6629400" y="193357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defPPr>
              <a:defRPr sz="975" b="1">
                <a:solidFill>
                  <a:srgbClr val="D18A27"/>
                </a:solidFill>
                <a:latin typeface="Arial"/>
                <a:ea typeface="Arial"/>
                <a:cs typeface="Arial"/>
              </a:defRPr>
            </a:defPPr>
          </a:lstStyle>
          <a:p xmlns:a="http://schemas.openxmlformats.org/drawingml/2006/main">
            <a:pPr>
              <a:defRPr sz="975" b="1">
                <a:solidFill>
                  <a:srgbClr val="D18A27"/>
                </a:solidFill>
                <a:latin typeface="Arial"/>
                <a:ea typeface="Arial"/>
                <a:cs typeface="Arial"/>
              </a:defRPr>
            </a:pPr>
            <a:r>
              <a:rPr sz="975" b="1">
                <a:solidFill>
                  <a:srgbClr val="D18A27"/>
                </a:solidFill>
                <a:latin typeface="Arial"/>
                <a:ea typeface="Arial"/>
                <a:cs typeface="Arial"/>
              </a:rPr>
              <a:t>NEEDS MORE LIVE VALIDATION</a:t>
            </a:r>
          </a:p>
        </p:txBody>
      </p:sp>
      <p:sp>
        <p:nvSpPr>
          <p:cNvPr id="23" name="">
            <a:extLst xmlns:a="http://schemas.openxmlformats.org/drawingml/2006/main">
              <a:ext uri="{FF2B5EF4-FFF2-40B4-BE49-F238E27FC236}">
                <a16:creationId xmlns:a16="http://schemas.microsoft.com/office/drawing/2014/main" id="{08C4453E-2B5C-468C-8CC7-B3F977D3F171}"/>
              </a:ext>
            </a:extLst>
          </p:cNvPr>
          <p:cNvSpPr>
            <a:spLocks xmlns:a="http://schemas.openxmlformats.org/drawingml/2006/main" noGrp="1"/>
          </p:cNvSpPr>
          <p:nvPr/>
        </p:nvSpPr>
        <p:spPr>
          <a:xfrm xmlns:a="http://schemas.openxmlformats.org/drawingml/2006/main">
            <a:off x="6648450" y="250507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296"/>
          </a:bodyPr>
          <a:lstStyle xmlns:a="http://schemas.openxmlformats.org/drawingml/2006/main">
            <a:defPPr>
              <a:defRPr sz="1350" b="1">
                <a:solidFill>
                  <a:srgbClr val="D18A27"/>
                </a:solidFill>
                <a:latin typeface="Arial"/>
                <a:ea typeface="Arial"/>
                <a:cs typeface="Arial"/>
              </a:defRPr>
            </a:defPPr>
          </a:lstStyle>
          <a:p xmlns:a="http://schemas.openxmlformats.org/drawingml/2006/main">
            <a:pPr>
              <a:defRPr sz="1350" b="1">
                <a:solidFill>
                  <a:srgbClr val="D18A27"/>
                </a:solidFill>
                <a:latin typeface="Arial"/>
                <a:ea typeface="Arial"/>
                <a:cs typeface="Arial"/>
              </a:defRPr>
            </a:pPr>
            <a:r>
              <a:rPr sz="1350" b="1">
                <a:solidFill>
                  <a:srgbClr val="D18A27"/>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B283E6C5-6383-4DDC-87D3-3CF31A8AAD05}"/>
              </a:ext>
            </a:extLst>
          </p:cNvPr>
          <p:cNvSpPr>
            <a:spLocks xmlns:a="http://schemas.openxmlformats.org/drawingml/2006/main" noGrp="1"/>
          </p:cNvSpPr>
          <p:nvPr/>
        </p:nvSpPr>
        <p:spPr>
          <a:xfrm xmlns:a="http://schemas.openxmlformats.org/drawingml/2006/main">
            <a:off x="6972300" y="2476500"/>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MariaDB and MongoDB integration fixtures</a:t>
            </a:r>
          </a:p>
        </p:txBody>
      </p:sp>
      <p:sp>
        <p:nvSpPr>
          <p:cNvPr id="25" name="">
            <a:extLst xmlns:a="http://schemas.openxmlformats.org/drawingml/2006/main">
              <a:ext uri="{FF2B5EF4-FFF2-40B4-BE49-F238E27FC236}">
                <a16:creationId xmlns:a16="http://schemas.microsoft.com/office/drawing/2014/main" id="{4A934BA8-E28B-463C-BB19-CEE795570AD1}"/>
              </a:ext>
            </a:extLst>
          </p:cNvPr>
          <p:cNvSpPr>
            <a:spLocks xmlns:a="http://schemas.openxmlformats.org/drawingml/2006/main" noGrp="1"/>
          </p:cNvSpPr>
          <p:nvPr/>
        </p:nvSpPr>
        <p:spPr>
          <a:xfrm xmlns:a="http://schemas.openxmlformats.org/drawingml/2006/main">
            <a:off x="6648450" y="300990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296"/>
          </a:bodyPr>
          <a:lstStyle xmlns:a="http://schemas.openxmlformats.org/drawingml/2006/main">
            <a:defPPr>
              <a:defRPr sz="1350" b="1">
                <a:solidFill>
                  <a:srgbClr val="D18A27"/>
                </a:solidFill>
                <a:latin typeface="Arial"/>
                <a:ea typeface="Arial"/>
                <a:cs typeface="Arial"/>
              </a:defRPr>
            </a:defPPr>
          </a:lstStyle>
          <a:p xmlns:a="http://schemas.openxmlformats.org/drawingml/2006/main">
            <a:pPr>
              <a:defRPr sz="1350" b="1">
                <a:solidFill>
                  <a:srgbClr val="D18A27"/>
                </a:solidFill>
                <a:latin typeface="Arial"/>
                <a:ea typeface="Arial"/>
                <a:cs typeface="Arial"/>
              </a:defRPr>
            </a:pPr>
            <a:r>
              <a:rPr sz="1350" b="1">
                <a:solidFill>
                  <a:srgbClr val="D18A27"/>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4D6662AD-E745-47CF-9645-A418E274534F}"/>
              </a:ext>
            </a:extLst>
          </p:cNvPr>
          <p:cNvSpPr>
            <a:spLocks xmlns:a="http://schemas.openxmlformats.org/drawingml/2006/main" noGrp="1"/>
          </p:cNvSpPr>
          <p:nvPr/>
        </p:nvSpPr>
        <p:spPr>
          <a:xfrm xmlns:a="http://schemas.openxmlformats.org/drawingml/2006/main">
            <a:off x="6972300" y="2981325"/>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Schedules, cancellation, account roles, sandbox runs</a:t>
            </a:r>
          </a:p>
        </p:txBody>
      </p:sp>
      <p:sp>
        <p:nvSpPr>
          <p:cNvPr id="27" name="">
            <a:extLst xmlns:a="http://schemas.openxmlformats.org/drawingml/2006/main">
              <a:ext uri="{FF2B5EF4-FFF2-40B4-BE49-F238E27FC236}">
                <a16:creationId xmlns:a16="http://schemas.microsoft.com/office/drawing/2014/main" id="{64118B43-A77D-433B-A334-B29589B9FBCC}"/>
              </a:ext>
            </a:extLst>
          </p:cNvPr>
          <p:cNvSpPr>
            <a:spLocks xmlns:a="http://schemas.openxmlformats.org/drawingml/2006/main" noGrp="1"/>
          </p:cNvSpPr>
          <p:nvPr/>
        </p:nvSpPr>
        <p:spPr>
          <a:xfrm xmlns:a="http://schemas.openxmlformats.org/drawingml/2006/main">
            <a:off x="6648450" y="35147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296"/>
          </a:bodyPr>
          <a:lstStyle xmlns:a="http://schemas.openxmlformats.org/drawingml/2006/main">
            <a:defPPr>
              <a:defRPr sz="1350" b="1">
                <a:solidFill>
                  <a:srgbClr val="D18A27"/>
                </a:solidFill>
                <a:latin typeface="Arial"/>
                <a:ea typeface="Arial"/>
                <a:cs typeface="Arial"/>
              </a:defRPr>
            </a:defPPr>
          </a:lstStyle>
          <a:p xmlns:a="http://schemas.openxmlformats.org/drawingml/2006/main">
            <a:pPr>
              <a:defRPr sz="1350" b="1">
                <a:solidFill>
                  <a:srgbClr val="D18A27"/>
                </a:solidFill>
                <a:latin typeface="Arial"/>
                <a:ea typeface="Arial"/>
                <a:cs typeface="Arial"/>
              </a:defRPr>
            </a:pPr>
            <a:r>
              <a:rPr sz="1350" b="1">
                <a:solidFill>
                  <a:srgbClr val="D18A27"/>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DFA5C525-1480-4552-9CE7-F9F34EE22C6F}"/>
              </a:ext>
            </a:extLst>
          </p:cNvPr>
          <p:cNvSpPr>
            <a:spLocks xmlns:a="http://schemas.openxmlformats.org/drawingml/2006/main" noGrp="1"/>
          </p:cNvSpPr>
          <p:nvPr/>
        </p:nvSpPr>
        <p:spPr>
          <a:xfrm xmlns:a="http://schemas.openxmlformats.org/drawingml/2006/main">
            <a:off x="6972300" y="3486150"/>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Advanced Design Lab browser flows</a:t>
            </a:r>
          </a:p>
        </p:txBody>
      </p:sp>
      <p:sp>
        <p:nvSpPr>
          <p:cNvPr id="29" name="">
            <a:extLst xmlns:a="http://schemas.openxmlformats.org/drawingml/2006/main">
              <a:ext uri="{FF2B5EF4-FFF2-40B4-BE49-F238E27FC236}">
                <a16:creationId xmlns:a16="http://schemas.microsoft.com/office/drawing/2014/main" id="{B401FBA5-68B2-402B-B9C6-9808B4A6FD3D}"/>
              </a:ext>
            </a:extLst>
          </p:cNvPr>
          <p:cNvSpPr>
            <a:spLocks xmlns:a="http://schemas.openxmlformats.org/drawingml/2006/main" noGrp="1"/>
          </p:cNvSpPr>
          <p:nvPr/>
        </p:nvSpPr>
        <p:spPr>
          <a:xfrm xmlns:a="http://schemas.openxmlformats.org/drawingml/2006/main">
            <a:off x="6648450" y="401955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296"/>
          </a:bodyPr>
          <a:lstStyle xmlns:a="http://schemas.openxmlformats.org/drawingml/2006/main">
            <a:defPPr>
              <a:defRPr sz="1350" b="1">
                <a:solidFill>
                  <a:srgbClr val="D18A27"/>
                </a:solidFill>
                <a:latin typeface="Arial"/>
                <a:ea typeface="Arial"/>
                <a:cs typeface="Arial"/>
              </a:defRPr>
            </a:defPPr>
          </a:lstStyle>
          <a:p xmlns:a="http://schemas.openxmlformats.org/drawingml/2006/main">
            <a:pPr>
              <a:defRPr sz="1350" b="1">
                <a:solidFill>
                  <a:srgbClr val="D18A27"/>
                </a:solidFill>
                <a:latin typeface="Arial"/>
                <a:ea typeface="Arial"/>
                <a:cs typeface="Arial"/>
              </a:defRPr>
            </a:pPr>
            <a:r>
              <a:rPr sz="1350" b="1">
                <a:solidFill>
                  <a:srgbClr val="D18A27"/>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FB97B12E-5B2D-431B-B85B-286348D418DF}"/>
              </a:ext>
            </a:extLst>
          </p:cNvPr>
          <p:cNvSpPr>
            <a:spLocks xmlns:a="http://schemas.openxmlformats.org/drawingml/2006/main" noGrp="1"/>
          </p:cNvSpPr>
          <p:nvPr/>
        </p:nvSpPr>
        <p:spPr>
          <a:xfrm xmlns:a="http://schemas.openxmlformats.org/drawingml/2006/main">
            <a:off x="6972300" y="3990975"/>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External AI answers and schema-sharing path</a:t>
            </a:r>
          </a:p>
        </p:txBody>
      </p:sp>
      <p:sp>
        <p:nvSpPr>
          <p:cNvPr id="31" name="">
            <a:extLst xmlns:a="http://schemas.openxmlformats.org/drawingml/2006/main">
              <a:ext uri="{FF2B5EF4-FFF2-40B4-BE49-F238E27FC236}">
                <a16:creationId xmlns:a16="http://schemas.microsoft.com/office/drawing/2014/main" id="{C0AEBAE7-A85C-4243-A7B3-FB888ACA8B0B}"/>
              </a:ext>
            </a:extLst>
          </p:cNvPr>
          <p:cNvSpPr>
            <a:spLocks xmlns:a="http://schemas.openxmlformats.org/drawingml/2006/main" noGrp="1"/>
          </p:cNvSpPr>
          <p:nvPr/>
        </p:nvSpPr>
        <p:spPr>
          <a:xfrm xmlns:a="http://schemas.openxmlformats.org/drawingml/2006/main">
            <a:off x="6648450" y="452437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296"/>
          </a:bodyPr>
          <a:lstStyle xmlns:a="http://schemas.openxmlformats.org/drawingml/2006/main">
            <a:defPPr>
              <a:defRPr sz="1350" b="1">
                <a:solidFill>
                  <a:srgbClr val="D18A27"/>
                </a:solidFill>
                <a:latin typeface="Arial"/>
                <a:ea typeface="Arial"/>
                <a:cs typeface="Arial"/>
              </a:defRPr>
            </a:defPPr>
          </a:lstStyle>
          <a:p xmlns:a="http://schemas.openxmlformats.org/drawingml/2006/main">
            <a:pPr>
              <a:defRPr sz="1350" b="1">
                <a:solidFill>
                  <a:srgbClr val="D18A27"/>
                </a:solidFill>
                <a:latin typeface="Arial"/>
                <a:ea typeface="Arial"/>
                <a:cs typeface="Arial"/>
              </a:defRPr>
            </a:pPr>
            <a:r>
              <a:rPr sz="1350" b="1">
                <a:solidFill>
                  <a:srgbClr val="D18A27"/>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963C8B79-50DB-4AE4-B512-C4E6D6B54596}"/>
              </a:ext>
            </a:extLst>
          </p:cNvPr>
          <p:cNvSpPr>
            <a:spLocks xmlns:a="http://schemas.openxmlformats.org/drawingml/2006/main" noGrp="1"/>
          </p:cNvSpPr>
          <p:nvPr/>
        </p:nvSpPr>
        <p:spPr>
          <a:xfrm xmlns:a="http://schemas.openxmlformats.org/drawingml/2006/main">
            <a:off x="6972300" y="4495800"/>
            <a:ext cx="414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183244"/>
                </a:solidFill>
                <a:latin typeface="Arial"/>
                <a:ea typeface="Arial"/>
                <a:cs typeface="Arial"/>
              </a:defRPr>
            </a:defPPr>
          </a:lstStyle>
          <a:p xmlns:a="http://schemas.openxmlformats.org/drawingml/2006/main">
            <a:pPr>
              <a:defRPr sz="1125" b="0">
                <a:solidFill>
                  <a:srgbClr val="183244"/>
                </a:solidFill>
                <a:latin typeface="Arial"/>
                <a:ea typeface="Arial"/>
                <a:cs typeface="Arial"/>
              </a:defRPr>
            </a:pPr>
            <a:r>
              <a:rPr sz="1125" b="0">
                <a:solidFill>
                  <a:srgbClr val="183244"/>
                </a:solidFill>
                <a:latin typeface="Arial"/>
                <a:ea typeface="Arial"/>
                <a:cs typeface="Arial"/>
              </a:rPr>
              <a:t>Supabase live connection and demo walkthrough</a:t>
            </a:r>
          </a:p>
        </p:txBody>
      </p:sp>
      <p:sp>
        <p:nvSpPr>
          <p:cNvPr id="33" name="">
            <a:extLst xmlns:a="http://schemas.openxmlformats.org/drawingml/2006/main">
              <a:ext uri="{FF2B5EF4-FFF2-40B4-BE49-F238E27FC236}">
                <a16:creationId xmlns:a16="http://schemas.microsoft.com/office/drawing/2014/main" id="{6A752C78-727E-4571-9D06-93FC40D7AB1D}"/>
              </a:ext>
            </a:extLst>
          </p:cNvPr>
          <p:cNvSpPr>
            <a:spLocks xmlns:a="http://schemas.openxmlformats.org/drawingml/2006/main" noGrp="1"/>
          </p:cNvSpPr>
          <p:nvPr/>
        </p:nvSpPr>
        <p:spPr>
          <a:xfrm xmlns:a="http://schemas.openxmlformats.org/drawingml/2006/main">
            <a:off x="723900" y="5657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75" b="0">
                <a:solidFill>
                  <a:srgbClr val="597180"/>
                </a:solidFill>
                <a:latin typeface="Arial"/>
                <a:ea typeface="Arial"/>
                <a:cs typeface="Arial"/>
              </a:defRPr>
            </a:defPPr>
          </a:lstStyle>
          <a:p xmlns:a="http://schemas.openxmlformats.org/drawingml/2006/main">
            <a:pPr>
              <a:defRPr sz="975" b="0">
                <a:solidFill>
                  <a:srgbClr val="597180"/>
                </a:solidFill>
                <a:latin typeface="Arial"/>
                <a:ea typeface="Arial"/>
                <a:cs typeface="Arial"/>
              </a:defRPr>
            </a:pPr>
            <a:r>
              <a:rPr sz="975" b="0">
                <a:solidFill>
                  <a:srgbClr val="597180"/>
                </a:solidFill>
                <a:latin typeface="Arial"/>
                <a:ea typeface="Arial"/>
                <a:cs typeface="Arial"/>
              </a:rPr>
              <a:t>Source: project status recorded October 7, 2026. Current uncommitted changes may include newer work than that verification.</a:t>
            </a:r>
          </a:p>
        </p:txBody>
      </p:sp>
    </p:spTree>
    <p:extLst>
      <p:ext uri="{BB962C8B-B14F-4D97-AF65-F5344CB8AC3E}">
        <p14:creationId xmlns:p14="http://schemas.microsoft.com/office/powerpoint/2010/main" val="1903550270"/>
      </p:ext>
    </p:extLst>
  </p:cSld>
</p:sld>
</file>

<file path=ppt/slides/slide12.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734822F-47BA-4D3D-B34D-6454EDE2181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2F0D09-DD3E-421F-B2BD-89F44B30B1C9}"/>
              </a:ext>
            </a:extLst>
          </p:cNvPr>
          <p:cNvSpPr>
            <a:spLocks xmlns:a="http://schemas.openxmlformats.org/drawingml/2006/main" noGrp="1"/>
          </p:cNvSpPr>
          <p:nvPr/>
        </p:nvSpPr>
        <p:spPr>
          <a:xfrm xmlns:a="http://schemas.openxmlformats.org/drawingml/2006/main">
            <a:off x="628650" y="3619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625" b="1">
                <a:solidFill>
                  <a:srgbClr val="183244"/>
                </a:solidFill>
                <a:latin typeface="Arial"/>
                <a:ea typeface="Arial"/>
                <a:cs typeface="Arial"/>
              </a:defRPr>
            </a:defPPr>
          </a:lstStyle>
          <a:p xmlns:a="http://schemas.openxmlformats.org/drawingml/2006/main">
            <a:pPr>
              <a:defRPr sz="2625" b="1">
                <a:solidFill>
                  <a:srgbClr val="183244"/>
                </a:solidFill>
                <a:latin typeface="Arial"/>
                <a:ea typeface="Arial"/>
                <a:cs typeface="Arial"/>
              </a:defRPr>
            </a:pPr>
            <a:r>
              <a:rPr sz="2625" b="1">
                <a:solidFill>
                  <a:srgbClr val="183244"/>
                </a:solidFill>
                <a:latin typeface="Arial"/>
                <a:ea typeface="Arial"/>
                <a:cs typeface="Arial"/>
              </a:rPr>
              <a:t>Next: validate advice before broader use</a:t>
            </a:r>
          </a:p>
        </p:txBody>
      </p:sp>
      <p:sp>
        <p:nvSpPr>
          <p:cNvPr id="3" name="">
            <a:extLst xmlns:a="http://schemas.openxmlformats.org/drawingml/2006/main">
              <a:ext uri="{FF2B5EF4-FFF2-40B4-BE49-F238E27FC236}">
                <a16:creationId xmlns:a16="http://schemas.microsoft.com/office/drawing/2014/main" id="{6BBE4607-59C3-4402-A94B-9E3B1C7E8140}"/>
              </a:ext>
            </a:extLst>
          </p:cNvPr>
          <p:cNvSpPr>
            <a:spLocks xmlns:a="http://schemas.openxmlformats.org/drawingml/2006/main" noGrp="1"/>
          </p:cNvSpPr>
          <p:nvPr/>
        </p:nvSpPr>
        <p:spPr>
          <a:xfrm xmlns:a="http://schemas.openxmlformats.org/drawingml/2006/main">
            <a:off x="647700" y="933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597180"/>
                </a:solidFill>
                <a:latin typeface="Arial"/>
                <a:ea typeface="Arial"/>
                <a:cs typeface="Arial"/>
              </a:defRPr>
            </a:defPPr>
          </a:lstStyle>
          <a:p xmlns:a="http://schemas.openxmlformats.org/drawingml/2006/main">
            <a:pPr>
              <a:defRPr sz="1275" b="0">
                <a:solidFill>
                  <a:srgbClr val="597180"/>
                </a:solidFill>
                <a:latin typeface="Arial"/>
                <a:ea typeface="Arial"/>
                <a:cs typeface="Arial"/>
              </a:defRPr>
            </a:pPr>
            <a:r>
              <a:rPr sz="1275" b="0">
                <a:solidFill>
                  <a:srgbClr val="597180"/>
                </a:solidFill>
                <a:latin typeface="Arial"/>
                <a:ea typeface="Arial"/>
                <a:cs typeface="Arial"/>
              </a:rPr>
              <a:t>The strongest continuation is broader live evidence and measured value for review decisions.</a:t>
            </a:r>
          </a:p>
        </p:txBody>
      </p:sp>
      <p:sp>
        <p:nvSpPr>
          <p:cNvPr id="4" name="">
            <a:extLst xmlns:a="http://schemas.openxmlformats.org/drawingml/2006/main">
              <a:ext uri="{FF2B5EF4-FFF2-40B4-BE49-F238E27FC236}">
                <a16:creationId xmlns:a16="http://schemas.microsoft.com/office/drawing/2014/main" id="{4A7D1D48-83EB-4695-B290-37FC3A00895A}"/>
              </a:ext>
            </a:extLst>
          </p:cNvPr>
          <p:cNvSpPr>
            <a:spLocks xmlns:a="http://schemas.openxmlformats.org/drawingml/2006/main" noGrp="1"/>
          </p:cNvSpPr>
          <p:nvPr/>
        </p:nvSpPr>
        <p:spPr>
          <a:xfrm xmlns:a="http://schemas.openxmlformats.org/drawingml/2006/main">
            <a:off x="647700" y="6191250"/>
            <a:ext cx="10668000" cy="952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0FA659-390D-4C41-AA3F-FE095DC8A588}"/>
              </a:ext>
            </a:extLst>
          </p:cNvPr>
          <p:cNvSpPr>
            <a:spLocks xmlns:a="http://schemas.openxmlformats.org/drawingml/2006/main" noGrp="1"/>
          </p:cNvSpPr>
          <p:nvPr/>
        </p:nvSpPr>
        <p:spPr>
          <a:xfrm xmlns:a="http://schemas.openxmlformats.org/drawingml/2006/main">
            <a:off x="647700" y="6315075"/>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825" b="1">
                <a:solidFill>
                  <a:srgbClr val="597180"/>
                </a:solidFill>
                <a:latin typeface="Arial"/>
                <a:ea typeface="Arial"/>
                <a:cs typeface="Arial"/>
              </a:defRPr>
            </a:defPPr>
          </a:lstStyle>
          <a:p xmlns:a="http://schemas.openxmlformats.org/drawingml/2006/main">
            <a:pPr>
              <a:defRPr sz="825" b="1">
                <a:solidFill>
                  <a:srgbClr val="597180"/>
                </a:solidFill>
                <a:latin typeface="Arial"/>
                <a:ea typeface="Arial"/>
                <a:cs typeface="Arial"/>
              </a:defRPr>
            </a:pPr>
            <a:r>
              <a:rPr sz="825" b="1">
                <a:solidFill>
                  <a:srgbClr val="597180"/>
                </a:solidFill>
                <a:latin typeface="Arial"/>
                <a:ea typeface="Arial"/>
                <a:cs typeface="Arial"/>
              </a:rPr>
              <a:t>AGENTIC DATABASE HANDLER   /   DBTHON 2026</a:t>
            </a:r>
          </a:p>
        </p:txBody>
      </p:sp>
      <p:sp>
        <p:nvSpPr>
          <p:cNvPr id="6" name="">
            <a:extLst xmlns:a="http://schemas.openxmlformats.org/drawingml/2006/main">
              <a:ext uri="{FF2B5EF4-FFF2-40B4-BE49-F238E27FC236}">
                <a16:creationId xmlns:a16="http://schemas.microsoft.com/office/drawing/2014/main" id="{9AC6B8C8-7E87-4282-A643-54165F0B6BA7}"/>
              </a:ext>
            </a:extLst>
          </p:cNvPr>
          <p:cNvSpPr>
            <a:spLocks xmlns:a="http://schemas.openxmlformats.org/drawingml/2006/main" noGrp="1"/>
          </p:cNvSpPr>
          <p:nvPr/>
        </p:nvSpPr>
        <p:spPr>
          <a:xfrm xmlns:a="http://schemas.openxmlformats.org/drawingml/2006/main">
            <a:off x="10972800" y="63055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00" b="1">
                <a:solidFill>
                  <a:srgbClr val="597180"/>
                </a:solidFill>
                <a:latin typeface="Arial"/>
                <a:ea typeface="Arial"/>
                <a:cs typeface="Arial"/>
              </a:defRPr>
            </a:defPPr>
          </a:lstStyle>
          <a:p xmlns:a="http://schemas.openxmlformats.org/drawingml/2006/main">
            <a:pPr>
              <a:defRPr sz="900" b="1">
                <a:solidFill>
                  <a:srgbClr val="597180"/>
                </a:solidFill>
                <a:latin typeface="Arial"/>
                <a:ea typeface="Arial"/>
                <a:cs typeface="Arial"/>
              </a:defRPr>
            </a:pPr>
            <a:r>
              <a:rPr sz="900" b="1">
                <a:solidFill>
                  <a:srgbClr val="597180"/>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9C286BF3-11D8-4FE4-8F47-2CE89B99E6AA}"/>
              </a:ext>
            </a:extLst>
          </p:cNvPr>
          <p:cNvSpPr>
            <a:spLocks xmlns:a="http://schemas.openxmlformats.org/drawingml/2006/main" noGrp="1"/>
          </p:cNvSpPr>
          <p:nvPr/>
        </p:nvSpPr>
        <p:spPr>
          <a:xfrm xmlns:a="http://schemas.openxmlformats.org/drawingml/2006/main">
            <a:off x="723900" y="19526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00A9B7"/>
                </a:solidFill>
                <a:latin typeface="Arial"/>
                <a:ea typeface="Arial"/>
                <a:cs typeface="Arial"/>
              </a:defRPr>
            </a:defPPr>
          </a:lstStyle>
          <a:p xmlns:a="http://schemas.openxmlformats.org/drawingml/2006/main">
            <a:pPr>
              <a:defRPr sz="1575" b="1">
                <a:solidFill>
                  <a:srgbClr val="00A9B7"/>
                </a:solidFill>
                <a:latin typeface="Arial"/>
                <a:ea typeface="Arial"/>
                <a:cs typeface="Arial"/>
              </a:defRPr>
            </a:pPr>
            <a:r>
              <a:rPr sz="1575" b="1">
                <a:solidFill>
                  <a:srgbClr val="00A9B7"/>
                </a:solidFill>
                <a:latin typeface="Arial"/>
                <a:ea typeface="Arial"/>
                <a:cs typeface="Arial"/>
              </a:rPr>
              <a:t>01  Verify</a:t>
            </a:r>
          </a:p>
        </p:txBody>
      </p:sp>
      <p:sp>
        <p:nvSpPr>
          <p:cNvPr id="8" name="">
            <a:extLst xmlns:a="http://schemas.openxmlformats.org/drawingml/2006/main">
              <a:ext uri="{FF2B5EF4-FFF2-40B4-BE49-F238E27FC236}">
                <a16:creationId xmlns:a16="http://schemas.microsoft.com/office/drawing/2014/main" id="{7FB3DADD-1281-4090-A735-E6CDD70F16FF}"/>
              </a:ext>
            </a:extLst>
          </p:cNvPr>
          <p:cNvSpPr>
            <a:spLocks xmlns:a="http://schemas.openxmlformats.org/drawingml/2006/main" noGrp="1"/>
          </p:cNvSpPr>
          <p:nvPr/>
        </p:nvSpPr>
        <p:spPr>
          <a:xfrm xmlns:a="http://schemas.openxmlformats.org/drawingml/2006/main">
            <a:off x="723900" y="2438400"/>
            <a:ext cx="3048000" cy="2857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8188DD-3406-4F61-82BE-137361190D3C}"/>
              </a:ext>
            </a:extLst>
          </p:cNvPr>
          <p:cNvSpPr>
            <a:spLocks xmlns:a="http://schemas.openxmlformats.org/drawingml/2006/main" noGrp="1"/>
          </p:cNvSpPr>
          <p:nvPr/>
        </p:nvSpPr>
        <p:spPr>
          <a:xfrm xmlns:a="http://schemas.openxmlformats.org/drawingml/2006/main">
            <a:off x="723900" y="2676525"/>
            <a:ext cx="304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350" b="0">
                <a:solidFill>
                  <a:srgbClr val="183244"/>
                </a:solidFill>
                <a:latin typeface="Arial"/>
                <a:ea typeface="Arial"/>
                <a:cs typeface="Arial"/>
              </a:defRPr>
            </a:defPPr>
          </a:lstStyle>
          <a:p xmlns:a="http://schemas.openxmlformats.org/drawingml/2006/main">
            <a:pPr>
              <a:defRPr sz="1350" b="0">
                <a:solidFill>
                  <a:srgbClr val="183244"/>
                </a:solidFill>
                <a:latin typeface="Arial"/>
                <a:ea typeface="Arial"/>
                <a:cs typeface="Arial"/>
              </a:defRPr>
            </a:pPr>
            <a:r>
              <a:rPr sz="1350" b="0">
                <a:solidFill>
                  <a:srgbClr val="183244"/>
                </a:solidFill>
                <a:latin typeface="Arial"/>
                <a:ea typeface="Arial"/>
                <a:cs typeface="Arial"/>
              </a:rPr>
              <a:t>Exercise connector fixtures, schedules, auth, sandbox, and advanced design flows on disposable data.</a:t>
            </a:r>
          </a:p>
        </p:txBody>
      </p:sp>
      <p:sp>
        <p:nvSpPr>
          <p:cNvPr id="10" name="">
            <a:extLst xmlns:a="http://schemas.openxmlformats.org/drawingml/2006/main">
              <a:ext uri="{FF2B5EF4-FFF2-40B4-BE49-F238E27FC236}">
                <a16:creationId xmlns:a16="http://schemas.microsoft.com/office/drawing/2014/main" id="{400AAAF1-4E85-4A67-98B0-C6729599685D}"/>
              </a:ext>
            </a:extLst>
          </p:cNvPr>
          <p:cNvSpPr>
            <a:spLocks xmlns:a="http://schemas.openxmlformats.org/drawingml/2006/main" noGrp="1"/>
          </p:cNvSpPr>
          <p:nvPr/>
        </p:nvSpPr>
        <p:spPr>
          <a:xfrm xmlns:a="http://schemas.openxmlformats.org/drawingml/2006/main">
            <a:off x="4295775" y="19526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7865BA"/>
                </a:solidFill>
                <a:latin typeface="Arial"/>
                <a:ea typeface="Arial"/>
                <a:cs typeface="Arial"/>
              </a:defRPr>
            </a:defPPr>
          </a:lstStyle>
          <a:p xmlns:a="http://schemas.openxmlformats.org/drawingml/2006/main">
            <a:pPr>
              <a:defRPr sz="1575" b="1">
                <a:solidFill>
                  <a:srgbClr val="7865BA"/>
                </a:solidFill>
                <a:latin typeface="Arial"/>
                <a:ea typeface="Arial"/>
                <a:cs typeface="Arial"/>
              </a:defRPr>
            </a:pPr>
            <a:r>
              <a:rPr sz="1575" b="1">
                <a:solidFill>
                  <a:srgbClr val="7865BA"/>
                </a:solidFill>
                <a:latin typeface="Arial"/>
                <a:ea typeface="Arial"/>
                <a:cs typeface="Arial"/>
              </a:rPr>
              <a:t>02  Evaluate</a:t>
            </a:r>
          </a:p>
        </p:txBody>
      </p:sp>
      <p:sp>
        <p:nvSpPr>
          <p:cNvPr id="11" name="">
            <a:extLst xmlns:a="http://schemas.openxmlformats.org/drawingml/2006/main">
              <a:ext uri="{FF2B5EF4-FFF2-40B4-BE49-F238E27FC236}">
                <a16:creationId xmlns:a16="http://schemas.microsoft.com/office/drawing/2014/main" id="{590C7929-3688-4D2D-B7BE-17A10F23AE3B}"/>
              </a:ext>
            </a:extLst>
          </p:cNvPr>
          <p:cNvSpPr>
            <a:spLocks xmlns:a="http://schemas.openxmlformats.org/drawingml/2006/main" noGrp="1"/>
          </p:cNvSpPr>
          <p:nvPr/>
        </p:nvSpPr>
        <p:spPr>
          <a:xfrm xmlns:a="http://schemas.openxmlformats.org/drawingml/2006/main">
            <a:off x="4295775" y="2438400"/>
            <a:ext cx="3048000" cy="2857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22159B-44E5-492F-9DAF-033BBF97BF6F}"/>
              </a:ext>
            </a:extLst>
          </p:cNvPr>
          <p:cNvSpPr>
            <a:spLocks xmlns:a="http://schemas.openxmlformats.org/drawingml/2006/main" noGrp="1"/>
          </p:cNvSpPr>
          <p:nvPr/>
        </p:nvSpPr>
        <p:spPr>
          <a:xfrm xmlns:a="http://schemas.openxmlformats.org/drawingml/2006/main">
            <a:off x="4295775" y="2676525"/>
            <a:ext cx="304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350" b="0">
                <a:solidFill>
                  <a:srgbClr val="183244"/>
                </a:solidFill>
                <a:latin typeface="Arial"/>
                <a:ea typeface="Arial"/>
                <a:cs typeface="Arial"/>
              </a:defRPr>
            </a:defPPr>
          </a:lstStyle>
          <a:p xmlns:a="http://schemas.openxmlformats.org/drawingml/2006/main">
            <a:pPr>
              <a:defRPr sz="1350" b="0">
                <a:solidFill>
                  <a:srgbClr val="183244"/>
                </a:solidFill>
                <a:latin typeface="Arial"/>
                <a:ea typeface="Arial"/>
                <a:cs typeface="Arial"/>
              </a:defRPr>
            </a:pPr>
            <a:r>
              <a:rPr sz="1350" b="0">
                <a:solidFill>
                  <a:srgbClr val="183244"/>
                </a:solidFill>
                <a:latin typeface="Arial"/>
                <a:ea typeface="Arial"/>
                <a:cs typeface="Arial"/>
              </a:rPr>
              <a:t>Compare advisory finding triage and evidence-gap labels with human review on representative cases.</a:t>
            </a:r>
          </a:p>
        </p:txBody>
      </p:sp>
      <p:sp>
        <p:nvSpPr>
          <p:cNvPr id="13" name="">
            <a:extLst xmlns:a="http://schemas.openxmlformats.org/drawingml/2006/main">
              <a:ext uri="{FF2B5EF4-FFF2-40B4-BE49-F238E27FC236}">
                <a16:creationId xmlns:a16="http://schemas.microsoft.com/office/drawing/2014/main" id="{91CA0FB8-95DD-4FB8-B880-87A3304249F2}"/>
              </a:ext>
            </a:extLst>
          </p:cNvPr>
          <p:cNvSpPr>
            <a:spLocks xmlns:a="http://schemas.openxmlformats.org/drawingml/2006/main" noGrp="1"/>
          </p:cNvSpPr>
          <p:nvPr/>
        </p:nvSpPr>
        <p:spPr>
          <a:xfrm xmlns:a="http://schemas.openxmlformats.org/drawingml/2006/main">
            <a:off x="7867650" y="19526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183244"/>
                </a:solidFill>
                <a:latin typeface="Arial"/>
                <a:ea typeface="Arial"/>
                <a:cs typeface="Arial"/>
              </a:defRPr>
            </a:defPPr>
          </a:lstStyle>
          <a:p xmlns:a="http://schemas.openxmlformats.org/drawingml/2006/main">
            <a:pPr>
              <a:defRPr sz="1575" b="1">
                <a:solidFill>
                  <a:srgbClr val="183244"/>
                </a:solidFill>
                <a:latin typeface="Arial"/>
                <a:ea typeface="Arial"/>
                <a:cs typeface="Arial"/>
              </a:defRPr>
            </a:pPr>
            <a:r>
              <a:rPr sz="1575" b="1">
                <a:solidFill>
                  <a:srgbClr val="183244"/>
                </a:solidFill>
                <a:latin typeface="Arial"/>
                <a:ea typeface="Arial"/>
                <a:cs typeface="Arial"/>
              </a:rPr>
              <a:t>03  Harden</a:t>
            </a:r>
          </a:p>
        </p:txBody>
      </p:sp>
      <p:sp>
        <p:nvSpPr>
          <p:cNvPr id="14" name="">
            <a:extLst xmlns:a="http://schemas.openxmlformats.org/drawingml/2006/main">
              <a:ext uri="{FF2B5EF4-FFF2-40B4-BE49-F238E27FC236}">
                <a16:creationId xmlns:a16="http://schemas.microsoft.com/office/drawing/2014/main" id="{25545824-A462-41D9-A636-D5C482ED19FD}"/>
              </a:ext>
            </a:extLst>
          </p:cNvPr>
          <p:cNvSpPr>
            <a:spLocks xmlns:a="http://schemas.openxmlformats.org/drawingml/2006/main" noGrp="1"/>
          </p:cNvSpPr>
          <p:nvPr/>
        </p:nvSpPr>
        <p:spPr>
          <a:xfrm xmlns:a="http://schemas.openxmlformats.org/drawingml/2006/main">
            <a:off x="7867650" y="2438400"/>
            <a:ext cx="3048000" cy="28575"/>
          </a:xfrm>
          <a:prstGeom xmlns:a="http://schemas.openxmlformats.org/drawingml/2006/main" prst="rect">
            <a:avLst/>
          </a:prstGeom>
          <a:solidFill xmlns:a="http://schemas.openxmlformats.org/drawingml/2006/main">
            <a:srgbClr val="D8E4E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D79D09-81FF-4C71-893B-F4EAF1A0E41F}"/>
              </a:ext>
            </a:extLst>
          </p:cNvPr>
          <p:cNvSpPr>
            <a:spLocks xmlns:a="http://schemas.openxmlformats.org/drawingml/2006/main" noGrp="1"/>
          </p:cNvSpPr>
          <p:nvPr/>
        </p:nvSpPr>
        <p:spPr>
          <a:xfrm xmlns:a="http://schemas.openxmlformats.org/drawingml/2006/main">
            <a:off x="7867650" y="2676525"/>
            <a:ext cx="304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350" b="0">
                <a:solidFill>
                  <a:srgbClr val="183244"/>
                </a:solidFill>
                <a:latin typeface="Arial"/>
                <a:ea typeface="Arial"/>
                <a:cs typeface="Arial"/>
              </a:defRPr>
            </a:defPPr>
          </a:lstStyle>
          <a:p xmlns:a="http://schemas.openxmlformats.org/drawingml/2006/main">
            <a:pPr>
              <a:defRPr sz="1350" b="0">
                <a:solidFill>
                  <a:srgbClr val="183244"/>
                </a:solidFill>
                <a:latin typeface="Arial"/>
                <a:ea typeface="Arial"/>
                <a:cs typeface="Arial"/>
              </a:defRPr>
            </a:pPr>
            <a:r>
              <a:rPr sz="1350" b="0">
                <a:solidFill>
                  <a:srgbClr val="183244"/>
                </a:solidFill>
                <a:latin typeface="Arial"/>
                <a:ea typeface="Arial"/>
                <a:cs typeface="Arial"/>
              </a:rPr>
              <a:t>Improve authentication, secrets, persistence, worker coordination, and operational checks before shared deployment.</a:t>
            </a:r>
          </a:p>
        </p:txBody>
      </p:sp>
      <p:sp>
        <p:nvSpPr>
          <p:cNvPr id="16" name="">
            <a:extLst xmlns:a="http://schemas.openxmlformats.org/drawingml/2006/main">
              <a:ext uri="{FF2B5EF4-FFF2-40B4-BE49-F238E27FC236}">
                <a16:creationId xmlns:a16="http://schemas.microsoft.com/office/drawing/2014/main" id="{929CD668-919C-48F9-B91A-1BBFA7541DFD}"/>
              </a:ext>
            </a:extLst>
          </p:cNvPr>
          <p:cNvSpPr>
            <a:spLocks xmlns:a="http://schemas.openxmlformats.org/drawingml/2006/main" noGrp="1"/>
          </p:cNvSpPr>
          <p:nvPr/>
        </p:nvSpPr>
        <p:spPr>
          <a:xfrm xmlns:a="http://schemas.openxmlformats.org/drawingml/2006/main">
            <a:off x="723900" y="4333875"/>
            <a:ext cx="10572750" cy="1143000"/>
          </a:xfrm>
          <a:prstGeom xmlns:a="http://schemas.openxmlformats.org/drawingml/2006/main" prst="roundRect">
            <a:avLst>
              <a:gd name="adj" fmla="val 10000"/>
            </a:avLst>
          </a:prstGeom>
          <a:solidFill xmlns:a="http://schemas.openxmlformats.org/drawingml/2006/main">
            <a:srgbClr val="071A2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9CB3C28-66A5-4D85-AB92-1E8E4B49CAB6}"/>
              </a:ext>
            </a:extLst>
          </p:cNvPr>
          <p:cNvSpPr>
            <a:spLocks xmlns:a="http://schemas.openxmlformats.org/drawingml/2006/main" noGrp="1"/>
          </p:cNvSpPr>
          <p:nvPr/>
        </p:nvSpPr>
        <p:spPr>
          <a:xfrm xmlns:a="http://schemas.openxmlformats.org/drawingml/2006/main">
            <a:off x="971550" y="453390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897"/>
          </a:bodyPr>
          <a:lstStyle xmlns:a="http://schemas.openxmlformats.org/drawingml/2006/main">
            <a:defPPr>
              <a:defRPr sz="975" b="1">
                <a:solidFill>
                  <a:srgbClr val="65D1DA"/>
                </a:solidFill>
                <a:latin typeface="Arial"/>
                <a:ea typeface="Arial"/>
                <a:cs typeface="Arial"/>
              </a:defRPr>
            </a:defPPr>
          </a:lstStyle>
          <a:p xmlns:a="http://schemas.openxmlformats.org/drawingml/2006/main">
            <a:pPr>
              <a:defRPr sz="975" b="1">
                <a:solidFill>
                  <a:srgbClr val="65D1DA"/>
                </a:solidFill>
                <a:latin typeface="Arial"/>
                <a:ea typeface="Arial"/>
                <a:cs typeface="Arial"/>
              </a:defRPr>
            </a:pPr>
            <a:r>
              <a:rPr sz="975" b="1">
                <a:solidFill>
                  <a:srgbClr val="65D1DA"/>
                </a:solidFill>
                <a:latin typeface="Arial"/>
                <a:ea typeface="Arial"/>
                <a:cs typeface="Arial"/>
              </a:rPr>
              <a:t>Review takeaway</a:t>
            </a:r>
          </a:p>
        </p:txBody>
      </p:sp>
      <p:sp>
        <p:nvSpPr>
          <p:cNvPr id="18" name="">
            <a:extLst xmlns:a="http://schemas.openxmlformats.org/drawingml/2006/main">
              <a:ext uri="{FF2B5EF4-FFF2-40B4-BE49-F238E27FC236}">
                <a16:creationId xmlns:a16="http://schemas.microsoft.com/office/drawing/2014/main" id="{A0709CDD-F945-4925-BF15-96432870AA15}"/>
              </a:ext>
            </a:extLst>
          </p:cNvPr>
          <p:cNvSpPr>
            <a:spLocks xmlns:a="http://schemas.openxmlformats.org/drawingml/2006/main" noGrp="1"/>
          </p:cNvSpPr>
          <p:nvPr/>
        </p:nvSpPr>
        <p:spPr>
          <a:xfrm xmlns:a="http://schemas.openxmlformats.org/drawingml/2006/main">
            <a:off x="971550" y="4886325"/>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59"/>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 database workbench that turns schema metadata into reviewable findings and evidence-linked explanations, while keeping changes under human control.</a:t>
            </a:r>
          </a:p>
        </p:txBody>
      </p:sp>
      <p:sp>
        <p:nvSpPr>
          <p:cNvPr id="19" name="">
            <a:extLst xmlns:a="http://schemas.openxmlformats.org/drawingml/2006/main">
              <a:ext uri="{FF2B5EF4-FFF2-40B4-BE49-F238E27FC236}">
                <a16:creationId xmlns:a16="http://schemas.microsoft.com/office/drawing/2014/main" id="{4C789A98-BA0E-4F26-94B9-600203898531}"/>
              </a:ext>
            </a:extLst>
          </p:cNvPr>
          <p:cNvSpPr>
            <a:spLocks xmlns:a="http://schemas.openxmlformats.org/drawingml/2006/main" noGrp="1"/>
          </p:cNvSpPr>
          <p:nvPr/>
        </p:nvSpPr>
        <p:spPr>
          <a:xfrm xmlns:a="http://schemas.openxmlformats.org/drawingml/2006/main">
            <a:off x="742950" y="56578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75" b="0">
                <a:solidFill>
                  <a:srgbClr val="597180"/>
                </a:solidFill>
                <a:latin typeface="Arial"/>
                <a:ea typeface="Arial"/>
                <a:cs typeface="Arial"/>
              </a:defRPr>
            </a:defPPr>
          </a:lstStyle>
          <a:p xmlns:a="http://schemas.openxmlformats.org/drawingml/2006/main">
            <a:pPr>
              <a:defRPr sz="975" b="0">
                <a:solidFill>
                  <a:srgbClr val="597180"/>
                </a:solidFill>
                <a:latin typeface="Arial"/>
                <a:ea typeface="Arial"/>
                <a:cs typeface="Arial"/>
              </a:defRPr>
            </a:pPr>
            <a:r>
              <a:rPr sz="975" b="0">
                <a:solidFill>
                  <a:srgbClr val="597180"/>
                </a:solidFill>
                <a:latin typeface="Arial"/>
                <a:ea typeface="Arial"/>
                <a:cs typeface="Arial"/>
              </a:rPr>
              <a:t>Jev decision support is being explored in a separate branch. Its live TypeSafe responses still need validation before presenting it as part of this build.</a:t>
            </a:r>
          </a:p>
        </p:txBody>
      </p:sp>
    </p:spTree>
    <p:extLst>
      <p:ext uri="{BB962C8B-B14F-4D97-AF65-F5344CB8AC3E}">
        <p14:creationId xmlns:p14="http://schemas.microsoft.com/office/powerpoint/2010/main" val="1679586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2026-10-08T05:06:36.5380000Z</dcterms:created>
  <dcterms:modified xsi:type="dcterms:W3CDTF">2026-10-08T05:06:36.5380000Z</dcterms:modified>
</coreProperties>
</file>