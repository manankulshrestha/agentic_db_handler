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7ca86185e24205" /><Relationship Type="http://schemas.openxmlformats.org/officeDocument/2006/relationships/extended-properties" Target="/docProps/app.xml" Id="R02c08e4de4854d26" /><Relationship Type="http://schemas.openxmlformats.org/officeDocument/2006/relationships/officeDocument" Target="/ppt/presentation.xml" Id="R7de2601c53cd47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76916a63304fbf"/>
  </p:sldMasterIdLst>
  <p:notesMasterIdLst>
    <p:notesMasterId xmlns:r="http://schemas.openxmlformats.org/officeDocument/2006/relationships" r:id="Rd4fd89bfd1ef49bd"/>
  </p:notesMasterIdLst>
  <p:sldIdLst>
    <p:sldId xmlns:r="http://schemas.openxmlformats.org/officeDocument/2006/relationships" id="256" r:id="Rdadda1f74cc6452d"/>
    <p:sldId xmlns:r="http://schemas.openxmlformats.org/officeDocument/2006/relationships" id="257" r:id="R8f358b1747684af6"/>
    <p:sldId xmlns:r="http://schemas.openxmlformats.org/officeDocument/2006/relationships" id="258" r:id="Rb25bc855d3514bcb"/>
    <p:sldId xmlns:r="http://schemas.openxmlformats.org/officeDocument/2006/relationships" id="259" r:id="R9faff0bf997d4b53"/>
    <p:sldId xmlns:r="http://schemas.openxmlformats.org/officeDocument/2006/relationships" id="260" r:id="R9689e6bc76144494"/>
    <p:sldId xmlns:r="http://schemas.openxmlformats.org/officeDocument/2006/relationships" id="261" r:id="R8ee709f7f3954d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4046026fee4866" /><Relationship Type="http://schemas.openxmlformats.org/officeDocument/2006/relationships/slideMaster" Target="/ppt/slideMasters/slideMaster1.xml" Id="R4076916a63304fbf" /><Relationship Type="http://schemas.openxmlformats.org/officeDocument/2006/relationships/notesMaster" Target="/ppt/notesMasters/notesMaster1.xml" Id="Rd4fd89bfd1ef49bd" /><Relationship Type="http://schemas.openxmlformats.org/officeDocument/2006/relationships/presProps" Target="/ppt/presProps.xml" Id="Rb59f16ad4cfa4a8f" /><Relationship Type="http://schemas.openxmlformats.org/officeDocument/2006/relationships/tableStyles" Target="/ppt/tableStyles.xml" Id="R30c47ee9e3ba4974" /><Relationship Type="http://schemas.openxmlformats.org/officeDocument/2006/relationships/slide" Target="/ppt/slides/slide1.xml" Id="Rdadda1f74cc6452d" /><Relationship Type="http://schemas.openxmlformats.org/officeDocument/2006/relationships/slide" Target="/ppt/slides/slide2.xml" Id="R8f358b1747684af6" /><Relationship Type="http://schemas.openxmlformats.org/officeDocument/2006/relationships/slide" Target="/ppt/slides/slide3.xml" Id="Rb25bc855d3514bcb" /><Relationship Type="http://schemas.openxmlformats.org/officeDocument/2006/relationships/slide" Target="/ppt/slides/slide4.xml" Id="R9faff0bf997d4b53" /><Relationship Type="http://schemas.openxmlformats.org/officeDocument/2006/relationships/slide" Target="/ppt/slides/slide5.xml" Id="R9689e6bc76144494" /><Relationship Type="http://schemas.openxmlformats.org/officeDocument/2006/relationships/slide" Target="/ppt/slides/slide6.xml" Id="R8ee709f7f3954d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077ffad1314d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d8d30bce004a4f" /><Relationship Type="http://schemas.openxmlformats.org/officeDocument/2006/relationships/notesMaster" Target="/ppt/notesMasters/notesMaster1.xml" Id="R4bd194aa23034e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62cae76fdb4b93" /><Relationship Type="http://schemas.openxmlformats.org/officeDocument/2006/relationships/notesMaster" Target="/ppt/notesMasters/notesMaster1.xml" Id="Rc7e1590a0e7e48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058921e4044cc2" /><Relationship Type="http://schemas.openxmlformats.org/officeDocument/2006/relationships/notesMaster" Target="/ppt/notesMasters/notesMaster1.xml" Id="R13d87876e1394b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76181b804d4e86" /><Relationship Type="http://schemas.openxmlformats.org/officeDocument/2006/relationships/notesMaster" Target="/ppt/notesMasters/notesMaster1.xml" Id="Reffec0d619be48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34761e049b45a9" /><Relationship Type="http://schemas.openxmlformats.org/officeDocument/2006/relationships/notesMaster" Target="/ppt/notesMasters/notesMaster1.xml" Id="R57e57bc20a534b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5f29b1bcf84f2b" /><Relationship Type="http://schemas.openxmlformats.org/officeDocument/2006/relationships/notesMaster" Target="/ppt/notesMasters/notesMaster1.xml" Id="R470f41d3daf441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status and scope are summarized from PROJECT_PRIMER.md and IMPLEMENTATION_STATUS.md. JEV roadmap items are proposed, not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normal workflow inspects saved schema snapshots. Query Lab separately supports bounded read queries. The workbench supports learning and demonstration, with production database administration outside its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of October 7, 2026. The latest live verification covered the PostgreSQL demo with four tables and six findings. Advanced design flows, sandbox experiments, schedules, roles, and non-PostgreSQL fixtures still need additional live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 reflects the user-defined category of a clear project improvement candidate. JEV output should remain advisory. A small evaluation against existing severity/certainty and representative examples should confirm value before relying on rankings. Source: referenced chat “Prioritize JEV Decision Making.”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 and P2 items are proposed opportunities from the referenced JEV analysis. Engine suitability currently uses a provisional heuristic, and index experiments use synthetic or sandbox data. Neither should be presented as a validated production recommendation.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referenced chat recommends treating JEV as a structured decision model for bounded questions. Keep deterministic checks as the source of facts and require human review for high-impact actions. This deck describes the planned JEV layer, not existing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e774f62f1e48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66d2961b6f4cb0" /><Relationship Type="http://schemas.openxmlformats.org/officeDocument/2006/relationships/slideLayout" Target="/ppt/slideLayouts/slideLayout1.xml" Id="Rb55d68f0bf984b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5d68f0bf984b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f1afba5294bd2" /><Relationship Type="http://schemas.openxmlformats.org/officeDocument/2006/relationships/image" Target="/ppt/media/image.png" Id="R098ae0c06b464c4b" /><Relationship Type="http://schemas.openxmlformats.org/officeDocument/2006/relationships/notesSlide" Target="/ppt/notesSlides/notesSlide1.xml" Id="Rdcf54a67b7c045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bb491f7e94be1" /><Relationship Type="http://schemas.openxmlformats.org/officeDocument/2006/relationships/notesSlide" Target="/ppt/notesSlides/notesSlide2.xml" Id="R5ce050e2771a45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5c4df912c49fd" /><Relationship Type="http://schemas.openxmlformats.org/officeDocument/2006/relationships/notesSlide" Target="/ppt/notesSlides/notesSlide3.xml" Id="Rb527dd52b3444a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e91b4fe5b46f3" /><Relationship Type="http://schemas.openxmlformats.org/officeDocument/2006/relationships/notesSlide" Target="/ppt/notesSlides/notesSlide4.xml" Id="Ra72555b4e8be40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cc70492454adb" /><Relationship Type="http://schemas.openxmlformats.org/officeDocument/2006/relationships/notesSlide" Target="/ppt/notesSlides/notesSlide5.xml" Id="R55b64152252d43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42c3786c74475" /><Relationship Type="http://schemas.openxmlformats.org/officeDocument/2006/relationships/notesSlide" Target="/ppt/notesSlides/notesSlide6.xml" Id="Rcc785d94390a41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ae0c06b464c4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6188C-B00F-4C4C-8DBB-A27BB9AC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A">
              <a:alpha val="35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AB959-6C1A-49B2-9C83-30E532B5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5429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AGENTIC DATABASE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HANDLER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9F039-B146-4572-8BBE-58C909A6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953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8EDF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EDF0"/>
                </a:solidFill>
                <a:latin typeface="Arial"/>
                <a:ea typeface="Arial"/>
                <a:cs typeface="Arial"/>
              </a:rPr>
              <a:t>A local workbench for understanding database structure and guiding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CD841-526F-49FA-8A2B-AE6367BC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9B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ED9B0-C054-4EE8-AB25-19E44FF9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D5D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D5DC"/>
                </a:solidFill>
                <a:latin typeface="Arial"/>
                <a:ea typeface="Arial"/>
                <a:cs typeface="Arial"/>
              </a:rPr>
              <a:t>PROJECT OVERVIEW  |  OCTOBER 2026</a:t>
            </a:r>
          </a:p>
        </p:txBody>
      </p:sp>
    </p:spTree>
    <p:extLst>
      <p:ext uri="{BB962C8B-B14F-4D97-AF65-F5344CB8AC3E}">
        <p14:creationId xmlns:p14="http://schemas.microsoft.com/office/powerpoint/2010/main" val="376895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EB4BE7-4BC9-4554-84CF-10028555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9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87C3E-4C07-442D-AA3A-2D3CAFB1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A database workbench for evidence-led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EEDB8-A894-412B-9D59-8DEF3BF1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It records what a database looks like, explains possible issues, and keeps decisions reviewable.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F1BF6-09DD-41B0-85BA-DBD7C94F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8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0F1EB-6B3B-40B4-9CFE-ED40DEB0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7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E27DA-B5F5-406E-9B30-C9F3A900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9B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0B0AF-E5C5-492C-87C4-01A8F503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Connect &amp; scan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385C0-8757-43A0-A0B2-BCB4C9D4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Read schema 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C1A00-97C8-4D41-A2A2-6F3107D1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764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7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F9A23-23FE-4913-94F7-CBE27D55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01898-DD53-4A89-A98E-AAA1D245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71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Analyze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C4681-69ED-4E5A-B033-A8C3EB83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81325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Apply repeatable rules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C0A02-7630-4098-8991-7D0B6AB7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764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7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6EAE4-2C60-42E9-8564-43E61035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AD168-FDA2-4109-AE0D-1FE9A60A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71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Explore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44ABD-A5F7-4C7E-A542-7BD80C40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81325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Inspect objects and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57F88-6AAD-4703-8A19-1A3A2246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7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441DF-0D74-4776-BB30-F8B10344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B86CD6-0F20-4237-A6B9-86720F44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71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0C8A49-2A77-4F9F-8443-BCC18E9B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81325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Accept, dismiss, or add 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43F15D-6C17-49CA-8D8F-47EFCC80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764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7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E5F6CA-AB13-4F82-AC8D-7CB72866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389E1E-FD3B-489A-AD0C-1BD61F74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71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C2532A-9CEC-4747-ACD1-4B9B5ABD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81325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Rescan and inspect changes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BF7CAE-7452-427C-B2A8-4EBC277C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330978-478A-4AB6-B758-CD3E17D3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Core boundary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7A6196-4259-4382-9F95-E3A4D6C6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67225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Findings, approvals, reports, and migration inventories record review. Target schema changes stay under explicit human control.</a:t>
            </a:r>
          </a:p>
        </p:txBody>
      </p:sp>
    </p:spTree>
    <p:extLst>
      <p:ext uri="{BB962C8B-B14F-4D97-AF65-F5344CB8AC3E}">
        <p14:creationId xmlns:p14="http://schemas.microsoft.com/office/powerpoint/2010/main" val="2711994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4EF77-07A7-4883-86FE-8E4EC893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9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CA439-06CF-4D2A-B588-4768924E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What the project already implements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BBED1-C5F3-45BF-BB39-C20567B3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Verified core flow: PostgreSQL connection, scan, findings, documentation, grounded chat, and bounded read query.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BFB37-CFFB-4B9E-9027-0133F99F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8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08C17-8152-40BF-8670-98CA7B30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F10DA-0D4A-4A49-8A46-87061C8F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C9FB9-5BC3-4B89-86A3-0BB3CAC7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PostgreSQL, MariaDB, and MongoDB metadata connectors</a:t>
            </a:r>
          </a:p>
          <a:p xmlns:a="http://schemas.openxmlformats.org/drawingml/2006/main">
            <a:pPr>
              <a:defRPr sz="1425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Saved snapshots with objects, types, keys, indexes, and relationships</a:t>
            </a:r>
          </a:p>
          <a:p xmlns:a="http://schemas.openxmlformats.org/drawingml/2006/main">
            <a:pPr>
              <a:defRPr sz="1425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Schema explorer and relationship diagram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AA9BE-4ADC-464B-A5F6-866B92B5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431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0980F-82AB-41D9-A9BE-CF7F9D35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00B6A-E8C0-470B-9E3A-72AFAF25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Deterministic checks produce evidence-linked findings</a:t>
            </a:r>
          </a:p>
          <a:p xmlns:a="http://schemas.openxmlformats.org/drawingml/2006/main">
            <a:pPr>
              <a:defRPr sz="1425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Markdown documentation and snapshot comparisons</a:t>
            </a:r>
          </a:p>
          <a:p xmlns:a="http://schemas.openxmlformats.org/drawingml/2006/main">
            <a:pPr>
              <a:defRPr sz="1425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Chat answers can cite saved objects and findings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D37FA-E6BE-41B9-B50B-A2F9C737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3BBE3-EC3C-4B90-A784-DFD6917A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193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9323F-6E2E-47D5-824A-0CB06545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Read-only query lab with row and time limits</a:t>
            </a:r>
          </a:p>
          <a:p xmlns:a="http://schemas.openxmlformats.org/drawingml/2006/main">
            <a:pPr>
              <a:defRPr sz="1425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Design tools for normalization, workload, and migration inventory</a:t>
            </a:r>
          </a:p>
          <a:p xmlns:a="http://schemas.openxmlformats.org/drawingml/2006/main">
            <a:pPr>
              <a:defRPr sz="1425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Proposal review, run history, schedules, and optional roles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5827B-315F-4BFF-A94C-4F4F2882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Some advanced flows still need live browser or integration verification. AI mode also requires an explicit model key and schema-sharing opt-in.</a:t>
            </a:r>
          </a:p>
        </p:txBody>
      </p:sp>
    </p:spTree>
    <p:extLst>
      <p:ext uri="{BB962C8B-B14F-4D97-AF65-F5344CB8AC3E}">
        <p14:creationId xmlns:p14="http://schemas.microsoft.com/office/powerpoint/2010/main" val="12384239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C29A23-C458-4049-9428-9D9F831E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9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EED38-53AE-4397-8531-C113828B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JEV roadmap | P0 clear candidates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FDC41-2A77-4A7E-8C27-8FF34D10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Add an advisory decision layer where the workbench already has evidence and review workflows.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87D8D-3D71-4CF9-B8B8-44A07C29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8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F9A42-1D3D-44C1-8AE3-1ACE2185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F171E-4E09-429A-BD47-94E68967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097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Finding priority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21D7A-0475-4028-9BD1-647FDE15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Rank findings using severity, certainty, evidence, and affected objects.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72057-1CF7-4FA0-8AC0-1031CC5B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31695-45EC-484B-A233-15AF5D81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9077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Review triage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23755-538E-46C8-88E7-5185BB75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907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Group findings into review now, later, or informational.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D448F-2843-448E-9078-69D99AE7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04BAE-36B4-45D7-A40D-0EF0C8F5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718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Likely relevance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EFFA1-FBF8-4ADA-8169-AA238A33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718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Flag likely relevant, possibly relevant, or probably intentional for human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3BAB4-FF17-479D-959C-A3EDA79E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850BF-3BBD-4F01-9D0C-BC2D734F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5282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Evidence gaps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19B5C-9F0A-4460-BA06-67249FEE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5282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Show when a recommendation needs workload data or business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999C7-D571-4298-ABA1-080B1FAC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434684-4140-4C48-B999-8A183138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338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Snapshot diffs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688423-51EF-4A03-AA77-AE61B602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338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Prioritize changes that deserve a closer look.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60E0A6-5346-4867-B083-10EE4FF9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43685E-4D3C-4916-9502-B4337A59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1487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Proposal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E5D960-C6DA-438B-A126-DE4E8304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148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Flag proposals that are ready, need context, or remain speculative.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A0F751-CD3B-44A4-A133-BD18B677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7FF476-12E6-4F95-860E-94FAB40D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Run attention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960E28-0612-44FD-B46A-913B728B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959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Bring failed, interrupted, or consequential runs forward.</a:t>
            </a:r>
          </a:p>
        </p:txBody>
      </p:sp>
    </p:spTree>
    <p:extLst>
      <p:ext uri="{BB962C8B-B14F-4D97-AF65-F5344CB8AC3E}">
        <p14:creationId xmlns:p14="http://schemas.microsoft.com/office/powerpoint/2010/main" val="20580158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B85BD-1D42-451A-BE68-AE0BE8BD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9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1F2EF-3B9D-4C5D-9EBA-9CE53B00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JEV roadmap | P1 and P2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E8391-65BC-4A2B-A93E-AF6D2B16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P1 needs a new feature or evidence of benefit. P2 is feasible, with a likely small user impact.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AA2C7-B160-4FB9-8EFF-DC51E25E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8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E6364-5BC3-4644-8320-20392EDE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06A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06A86"/>
                </a:solidFill>
                <a:latin typeface="Arial"/>
                <a:ea typeface="Arial"/>
                <a:cs typeface="Arial"/>
              </a:rPr>
              <a:t>P1  |  Needs a feature or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2E065-66C0-4E47-99D9-0E0CB72E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0287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Database-engine suitability from richer workload context</a:t>
            </a:r>
          </a:p>
          <a:p xmlns:a="http://schemas.openxmlformats.org/drawingml/2006/main">
            <a:pPr>
              <a:defRPr sz="1350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Index candidates and query profiling priorities</a:t>
            </a:r>
          </a:p>
          <a:p xmlns:a="http://schemas.openxmlformats.org/drawingml/2006/main">
            <a:pPr>
              <a:defRPr sz="1350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Chat tool routing and evidence-coverage checks</a:t>
            </a:r>
          </a:p>
          <a:p xmlns:a="http://schemas.openxmlformats.org/drawingml/2006/main">
            <a:pPr>
              <a:defRPr sz="1350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Snapshot freshness and scan-warning impact</a:t>
            </a:r>
          </a:p>
          <a:p xmlns:a="http://schemas.openxmlformats.org/drawingml/2006/main">
            <a:pPr>
              <a:defRPr sz="1350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Source-reference ranking and migration risk</a:t>
            </a:r>
          </a:p>
          <a:p xmlns:a="http://schemas.openxmlformats.org/drawingml/2006/main">
            <a:pPr>
              <a:defRPr sz="1350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Ambiguous findings routed to human review</a:t>
            </a:r>
          </a:p>
          <a:p xmlns:a="http://schemas.openxmlformats.org/drawingml/2006/main">
            <a:pPr>
              <a:defRPr sz="1350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Related findings across snapshots; guided next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0FC31-0067-4696-8116-7C7C59A4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958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7F3B2-D0EC-45A8-AD29-CFB0C5B7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P2  |  Low impact or mostly polish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7A1E4-BDB7-4CB0-9114-6CD3BC8E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00675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Object ordering, detail display, documentation order, follow-up questions, explanation length, default tabs or filters, and report labels.</a:t>
            </a:r>
          </a:p>
        </p:txBody>
      </p:sp>
    </p:spTree>
    <p:extLst>
      <p:ext uri="{BB962C8B-B14F-4D97-AF65-F5344CB8AC3E}">
        <p14:creationId xmlns:p14="http://schemas.microsoft.com/office/powerpoint/2010/main" val="6566100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ED231-6C45-47F1-B1CE-CAD86117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9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D5214-688A-42EC-93BF-8CD57AA1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Implementation sequence and safety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0D943-D059-47C8-9FD4-CC31F0B5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Start with decisions that reuse existing evidence. Expand only when a workflow or evaluation supports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8CB66-79B4-489A-A42E-E884E56A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8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EDCAC-1414-49AD-9DA7-0D4BF0C4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01  Evaluate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7954D-2989-44F5-A87D-F9EA6409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71725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Compare a few representative findings and diffs with current sorting.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33369-5C54-4816-9BCF-42D83439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76450"/>
            <a:ext cx="95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5F9B0-0BD0-4500-A769-33070497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02  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12F65-BF09-4A72-8F8C-5DF37342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71725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Add advisory priority and evidence-gap labels to findings.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F914B-4FDD-4CB9-924E-EFD44CD0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76450"/>
            <a:ext cx="95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B8E93-BCCC-4FB6-B457-DEB230A2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03  Expand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D83BF-549B-42EC-8EC7-B7789BD3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71725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Add proposal and run triage, then validate each new use case.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249BE-F3AF-4FBE-A361-59FF6A1D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0EE2F-D6B9-4FE6-8870-B0549E5D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Keep these deterministic or human-controlled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658AD-80A9-4C14-AC85-C6B77BC4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028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Database facts and permissions</a:t>
            </a:r>
          </a:p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Read-query safety and access checks</a:t>
            </a:r>
          </a:p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SQL execution, migrations, and target changes</a:t>
            </a:r>
          </a:p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Final approval and business-context decisions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3C17C-4875-4E92-908F-5E95B277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JEV confidence is a signal, not proof.</a:t>
            </a:r>
          </a:p>
        </p:txBody>
      </p:sp>
    </p:spTree>
    <p:extLst>
      <p:ext uri="{BB962C8B-B14F-4D97-AF65-F5344CB8AC3E}">
        <p14:creationId xmlns:p14="http://schemas.microsoft.com/office/powerpoint/2010/main" val="1697571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2026-10-07T09:19:12.1420000Z</dcterms:created>
  <dcterms:modified xsi:type="dcterms:W3CDTF">2026-10-07T09:19:12.1420000Z</dcterms:modified>
</coreProperties>
</file>