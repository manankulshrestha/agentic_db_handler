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dafe2d816c436d" /><Relationship Type="http://schemas.openxmlformats.org/officeDocument/2006/relationships/extended-properties" Target="/docProps/app.xml" Id="R905dcc2a2516427d" /><Relationship Type="http://schemas.openxmlformats.org/officeDocument/2006/relationships/officeDocument" Target="/ppt/presentation.xml" Id="R41eea90219084c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6daabdf93c4866"/>
  </p:sldMasterIdLst>
  <p:notesMasterIdLst>
    <p:notesMasterId xmlns:r="http://schemas.openxmlformats.org/officeDocument/2006/relationships" r:id="Rf831e4a38e8f445f"/>
  </p:notesMasterIdLst>
  <p:sldIdLst>
    <p:sldId xmlns:r="http://schemas.openxmlformats.org/officeDocument/2006/relationships" id="256" r:id="Rad0f3f258c39421d"/>
    <p:sldId xmlns:r="http://schemas.openxmlformats.org/officeDocument/2006/relationships" id="257" r:id="R3c6307d8b0154fa0"/>
    <p:sldId xmlns:r="http://schemas.openxmlformats.org/officeDocument/2006/relationships" id="258" r:id="Rb7b0192f5ca1465e"/>
    <p:sldId xmlns:r="http://schemas.openxmlformats.org/officeDocument/2006/relationships" id="259" r:id="R6cfefe79ea9f4eb5"/>
    <p:sldId xmlns:r="http://schemas.openxmlformats.org/officeDocument/2006/relationships" id="260" r:id="Rae69354609b94d4c"/>
    <p:sldId xmlns:r="http://schemas.openxmlformats.org/officeDocument/2006/relationships" id="261" r:id="R0e8623e7c4d24e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91712b54194a0e" /><Relationship Type="http://schemas.openxmlformats.org/officeDocument/2006/relationships/slideMaster" Target="/ppt/slideMasters/slideMaster1.xml" Id="Rb06daabdf93c4866" /><Relationship Type="http://schemas.openxmlformats.org/officeDocument/2006/relationships/notesMaster" Target="/ppt/notesMasters/notesMaster1.xml" Id="Rf831e4a38e8f445f" /><Relationship Type="http://schemas.openxmlformats.org/officeDocument/2006/relationships/presProps" Target="/ppt/presProps.xml" Id="R4939bbd4071e44f2" /><Relationship Type="http://schemas.openxmlformats.org/officeDocument/2006/relationships/tableStyles" Target="/ppt/tableStyles.xml" Id="R995f92b368114e36" /><Relationship Type="http://schemas.openxmlformats.org/officeDocument/2006/relationships/slide" Target="/ppt/slides/slide1.xml" Id="Rad0f3f258c39421d" /><Relationship Type="http://schemas.openxmlformats.org/officeDocument/2006/relationships/slide" Target="/ppt/slides/slide2.xml" Id="R3c6307d8b0154fa0" /><Relationship Type="http://schemas.openxmlformats.org/officeDocument/2006/relationships/slide" Target="/ppt/slides/slide3.xml" Id="Rb7b0192f5ca1465e" /><Relationship Type="http://schemas.openxmlformats.org/officeDocument/2006/relationships/slide" Target="/ppt/slides/slide4.xml" Id="R6cfefe79ea9f4eb5" /><Relationship Type="http://schemas.openxmlformats.org/officeDocument/2006/relationships/slide" Target="/ppt/slides/slide5.xml" Id="Rae69354609b94d4c" /><Relationship Type="http://schemas.openxmlformats.org/officeDocument/2006/relationships/slide" Target="/ppt/slides/slide6.xml" Id="R0e8623e7c4d24e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693edd138348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d124af57d2445c" /><Relationship Type="http://schemas.openxmlformats.org/officeDocument/2006/relationships/notesMaster" Target="/ppt/notesMasters/notesMaster1.xml" Id="R71ec6fdcc8794a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6d7e52484d4777" /><Relationship Type="http://schemas.openxmlformats.org/officeDocument/2006/relationships/notesMaster" Target="/ppt/notesMasters/notesMaster1.xml" Id="R14a1f019737e4f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8d6658bbbe4038" /><Relationship Type="http://schemas.openxmlformats.org/officeDocument/2006/relationships/notesMaster" Target="/ppt/notesMasters/notesMaster1.xml" Id="R02c84e563a9b4c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98aa80eeab4af7" /><Relationship Type="http://schemas.openxmlformats.org/officeDocument/2006/relationships/notesMaster" Target="/ppt/notesMasters/notesMaster1.xml" Id="R363468915b2e4c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05aa07dce24985" /><Relationship Type="http://schemas.openxmlformats.org/officeDocument/2006/relationships/notesMaster" Target="/ppt/notesMasters/notesMaster1.xml" Id="R471cd2f30abe40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3eb5bbcb164a4e" /><Relationship Type="http://schemas.openxmlformats.org/officeDocument/2006/relationships/notesMaster" Target="/ppt/notesMasters/notesMaster1.xml" Id="R39ce3f0af77f4f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status and scope are summarized from PROJECT_PRIMER.md and IMPLEMENTATION_STATUS.md. JEV roadmap items are proposed, not 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normal workflow inspects saved schema snapshots. Query Lab separately supports bounded read queries. The workbench is a learning and demonstration project, not a production database administrator.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of October 7, 2026. The latest live verification covered the PostgreSQL demo with four tables and six findings. Advanced design flows, sandbox experiments, schedules, roles, and non-PostgreSQL fixtures still need additional live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 reflects the user-defined category of a clear project improvement candidate. JEV output should remain advisory. A small evaluation against existing severity/certainty and representative examples should confirm value before relying on rankings. Source: referenced chat “Prioritize JEV Decision Making.”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 and P2 items are proposed opportunities from the referenced JEV analysis. Engine suitability currently uses a provisional heuristic, and index experiments use synthetic or sandbox data. Neither should be presented as a validated production recommendation.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referenced chat recommends treating JEV as a structured decision model for bounded questions. Keep deterministic checks as the source of facts and require human review for high-impact actions. This deck describes the planned JEV layer, not existing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f52a5862a04c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adf90de0384f8e" /><Relationship Type="http://schemas.openxmlformats.org/officeDocument/2006/relationships/slideLayout" Target="/ppt/slideLayouts/slideLayout1.xml" Id="R9452729db25d4b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52729db25d4b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15edccaf4450c" /><Relationship Type="http://schemas.openxmlformats.org/officeDocument/2006/relationships/image" Target="/ppt/media/image.png" Id="Rcdd559d841904387" /><Relationship Type="http://schemas.openxmlformats.org/officeDocument/2006/relationships/notesSlide" Target="/ppt/notesSlides/notesSlide1.xml" Id="R862647a2e25b48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b7e7f15bb49fe" /><Relationship Type="http://schemas.openxmlformats.org/officeDocument/2006/relationships/notesSlide" Target="/ppt/notesSlides/notesSlide2.xml" Id="R3643555c66d643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0f42742c74261" /><Relationship Type="http://schemas.openxmlformats.org/officeDocument/2006/relationships/notesSlide" Target="/ppt/notesSlides/notesSlide3.xml" Id="Ra0867551c90042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badd0714845b3" /><Relationship Type="http://schemas.openxmlformats.org/officeDocument/2006/relationships/notesSlide" Target="/ppt/notesSlides/notesSlide4.xml" Id="Rc9f6b51a4f7a47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81a6779be4afc" /><Relationship Type="http://schemas.openxmlformats.org/officeDocument/2006/relationships/notesSlide" Target="/ppt/notesSlides/notesSlide5.xml" Id="Rfe25528b5f9244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70dbde05748f1" /><Relationship Type="http://schemas.openxmlformats.org/officeDocument/2006/relationships/notesSlide" Target="/ppt/notesSlides/notesSlide6.xml" Id="R95de5f36cdc54d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d559d84190438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4D43E-3C33-41E2-98AF-4C0131CB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A">
              <a:alpha val="35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2B7FB-32C2-4DEC-A3B4-B384A3E1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5429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AGENTIC DATABASE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HANDLER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2B363-4DFB-4B17-9F5E-9B7B248E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953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8EDF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EDF0"/>
                </a:solidFill>
                <a:latin typeface="Arial"/>
                <a:ea typeface="Arial"/>
                <a:cs typeface="Arial"/>
              </a:rPr>
              <a:t>A local workbench for understanding database structure and guiding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5D9E9-786E-4B58-8AB0-9324FBC3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9582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9B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D9770-09FD-4140-9709-99FF1106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D5D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8D5DC"/>
                </a:solidFill>
                <a:latin typeface="Arial"/>
                <a:ea typeface="Arial"/>
                <a:cs typeface="Arial"/>
              </a:rPr>
              <a:t>PROJECT OVERVIEW  |  OCTOBER 2026</a:t>
            </a:r>
          </a:p>
        </p:txBody>
      </p:sp>
    </p:spTree>
    <p:extLst>
      <p:ext uri="{BB962C8B-B14F-4D97-AF65-F5344CB8AC3E}">
        <p14:creationId xmlns:p14="http://schemas.microsoft.com/office/powerpoint/2010/main" val="9064683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4ED7AA-023B-4E2B-BF97-C5D52D29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9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A0933-DCFD-4E5E-ADB4-0A27AA9E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A database workbench for evidence-led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122A3-A87F-42CD-BA81-006C32B0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It records what a database looks like, explains possible issues, and keeps decisions reviewable.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C1255-F54B-4E39-98AA-17D66DEA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8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D52CE-85E3-4754-82D4-653A872E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973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5E9DD-CE30-4078-B1F0-30FE2AA9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38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9B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6696AA-18F5-437C-BB72-B8B710F1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Connect &amp; scan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AD666-3C9B-45E9-AAB2-BA760214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81325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Read schema metadata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EBAE3-F6A6-43B6-9393-BDA5965B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764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973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DC639F-9706-4897-A4F4-AA0890A2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71750"/>
            <a:ext cx="38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6E73C5-7C9B-4F38-A7AF-18A4A4DB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71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Analyze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FDCDC-10B2-4625-B25F-E8EFDDD0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81325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Apply repeatable rules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8D16D-6672-4CB5-B185-8B6FC6EF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764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973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D8801D-948D-4B74-8811-B2033B61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71750"/>
            <a:ext cx="38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DF4E04-898B-4E23-BA3A-FC72729F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71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Explore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97716A-DEF4-4DE9-98D9-2C79313D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81325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Inspect objects and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A302ED-70E7-4204-B080-CF24979B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764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973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7F2B07-D76C-437A-BFD6-19D1D7D5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38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EB74E8-0D87-4B51-9C12-9F3825A5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71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94D585-C562-4C5E-821E-F5FCFC53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81325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Accept, dismiss, or add context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95C097-E828-4C00-811A-8E184F01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764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973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DFEF20-4F3D-40B3-A608-344019B3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0"/>
            <a:ext cx="38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0D28EB-7BF0-48D9-BEE0-3013F76C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71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BA5562-F3E4-4246-861F-C467F7C8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81325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Rescan and inspect changes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A7D958-2029-435C-AC47-9B8CAD76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1C68A6-6762-4E93-A2F3-9A3C75AE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Core boundary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23F81B-5CA7-49E9-9B95-483038C4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67225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Findings, approvals, reports, and migration inventories record review. They do not apply schema changes to the target database.</a:t>
            </a:r>
          </a:p>
        </p:txBody>
      </p:sp>
    </p:spTree>
    <p:extLst>
      <p:ext uri="{BB962C8B-B14F-4D97-AF65-F5344CB8AC3E}">
        <p14:creationId xmlns:p14="http://schemas.microsoft.com/office/powerpoint/2010/main" val="13098750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A476F4-C8E8-47B0-9175-267C8E7E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9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BB54A-BFF9-45E7-8C81-6A4C88F7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What the project already implements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110B4-5DF4-4FB9-B004-4F47121A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Verified core flow: PostgreSQL connection, scan, findings, documentation, grounded chat, and bounded read query.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1A174-20B2-46A9-9D6E-2079634E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8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5EB0D-C5F7-4656-A1BE-BDFF5F6C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823AA-CFE9-44E0-BAAC-D8D0AD24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4300C-C1B6-4F7E-BEF7-B07E76CD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143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PostgreSQL, MariaDB, and MongoDB metadata connectors</a:t>
            </a:r>
          </a:p>
          <a:p xmlns:a="http://schemas.openxmlformats.org/drawingml/2006/main">
            <a:pPr>
              <a:defRPr sz="1425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Saved snapshots with objects, types, keys, indexes, and relationships</a:t>
            </a:r>
          </a:p>
          <a:p xmlns:a="http://schemas.openxmlformats.org/drawingml/2006/main">
            <a:pPr>
              <a:defRPr sz="1425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Schema explorer and relationship diagram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1C94A2-2E79-4F5C-95B0-3BE553F4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431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CBDE1-6BFB-402D-BA10-33305B70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193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B9F14-8039-47E4-8EDD-11685A82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143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Deterministic checks produce evidence-linked findings</a:t>
            </a:r>
          </a:p>
          <a:p xmlns:a="http://schemas.openxmlformats.org/drawingml/2006/main">
            <a:pPr>
              <a:defRPr sz="1425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Markdown documentation and snapshot comparisons</a:t>
            </a:r>
          </a:p>
          <a:p xmlns:a="http://schemas.openxmlformats.org/drawingml/2006/main">
            <a:pPr>
              <a:defRPr sz="1425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Chat answers can cite saved objects and findings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6F258-E200-46A6-BCBC-2F658387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431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AF6324-D780-4770-9706-16D8ACE1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193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502EC6-1D95-43D0-B1E8-24CA63D0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47950"/>
            <a:ext cx="3143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Read-only query lab with row and time limits</a:t>
            </a:r>
          </a:p>
          <a:p xmlns:a="http://schemas.openxmlformats.org/drawingml/2006/main">
            <a:pPr>
              <a:defRPr sz="1425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Design tools for normalization, workload, and migration inventory</a:t>
            </a:r>
          </a:p>
          <a:p xmlns:a="http://schemas.openxmlformats.org/drawingml/2006/main">
            <a:pPr>
              <a:defRPr sz="1425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Proposal review, run history, schedules, and optional roles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D0C1CA-84DC-4AC2-8D33-AEBA782B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Some advanced flows still need live browser or integration verification. AI mode also requires an explicit model key and schema-sharing opt-in.</a:t>
            </a:r>
          </a:p>
        </p:txBody>
      </p:sp>
    </p:spTree>
    <p:extLst>
      <p:ext uri="{BB962C8B-B14F-4D97-AF65-F5344CB8AC3E}">
        <p14:creationId xmlns:p14="http://schemas.microsoft.com/office/powerpoint/2010/main" val="7583149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5F3F43-CCDB-4578-87C8-FC9E2BFB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9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E1695-1BF8-43CE-B3BC-93CA17FB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JEV roadmap | P0 clear candidates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C9F1B-75ED-4296-8EDD-95E0BB0A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Add an advisory decision layer where the workbench already has evidence and review workflows.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FAD22-575F-455F-9068-5C5A00B7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8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9BF2D-4461-4FB1-8237-CF09210D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1B31C-4C5C-49F3-9006-52EF0521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0975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Finding priority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34B01-AE46-465B-8D6C-38754A45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Rank findings using severity, certainty, evidence, and affected objects.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EC4D2-9287-4ACE-8BC0-02BE43A1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0AB2E-1711-44BB-B3F6-C454E1E8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90775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Review triage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320A5-0B33-4F6D-9A27-728540BE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907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Group findings into review now, later, or informational.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76B3C1-2A6D-4AE5-8372-E8820573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84841B-7AA9-41BF-B0EB-708CB8EA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7180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Likely relevance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1E3D59-9EF0-4BFF-9373-EBA963D8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718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Flag likely relevant, possibly relevant, or probably intentional for human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3C272F-E6E4-47E3-A5FB-7D7C51E2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5282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4ABD96-8621-44F1-AF4A-6BD1C7AD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52825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Evidence gaps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CF30FE-F931-43F0-BB5C-B47646D6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5282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Show when a recommendation needs workload data or business context.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7E0602-1F8F-4586-B8CA-C12A02F8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F5D32B-6773-4D37-93D7-7083E55C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3385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Snapshot diffs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52B4AD-50FC-4A09-B380-F6F7B3C6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3385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Prioritize changes that deserve a closer look.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BA5A13-92BE-4E30-A51A-D0A9D217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148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FAE708-A2B2-4B72-BEBE-C79E7DD7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14875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Proposal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4B3EB6-1E9B-4F12-95AA-E8472092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148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Flag proposals that are ready, need context, or remain speculative.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7E7C00-02F6-49BA-89BD-D0C498FA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1DEDA7-9B06-4A20-BFD0-ACEEBD88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9590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Run attention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17AD4A-B4C6-4084-8043-D57D6F21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959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Bring failed, interrupted, or consequential runs forward.</a:t>
            </a:r>
          </a:p>
        </p:txBody>
      </p:sp>
    </p:spTree>
    <p:extLst>
      <p:ext uri="{BB962C8B-B14F-4D97-AF65-F5344CB8AC3E}">
        <p14:creationId xmlns:p14="http://schemas.microsoft.com/office/powerpoint/2010/main" val="6641335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5399E6-44EB-4768-91E5-F06FD980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9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884FE-665D-4004-B29D-D49406E7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JEV roadmap | P1 and P2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A0400-6925-4F94-8B91-7A7139B8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P1 needs a new feature or evidence of benefit. P2 is feasible, with a likely small user impact.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D16DA-E1B2-47AB-842F-92CED745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8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39138-297E-4093-9970-9C81D42C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06A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06A86"/>
                </a:solidFill>
                <a:latin typeface="Arial"/>
                <a:ea typeface="Arial"/>
                <a:cs typeface="Arial"/>
              </a:rPr>
              <a:t>P1  |  Needs a feature or 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0DB55-E929-41A4-A241-DCFD94AE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0287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Database-engine suitability from richer workload context</a:t>
            </a:r>
          </a:p>
          <a:p xmlns:a="http://schemas.openxmlformats.org/drawingml/2006/main">
            <a:pPr>
              <a:defRPr sz="1350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Index candidates and query profiling priorities</a:t>
            </a:r>
          </a:p>
          <a:p xmlns:a="http://schemas.openxmlformats.org/drawingml/2006/main">
            <a:pPr>
              <a:defRPr sz="1350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Chat tool routing and evidence-coverage checks</a:t>
            </a:r>
          </a:p>
          <a:p xmlns:a="http://schemas.openxmlformats.org/drawingml/2006/main">
            <a:pPr>
              <a:defRPr sz="1350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Snapshot freshness and scan-warning impact</a:t>
            </a:r>
          </a:p>
          <a:p xmlns:a="http://schemas.openxmlformats.org/drawingml/2006/main">
            <a:pPr>
              <a:defRPr sz="1350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Source-reference ranking and migration risk</a:t>
            </a:r>
          </a:p>
          <a:p xmlns:a="http://schemas.openxmlformats.org/drawingml/2006/main">
            <a:pPr>
              <a:defRPr sz="1350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Ambiguous findings routed to human review</a:t>
            </a:r>
          </a:p>
          <a:p xmlns:a="http://schemas.openxmlformats.org/drawingml/2006/main">
            <a:pPr>
              <a:defRPr sz="1350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Related findings across snapshots; guided next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F8808-4E5C-44B2-B9C1-9C6A7CF2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958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6857E1-0FBF-481A-8BC3-82A53CD9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P2  |  Low impact or mostly polish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74EE0-A756-43E3-AD8C-186DC731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00675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Object ordering, detail display, documentation order, follow-up questions, explanation length, default tabs or filters, and report labels.</a:t>
            </a:r>
          </a:p>
        </p:txBody>
      </p:sp>
    </p:spTree>
    <p:extLst>
      <p:ext uri="{BB962C8B-B14F-4D97-AF65-F5344CB8AC3E}">
        <p14:creationId xmlns:p14="http://schemas.microsoft.com/office/powerpoint/2010/main" val="16306848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90FB41-60CC-4AAA-807E-ED7B725D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9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1CC27-3AE1-401C-9C49-26DB18DE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Implementation sequence and safety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ECDFC-75C4-420C-A677-BDB755BD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Start with decisions that reuse existing evidence. Expand only when a workflow or evaluation supports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7509D-C8B4-40E1-8BCA-E5AB4B41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8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93A84-3735-4D27-B83D-12D55126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01  Evaluate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3AB31-FA29-45DC-A1D9-5632BC15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71725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Compare a few representative findings and diffs with current sorting.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C2791-3D5C-4E5A-AAA3-2458E93E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76450"/>
            <a:ext cx="95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ACB482-11BA-4568-BBF4-2F22CDE9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240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02  Pilot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E59BB-F6AE-4981-9602-CB5BB3BD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71725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Add advisory priority and evidence-gap labels to findings.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B94930-08E6-4283-9BC7-AAB9E6AD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76450"/>
            <a:ext cx="95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A3F2C1-B852-40EB-A9BA-DAFE1057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03  Expand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CF2E8-0FD3-4C0B-8AD9-58812E12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71725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B3A"/>
                </a:solidFill>
                <a:latin typeface="Arial"/>
                <a:ea typeface="Arial"/>
                <a:cs typeface="Arial"/>
              </a:rPr>
              <a:t>Add proposal and run triage, then validate each new use case.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AAD47-C7FA-4A0B-98D8-32B9EC04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473009-E233-4EB8-BD64-C55998C1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B3A"/>
                </a:solidFill>
                <a:latin typeface="Arial"/>
                <a:ea typeface="Arial"/>
                <a:cs typeface="Arial"/>
              </a:rPr>
              <a:t>Keep these deterministic or human-controlled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B0E950-8BDA-4949-BD24-3D95046B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1028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Database facts and permissions</a:t>
            </a:r>
          </a:p>
          <a:p xmlns:a="http://schemas.openxmlformats.org/drawingml/2006/main">
            <a:pPr>
              <a:defRPr sz="1350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Read-query safety and access checks</a:t>
            </a:r>
          </a:p>
          <a:p xmlns:a="http://schemas.openxmlformats.org/drawingml/2006/main">
            <a:pPr>
              <a:defRPr sz="1350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SQL execution, migrations, and target changes</a:t>
            </a:r>
          </a:p>
          <a:p xmlns:a="http://schemas.openxmlformats.org/drawingml/2006/main">
            <a:pPr>
              <a:defRPr sz="1350" b="0">
                <a:solidFill>
                  <a:srgbClr val="526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8"/>
                </a:solidFill>
                <a:latin typeface="Arial"/>
                <a:ea typeface="Arial"/>
                <a:cs typeface="Arial"/>
              </a:rPr>
              <a:t>Final approval and business-context decisions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71394-23EB-4C15-A08C-0BF4C580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A9B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A9B5"/>
                </a:solidFill>
                <a:latin typeface="Arial"/>
                <a:ea typeface="Arial"/>
                <a:cs typeface="Arial"/>
              </a:rPr>
              <a:t>JEV confidence is a signal, not proof.</a:t>
            </a:r>
          </a:p>
        </p:txBody>
      </p:sp>
    </p:spTree>
    <p:extLst>
      <p:ext uri="{BB962C8B-B14F-4D97-AF65-F5344CB8AC3E}">
        <p14:creationId xmlns:p14="http://schemas.microsoft.com/office/powerpoint/2010/main" val="15686774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2026-10-07T09:18:18.5280000Z</dcterms:created>
  <dcterms:modified xsi:type="dcterms:W3CDTF">2026-10-07T09:18:18.5280000Z</dcterms:modified>
</coreProperties>
</file>